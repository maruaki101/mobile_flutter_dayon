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5b9d7aef244e47" /><Relationship Type="http://schemas.openxmlformats.org/officeDocument/2006/relationships/extended-properties" Target="/docProps/app.xml" Id="R0944291ad5104129" /><Relationship Type="http://schemas.openxmlformats.org/officeDocument/2006/relationships/officeDocument" Target="/ppt/presentation.xml" Id="Rfe030536d7fe4a0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e9f1bb44c084bf6"/>
  </p:sldMasterIdLst>
  <p:notesMasterIdLst>
    <p:notesMasterId xmlns:r="http://schemas.openxmlformats.org/officeDocument/2006/relationships" r:id="Rd2bfcfb0b59241cb"/>
  </p:notesMasterIdLst>
  <p:sldIdLst>
    <p:sldId xmlns:r="http://schemas.openxmlformats.org/officeDocument/2006/relationships" id="256" r:id="Rc31163e527c04a73"/>
    <p:sldId xmlns:r="http://schemas.openxmlformats.org/officeDocument/2006/relationships" id="257" r:id="R3d8e4176199f493a"/>
    <p:sldId xmlns:r="http://schemas.openxmlformats.org/officeDocument/2006/relationships" id="258" r:id="R600585290c8c4206"/>
    <p:sldId xmlns:r="http://schemas.openxmlformats.org/officeDocument/2006/relationships" id="259" r:id="R494c6a97974a42e9"/>
    <p:sldId xmlns:r="http://schemas.openxmlformats.org/officeDocument/2006/relationships" id="260" r:id="R6d3001929d9845b1"/>
    <p:sldId xmlns:r="http://schemas.openxmlformats.org/officeDocument/2006/relationships" id="261" r:id="R05966ca80f894c41"/>
    <p:sldId xmlns:r="http://schemas.openxmlformats.org/officeDocument/2006/relationships" id="262" r:id="R2e0ebc8efcbe4489"/>
    <p:sldId xmlns:r="http://schemas.openxmlformats.org/officeDocument/2006/relationships" id="263" r:id="Rcbffb5e0ae094699"/>
    <p:sldId xmlns:r="http://schemas.openxmlformats.org/officeDocument/2006/relationships" id="264" r:id="Rb9c0ff23cbe94fb2"/>
    <p:sldId xmlns:r="http://schemas.openxmlformats.org/officeDocument/2006/relationships" id="265" r:id="Rb7466aa9a61f45b1"/>
    <p:sldId xmlns:r="http://schemas.openxmlformats.org/officeDocument/2006/relationships" id="266" r:id="Rf3f7487802f34225"/>
    <p:sldId xmlns:r="http://schemas.openxmlformats.org/officeDocument/2006/relationships" id="267" r:id="Rbc7c12bfc4324a14"/>
  </p:sldIdLst>
  <p:sldSz cx="18288000" cy="10287000"/>
  <p:notesSz cx="6858000" cy="9144000"/>
  <p:embeddedFontLst>
    <p:embeddedFont>
      <p:font typeface="Overpass Bold"/>
      <p:regular xmlns:r="http://schemas.openxmlformats.org/officeDocument/2006/relationships" r:id="Rbcf63490c7f542fa"/>
    </p:embeddedFont>
    <p:embeddedFont>
      <p:font typeface="Overpass Light"/>
      <p:regular xmlns:r="http://schemas.openxmlformats.org/officeDocument/2006/relationships" r:id="R5cbcf48e28d3404c"/>
    </p:embeddedFont>
    <p:embeddedFont>
      <p:font typeface="Syne Bold"/>
      <p:regular xmlns:r="http://schemas.openxmlformats.org/officeDocument/2006/relationships" r:id="Rad0b23369d444c31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f59f950575449a" /><Relationship Type="http://schemas.openxmlformats.org/officeDocument/2006/relationships/slideMaster" Target="/ppt/slideMasters/slideMaster1.xml" Id="Rfe9f1bb44c084bf6" /><Relationship Type="http://schemas.openxmlformats.org/officeDocument/2006/relationships/notesMaster" Target="/ppt/notesMasters/notesMaster1.xml" Id="Rd2bfcfb0b59241cb" /><Relationship Type="http://schemas.openxmlformats.org/officeDocument/2006/relationships/presProps" Target="/ppt/presProps.xml" Id="R29681324604c4b53" /><Relationship Type="http://schemas.openxmlformats.org/officeDocument/2006/relationships/viewProps" Target="/ppt/viewProps.xml" Id="Ra6b109814e124558" /><Relationship Type="http://schemas.openxmlformats.org/officeDocument/2006/relationships/tableStyles" Target="/ppt/tableStyles.xml" Id="Ra24a46b6c1db46a9" /><Relationship Type="http://schemas.openxmlformats.org/officeDocument/2006/relationships/font" Target="/ppt/fonts/font.dat" Id="Rbcf63490c7f542fa" /><Relationship Type="http://schemas.openxmlformats.org/officeDocument/2006/relationships/font" Target="/ppt/fonts/font2.dat" Id="R5cbcf48e28d3404c" /><Relationship Type="http://schemas.openxmlformats.org/officeDocument/2006/relationships/font" Target="/ppt/fonts/font3.dat" Id="Rad0b23369d444c31" /><Relationship Type="http://schemas.openxmlformats.org/officeDocument/2006/relationships/slide" Target="/ppt/slides/slide1.xml" Id="Rc31163e527c04a73" /><Relationship Type="http://schemas.openxmlformats.org/officeDocument/2006/relationships/slide" Target="/ppt/slides/slide2.xml" Id="R3d8e4176199f493a" /><Relationship Type="http://schemas.openxmlformats.org/officeDocument/2006/relationships/slide" Target="/ppt/slides/slide3.xml" Id="R600585290c8c4206" /><Relationship Type="http://schemas.openxmlformats.org/officeDocument/2006/relationships/slide" Target="/ppt/slides/slide4.xml" Id="R494c6a97974a42e9" /><Relationship Type="http://schemas.openxmlformats.org/officeDocument/2006/relationships/slide" Target="/ppt/slides/slide5.xml" Id="R6d3001929d9845b1" /><Relationship Type="http://schemas.openxmlformats.org/officeDocument/2006/relationships/slide" Target="/ppt/slides/slide6.xml" Id="R05966ca80f894c41" /><Relationship Type="http://schemas.openxmlformats.org/officeDocument/2006/relationships/slide" Target="/ppt/slides/slide7.xml" Id="R2e0ebc8efcbe4489" /><Relationship Type="http://schemas.openxmlformats.org/officeDocument/2006/relationships/slide" Target="/ppt/slides/slide8.xml" Id="Rcbffb5e0ae094699" /><Relationship Type="http://schemas.openxmlformats.org/officeDocument/2006/relationships/slide" Target="/ppt/slides/slide9.xml" Id="Rb9c0ff23cbe94fb2" /><Relationship Type="http://schemas.openxmlformats.org/officeDocument/2006/relationships/slide" Target="/ppt/slides/slide10.xml" Id="Rb7466aa9a61f45b1" /><Relationship Type="http://schemas.openxmlformats.org/officeDocument/2006/relationships/slide" Target="/ppt/slides/slide11.xml" Id="Rf3f7487802f34225" /><Relationship Type="http://schemas.openxmlformats.org/officeDocument/2006/relationships/slide" Target="/ppt/slides/slide12.xml" Id="Rbc7c12bfc4324a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54b5a8b95a41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c6f6c632b74560" /><Relationship Type="http://schemas.openxmlformats.org/officeDocument/2006/relationships/notesMaster" Target="/ppt/notesMasters/notesMaster1.xml" Id="R79e8fa3c0d7140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bd44f516564ad1" /><Relationship Type="http://schemas.openxmlformats.org/officeDocument/2006/relationships/notesMaster" Target="/ppt/notesMasters/notesMaster1.xml" Id="R3cda15bbebdf40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e9db8f4ee84cb3" /><Relationship Type="http://schemas.openxmlformats.org/officeDocument/2006/relationships/notesMaster" Target="/ppt/notesMasters/notesMaster1.xml" Id="Rbe1423f99dfa40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f00122f7f94657" /><Relationship Type="http://schemas.openxmlformats.org/officeDocument/2006/relationships/notesMaster" Target="/ppt/notesMasters/notesMaster1.xml" Id="R6b77d077bf3a47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0f2c9099684b0c" /><Relationship Type="http://schemas.openxmlformats.org/officeDocument/2006/relationships/notesMaster" Target="/ppt/notesMasters/notesMaster1.xml" Id="R5992960239b442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80e3b18f244710" /><Relationship Type="http://schemas.openxmlformats.org/officeDocument/2006/relationships/notesMaster" Target="/ppt/notesMasters/notesMaster1.xml" Id="R8ba2c22f06d34e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3dbe74e7f14514" /><Relationship Type="http://schemas.openxmlformats.org/officeDocument/2006/relationships/notesMaster" Target="/ppt/notesMasters/notesMaster1.xml" Id="R96f59a5af44c48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aebe8ca2c04502" /><Relationship Type="http://schemas.openxmlformats.org/officeDocument/2006/relationships/notesMaster" Target="/ppt/notesMasters/notesMaster1.xml" Id="R58d6eb0389b840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370402be574fad" /><Relationship Type="http://schemas.openxmlformats.org/officeDocument/2006/relationships/notesMaster" Target="/ppt/notesMasters/notesMaster1.xml" Id="R04db7369586246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138e670aaa42f5" /><Relationship Type="http://schemas.openxmlformats.org/officeDocument/2006/relationships/notesMaster" Target="/ppt/notesMasters/notesMaster1.xml" Id="R3137899ad0604e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afc9f022d842c1" /><Relationship Type="http://schemas.openxmlformats.org/officeDocument/2006/relationships/notesMaster" Target="/ppt/notesMasters/notesMaster1.xml" Id="R52d7e3d0342d43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192def7b344fcc" /><Relationship Type="http://schemas.openxmlformats.org/officeDocument/2006/relationships/notesMaster" Target="/ppt/notesMasters/notesMaster1.xml" Id="Ra649cbbba78145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20秒】</a:t>
            </a:r>
          </a:p>
          <a:p xmlns:a="http://schemas.openxmlformats.org/drawingml/2006/main">
            <a:r>
              <a:t>SakeStopについて発表します。</a:t>
            </a:r>
          </a:p>
          <a:p xmlns:a="http://schemas.openxmlformats.org/drawingml/2006/main">
            <a:r>
              <a:t>居酒屋での注文操作と飲酒ペースの記録を一つにまとめたFlutterアプリです。</a:t>
            </a:r>
          </a:p>
          <a:p xmlns:a="http://schemas.openxmlformats.org/drawingml/2006/main">
            <a:r>
              <a:t>目的、実装内容、テスト結果を説明した後、実機操作をお見せします。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40秒】</a:t>
            </a:r>
          </a:p>
          <a:p xmlns:a="http://schemas.openxmlformats.org/drawingml/2006/main">
            <a:r>
              <a:t>このアプリは飲酒を強制的に止めるものではなく、自分のペースに気づくきっかけを作るものです。</a:t>
            </a:r>
          </a:p>
          <a:p xmlns:a="http://schemas.openxmlformats.org/drawingml/2006/main">
            <a:r>
              <a:t>注文を禁止すると店舗では使いにくいため、通常の注文操作の中で純アルコール量と直近30分の量を確認できる形にしました。</a:t>
            </a:r>
          </a:p>
          <a:p xmlns:a="http://schemas.openxmlformats.org/drawingml/2006/main">
            <a:r>
              <a:t>表示は医療的な判断ではなく、振り返りの目安です。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40秒】</a:t>
            </a:r>
          </a:p>
          <a:p xmlns:a="http://schemas.openxmlformats.org/drawingml/2006/main">
            <a:r>
              <a:t>利用の流れは四つです。</a:t>
            </a:r>
          </a:p>
          <a:p xmlns:a="http://schemas.openxmlformats.org/drawingml/2006/main">
            <a:r>
              <a:t>テーブルIDとニックネームで開始し、商品を選び、カートで注文を確定します。</a:t>
            </a:r>
          </a:p>
          <a:p xmlns:a="http://schemas.openxmlformats.org/drawingml/2006/main">
            <a:r>
              <a:t>確定した注文はFirebaseへ保存され、注文履歴と飲酒量へ反映されます。</a:t>
            </a:r>
          </a:p>
          <a:p xmlns:a="http://schemas.openxmlformats.org/drawingml/2006/main">
            <a:r>
              <a:t>注文と記録が一つの流れで完結する点が特徴です。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50秒】</a:t>
            </a:r>
          </a:p>
          <a:p xmlns:a="http://schemas.openxmlformats.org/drawingml/2006/main">
            <a:r>
              <a:t>当初は飲んだ杯数を自分で入力するタップカウント型でした。</a:t>
            </a:r>
          </a:p>
          <a:p xmlns:a="http://schemas.openxmlformats.org/drawingml/2006/main">
            <a:r>
              <a:t>しかし毎回アプリを開く必要があり、入力忘れが起きやすいと考えました。</a:t>
            </a:r>
          </a:p>
          <a:p xmlns:a="http://schemas.openxmlformats.org/drawingml/2006/main">
            <a:r>
              <a:t>そこで5月に方向転換し、注文確定をそのまま記録として使う方式に変更しました。</a:t>
            </a:r>
          </a:p>
          <a:p xmlns:a="http://schemas.openxmlformats.org/drawingml/2006/main">
            <a:r>
              <a:t>追加の記録操作が不要なので、実際の利用場面に合いやすくなりました。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55秒】</a:t>
            </a:r>
          </a:p>
          <a:p xmlns:a="http://schemas.openxmlformats.org/drawingml/2006/main">
            <a:r>
              <a:t>主な機能は四つです。</a:t>
            </a:r>
          </a:p>
          <a:p xmlns:a="http://schemas.openxmlformats.org/drawingml/2006/main">
            <a:r>
              <a:t>テーブルIDとニックネームによる利用開始、商品の追加や数量変更ができるカート、Firebaseへの注文履歴保存、純アルコール量と直近30分の表示です。</a:t>
            </a:r>
          </a:p>
          <a:p xmlns:a="http://schemas.openxmlformats.org/drawingml/2006/main">
            <a:r>
              <a:t>ニックネームが空欄ならゲストとして開始します。</a:t>
            </a:r>
          </a:p>
          <a:p xmlns:a="http://schemas.openxmlformats.org/drawingml/2006/main">
            <a:r>
              <a:t>確定した注文はリアルタイムに履歴へ反映されます。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40秒】</a:t>
            </a:r>
          </a:p>
          <a:p xmlns:a="http://schemas.openxmlformats.org/drawingml/2006/main">
            <a:r>
              <a:t>純アルコール量は、容量かける度数かける0.8、割る100で計算します。</a:t>
            </a:r>
          </a:p>
          <a:p xmlns:a="http://schemas.openxmlformats.org/drawingml/2006/main">
            <a:r>
              <a:t>500ミリリットル、5パーセントのビールでは20グラムです。</a:t>
            </a:r>
          </a:p>
          <a:p xmlns:a="http://schemas.openxmlformats.org/drawingml/2006/main">
            <a:r>
              <a:t>商品ごとに容量と度数を持たせ、結果を履歴と飲酒ペース表示に使っています。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45秒】</a:t>
            </a:r>
          </a:p>
          <a:p xmlns:a="http://schemas.openxmlformats.org/drawingml/2006/main">
            <a:r>
              <a:t>直近30分の純アルコール量が60グラム以上になると注意を表示します。</a:t>
            </a:r>
          </a:p>
          <a:p xmlns:a="http://schemas.openxmlformats.org/drawingml/2006/main">
            <a:r>
              <a:t>同じ注意が続かないよう、通知後30分の間隔も設定しました。</a:t>
            </a:r>
          </a:p>
          <a:p xmlns:a="http://schemas.openxmlformats.org/drawingml/2006/main">
            <a:r>
              <a:t>これは安全性や飲酒可否を判断する機能ではなく、自分のペースを振り返るための目安です。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45秒】</a:t>
            </a:r>
          </a:p>
          <a:p xmlns:a="http://schemas.openxmlformats.org/drawingml/2006/main">
            <a:r>
              <a:t>開発環境はFlutter 3.35.7、Dart 3.9.2で、Firebase Realtime DatabaseとGitを使いました。</a:t>
            </a:r>
          </a:p>
          <a:p xmlns:a="http://schemas.openxmlformats.org/drawingml/2006/main">
            <a:r>
              <a:t>5月に仕様を見直し、6月にFirebase、カート、履歴、ペース判定を実装しました。</a:t>
            </a:r>
          </a:p>
          <a:p xmlns:a="http://schemas.openxmlformats.org/drawingml/2006/main">
            <a:r>
              <a:t>7月はUI調整と不要機能の削除を行い、変更過程をコミット履歴へ残しました。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55秒】</a:t>
            </a:r>
          </a:p>
          <a:p xmlns:a="http://schemas.openxmlformats.org/drawingml/2006/main">
            <a:r>
              <a:t>静的解析、単体テスト、Widgetテストを実施し、現在11件すべて成功しています。</a:t>
            </a:r>
          </a:p>
          <a:p xmlns:a="http://schemas.openxmlformats.org/drawingml/2006/main">
            <a:r>
              <a:t>計算、30分集計、60グラムの境界、通知間隔、テーブルID検証、画面遷移を確認しました。</a:t>
            </a:r>
          </a:p>
          <a:p xmlns:a="http://schemas.openxmlformats.org/drawingml/2006/main">
            <a:r>
              <a:t>AIはFirebaseの非同期処理、集計処理、エラー調査、仕様書と発表メモの文章整理に使い、最終的な内容と動作は自分で確認しました。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90秒／実機操作】</a:t>
            </a:r>
          </a:p>
          <a:p xmlns:a="http://schemas.openxmlformats.org/drawingml/2006/main">
            <a:r>
              <a:t>1. テーブルID「T01」で開始し、入力規則を説明します。</a:t>
            </a:r>
          </a:p>
          <a:p xmlns:a="http://schemas.openxmlformats.org/drawingml/2006/main">
            <a:r>
              <a:t>2. ニックネームを入力します。空欄はゲストになります。</a:t>
            </a:r>
          </a:p>
          <a:p xmlns:a="http://schemas.openxmlformats.org/drawingml/2006/main">
            <a:r>
              <a:t>3. 生ビールと料理をカートへ追加します。</a:t>
            </a:r>
          </a:p>
          <a:p xmlns:a="http://schemas.openxmlformats.org/drawingml/2006/main">
            <a:r>
              <a:t>4. 数量変更を示して注文を確定します。ここでFirebaseへ保存されます。</a:t>
            </a:r>
          </a:p>
          <a:p xmlns:a="http://schemas.openxmlformats.org/drawingml/2006/main">
            <a:r>
              <a:t>5. 注文履歴を開き、商品名、時刻、純アルコール量を確認します。</a:t>
            </a:r>
          </a:p>
          <a:p xmlns:a="http://schemas.openxmlformats.org/drawingml/2006/main">
            <a:r>
              <a:t>時間があればビール3杯分で60グラム以上の注意表示を示します。</a:t>
            </a:r>
          </a:p>
          <a:p xmlns:a="http://schemas.openxmlformats.org/drawingml/2006/main">
            <a:r>
              <a:t>通信に失敗した場合は、このページの3画面を使って同じ流れを説明します。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【目安 35秒】</a:t>
            </a:r>
          </a:p>
          <a:p xmlns:a="http://schemas.openxmlformats.org/drawingml/2006/main">
            <a:r>
              <a:t>今後は店舗スタッフ向けの受注・会計・メニュー管理、利用者認証とFirebaseルール、実店舗での検証が必要です。</a:t>
            </a:r>
          </a:p>
          <a:p xmlns:a="http://schemas.openxmlformats.org/drawingml/2006/main">
            <a:r>
              <a:t>SakeStopは、注文体験を邪魔せずに自分の飲酒ペースを振り返れるアプリとして実装しました。</a:t>
            </a:r>
          </a:p>
          <a:p xmlns:a="http://schemas.openxmlformats.org/drawingml/2006/main">
            <a:r>
              <a:t>以上で発表を終わります。ありがとうございました。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【補足・発表では省略】</a:t>
            </a:r>
          </a:p>
          <a:p xmlns:a="http://schemas.openxmlformats.org/drawingml/2006/main">
            <a:r>
              <a:t>開発時に参照した公式資料と、授業で提示された過年度リポジトリです。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5c10b31394f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073b75f1374e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80cc94e2f648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46319da2144e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5d77d073964e8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e2df10f751499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c0a3005fd349b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e4d89518c241e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758c6e2faa4b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89c88f16cb4fc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e312b2be4c412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D868C29-C276-4DB6-B83E-8D4FEC91E2A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36B67A0-9C4A-4551-973F-25D82059DC1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D18C67-BF08-4968-87CC-C5B0B218F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96F0B0-335B-4E2A-B76F-BBCB5A63C2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9D65AB-BCF5-49C9-88F4-F12791C12C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79EAE2-EF41-4ABD-9C69-DBCBFAC88E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54574D3-3E01-465D-A071-2CD0992D249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C0EB537-33DB-4F34-9403-D2CBD52A49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6013E9-322F-40EC-B4A6-220A0D977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03BC11-586E-42FE-9252-679F0A247C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8EEF588-E59A-49E8-AF20-C74CA611A8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E07C56-9610-4211-813A-8CC7936113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34826BA-9B51-4A5B-BC00-E447FC5F2D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C52003-F6E4-4F33-8F52-85D8821AF3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CC663B-507C-4401-9767-C1D40D1E58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A1717-7D60-4D8A-A96E-DA13031B64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D1E287F-AD5F-4D26-A2F5-0AEB39DA9FE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7DD2310-7DBA-43AA-AEE4-A1326059D64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C3F609B-E296-46D3-A822-F011D2C7D8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C83FDD-654D-415D-8F67-1CB7D5DE4B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81D460-7158-44B6-B8F6-E62C614AA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AEE16B-A237-4E7F-AC57-236B17C2C0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E8A7-90CD-4140-A2A1-C49712C6B5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84143C-F0B0-42A3-993A-51DAD8B1DBC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8C08A66-586A-4361-805E-FA6727F4369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03CC53F-DFB2-4B01-A694-03BC85FE295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32F8F6A-06AD-49D5-96DD-C89D408CD5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BD205FB-3A0B-46D9-A9D1-AE8DC22569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441F4B1-4AFA-4E64-90D8-5DF21F1BE9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A1ADEB-BAED-4911-BB7B-A12B853203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2C05DAC-2F88-4741-9597-94D140F0B4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7D4982B-20E5-42A1-B397-6AA989996D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1E9B44D-4763-4B96-9257-F8BDE193E4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16599A0-4C4F-4D22-9554-8CD992CB00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E93D3A3-F711-43AB-AADC-CCC9C3C907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A7765E8-4180-4012-A6F4-F67F6B7DF8C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2EB3D1-991C-416F-917D-E70408B4D4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065201-07A1-43B4-8A77-6EA582CA11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613390C-69C4-41B0-9136-401E721167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35B18CF-83AD-40CC-82C4-6B87AC128D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78B97E-8877-47BA-A1F9-7CA80FB339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09DE474-F460-43C1-94C7-A17547C7D9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DCA0D1-513B-45A1-96BC-FCA6122AF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867D5D-9EF6-4F30-BA05-20670F0A6E1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5032F2C-4A2B-4A15-94CE-E74E968ED8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F75BDEF-641C-4B7A-A5E9-1497C9A418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9698502-E2E5-4A1B-9B15-EEED5E2436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70034F5-966D-40BC-B784-FA09E6EA0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89BA31-19C9-4805-898F-63A7D0BED3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0FC478-D52A-4F73-90F0-46A910779B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6CEAB3-F976-4317-9C33-3C72183EBA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A66739-4B95-4A57-989F-A73733F85A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34E71D-EE7A-413E-9BC3-B4BA763F51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FF37FF9-5C62-47DB-906F-860C4AF3C0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3CDD55-AF52-4F56-B9EF-97917BA0F6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645DAE-1FE2-4860-A595-83E1BCDCCD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541DE04-7444-49B8-A86E-3E3EA5F799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3209C3-BBC8-452E-96E5-3AF849188F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78fe403da94c6f" /><Relationship Type="http://schemas.openxmlformats.org/officeDocument/2006/relationships/slideLayout" Target="/ppt/slideLayouts/slideLayout1.xml" Id="R9e598eccd9e84728" /><Relationship Type="http://schemas.openxmlformats.org/officeDocument/2006/relationships/slideLayout" Target="/ppt/slideLayouts/slideLayout2.xml" Id="R8730902c8dd64102" /><Relationship Type="http://schemas.openxmlformats.org/officeDocument/2006/relationships/slideLayout" Target="/ppt/slideLayouts/slideLayout3.xml" Id="R1fcf0d7b7d484932" /><Relationship Type="http://schemas.openxmlformats.org/officeDocument/2006/relationships/slideLayout" Target="/ppt/slideLayouts/slideLayout4.xml" Id="R9ddc1355746b4751" /><Relationship Type="http://schemas.openxmlformats.org/officeDocument/2006/relationships/slideLayout" Target="/ppt/slideLayouts/slideLayout5.xml" Id="Rb59e6611e2564946" /><Relationship Type="http://schemas.openxmlformats.org/officeDocument/2006/relationships/slideLayout" Target="/ppt/slideLayouts/slideLayout6.xml" Id="R58fe80d72d364ed2" /><Relationship Type="http://schemas.openxmlformats.org/officeDocument/2006/relationships/slideLayout" Target="/ppt/slideLayouts/slideLayout7.xml" Id="Rfcb3c9e8b85f4b08" /><Relationship Type="http://schemas.openxmlformats.org/officeDocument/2006/relationships/slideLayout" Target="/ppt/slideLayouts/slideLayout8.xml" Id="R9c7c0bd6f870482e" /><Relationship Type="http://schemas.openxmlformats.org/officeDocument/2006/relationships/slideLayout" Target="/ppt/slideLayouts/slideLayout9.xml" Id="R2452e0693b404564" /><Relationship Type="http://schemas.openxmlformats.org/officeDocument/2006/relationships/slideLayout" Target="/ppt/slideLayouts/slideLayout10.xml" Id="Re072af057df44e94" /><Relationship Type="http://schemas.openxmlformats.org/officeDocument/2006/relationships/slideLayout" Target="/ppt/slideLayouts/slideLayout11.xml" Id="R8db612bc18b84c5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6B46436-3BFF-4C01-80CC-2931DA72ED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2DC9566-FCC6-4227-B701-B66AFA33B0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B59B1B-54D4-46B3-8E59-312B6B2AA96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2026/7/14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FF217B-5F81-47E3-8F9B-3C4BC35A4D9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6EA99D-E7AE-4A43-9247-99B8DDDC9F6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598eccd9e84728"/>
    <p:sldLayoutId xmlns:r="http://schemas.openxmlformats.org/officeDocument/2006/relationships" id="2147483650" r:id="R8730902c8dd64102"/>
    <p:sldLayoutId xmlns:r="http://schemas.openxmlformats.org/officeDocument/2006/relationships" id="2147483651" r:id="R1fcf0d7b7d484932"/>
    <p:sldLayoutId xmlns:r="http://schemas.openxmlformats.org/officeDocument/2006/relationships" id="2147483652" r:id="R9ddc1355746b4751"/>
    <p:sldLayoutId xmlns:r="http://schemas.openxmlformats.org/officeDocument/2006/relationships" id="2147483653" r:id="Rb59e6611e2564946"/>
    <p:sldLayoutId xmlns:r="http://schemas.openxmlformats.org/officeDocument/2006/relationships" id="2147483654" r:id="R58fe80d72d364ed2"/>
    <p:sldLayoutId xmlns:r="http://schemas.openxmlformats.org/officeDocument/2006/relationships" id="2147483655" r:id="Rfcb3c9e8b85f4b08"/>
    <p:sldLayoutId xmlns:r="http://schemas.openxmlformats.org/officeDocument/2006/relationships" id="2147483656" r:id="R9c7c0bd6f870482e"/>
    <p:sldLayoutId xmlns:r="http://schemas.openxmlformats.org/officeDocument/2006/relationships" id="2147483657" r:id="R2452e0693b404564"/>
    <p:sldLayoutId xmlns:r="http://schemas.openxmlformats.org/officeDocument/2006/relationships" id="2147483658" r:id="Re072af057df44e94"/>
    <p:sldLayoutId xmlns:r="http://schemas.openxmlformats.org/officeDocument/2006/relationships" id="2147483659" r:id="R8db612bc18b84c5e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a822ce38064545" /><Relationship Type="http://schemas.openxmlformats.org/officeDocument/2006/relationships/image" Target="/ppt/media/image.jpeg" Id="Redeaaa35002649a7" /><Relationship Type="http://schemas.openxmlformats.org/officeDocument/2006/relationships/notesSlide" Target="/ppt/notesSlides/notesSlide1.xml" Id="R98339acfb41e43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ae071a68334714" /><Relationship Type="http://schemas.openxmlformats.org/officeDocument/2006/relationships/image" Target="/ppt/media/image2.jpeg" Id="Rd97ff2e3426d48be" /><Relationship Type="http://schemas.openxmlformats.org/officeDocument/2006/relationships/notesSlide" Target="/ppt/notesSlides/notesSlide2.xml" Id="R7b861d3ece284d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852583f457475d" /><Relationship Type="http://schemas.openxmlformats.org/officeDocument/2006/relationships/image" Target="/ppt/media/image.png" Id="Rc99017db8cbf414d" /><Relationship Type="http://schemas.openxmlformats.org/officeDocument/2006/relationships/notesSlide" Target="/ppt/notesSlides/notesSlide3.xml" Id="R273d09a3f2f244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8ffc805b5d4923" /><Relationship Type="http://schemas.openxmlformats.org/officeDocument/2006/relationships/notesSlide" Target="/ppt/notesSlides/notesSlide4.xml" Id="Rb615e53eaff441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02733edefe435c" /><Relationship Type="http://schemas.openxmlformats.org/officeDocument/2006/relationships/image" Target="/ppt/media/image2.png" Id="Rccb5b61046424632" /><Relationship Type="http://schemas.openxmlformats.org/officeDocument/2006/relationships/image" Target="/ppt/media/image.svg" Id="R72fcc8463f4c4de2" /><Relationship Type="http://schemas.openxmlformats.org/officeDocument/2006/relationships/image" Target="/ppt/media/image3.jpeg" Id="R938e0321b22d4065" /><Relationship Type="http://schemas.openxmlformats.org/officeDocument/2006/relationships/notesSlide" Target="/ppt/notesSlides/notesSlide5.xml" Id="R5cdbec671f5e49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24866d2d83401a" /><Relationship Type="http://schemas.openxmlformats.org/officeDocument/2006/relationships/image" Target="/ppt/media/image3.png" Id="R13305e2966fe4396" /><Relationship Type="http://schemas.openxmlformats.org/officeDocument/2006/relationships/notesSlide" Target="/ppt/notesSlides/notesSlide6.xml" Id="R859d16d727004f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4768f5ab674541" /><Relationship Type="http://schemas.openxmlformats.org/officeDocument/2006/relationships/notesSlide" Target="/ppt/notesSlides/notesSlide7.xml" Id="Rcc1bfb98591547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525cb49ef34731" /><Relationship Type="http://schemas.openxmlformats.org/officeDocument/2006/relationships/image" Target="/ppt/media/image4.jpeg" Id="Rdd531810baa242f9" /><Relationship Type="http://schemas.openxmlformats.org/officeDocument/2006/relationships/notesSlide" Target="/ppt/notesSlides/notesSlide8.xml" Id="Rf552cbad4c4c43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47e79b10fd4f5f" /><Relationship Type="http://schemas.openxmlformats.org/officeDocument/2006/relationships/notesSlide" Target="/ppt/notesSlides/notesSlide9.xml" Id="R842fe97e2df243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06f6004f2d4952" /><Relationship Type="http://schemas.openxmlformats.org/officeDocument/2006/relationships/image" Target="/ppt/media/image4.png" Id="R5492015a1a504d44" /><Relationship Type="http://schemas.openxmlformats.org/officeDocument/2006/relationships/image" Target="/ppt/media/image5.png" Id="Ra57e7ee756c94d82" /><Relationship Type="http://schemas.openxmlformats.org/officeDocument/2006/relationships/image" Target="/ppt/media/image6.png" Id="Ra3dfa24deee34892" /><Relationship Type="http://schemas.openxmlformats.org/officeDocument/2006/relationships/notesSlide" Target="/ppt/notesSlides/notesSlide10.xml" Id="Rd18c27aa560e4e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9329e04b724389" /><Relationship Type="http://schemas.openxmlformats.org/officeDocument/2006/relationships/image" Target="/ppt/media/image5.jpeg" Id="Ra72a6e1ba3cb4a47" /><Relationship Type="http://schemas.openxmlformats.org/officeDocument/2006/relationships/image" Target="/ppt/media/image7.png" Id="Rb87b6283619e460a" /><Relationship Type="http://schemas.openxmlformats.org/officeDocument/2006/relationships/image" Target="/ppt/media/image2.svg" Id="R71e32b99cb16417a" /><Relationship Type="http://schemas.openxmlformats.org/officeDocument/2006/relationships/notesSlide" Target="/ppt/notesSlides/notesSlide11.xml" Id="Rb51e466c1b2048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16d927380842d9" /><Relationship Type="http://schemas.openxmlformats.org/officeDocument/2006/relationships/notesSlide" Target="/ppt/notesSlides/notesSlide12.xml" Id="R25545e1a7a0c445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58E2AB53-0560-42B7-B9CC-6314D2DD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CC0063B-079E-4EB7-B0E4-0C0F03A7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5F40831B-3D1E-470B-8D10-21B67DEF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6858000" cy="10287000"/>
          </a:xfrm>
          <a:custGeom xmlns:a="http://schemas.openxmlformats.org/drawingml/2006/main"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deaaa35002649a7"/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CF020D6-4CAC-4FE0-A629-639B78BC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4005710"/>
            <a:ext cx="9445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SakeStop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B274696D-BD78-4A6A-B6D0-346803FE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5259734"/>
            <a:ext cx="9445523" cy="4132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F居酒屋の注文と飲酒ペースを記録</a:t>
            </a:r>
          </a:p>
        </p:txBody>
      </p:sp>
    </p:spTree>
    <p:extLst>
      <p:ext uri="{BB962C8B-B14F-4D97-AF65-F5344CB8AC3E}">
        <p14:creationId xmlns:p14="http://schemas.microsoft.com/office/powerpoint/2010/main" val="5911778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DA0FB0A-E389-42E9-95A4-D910700F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66D4717E-A514-4710-88F6-3E823AD3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88D03FF9-5DE5-4167-AA48-F2327521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6858000" cy="10287000"/>
          </a:xfrm>
          <a:custGeom xmlns:a="http://schemas.openxmlformats.org/drawingml/2006/main"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97ff2e3426d48be"/>
            <a:stretch>
              <a:fillRect l="-62" t="0" r="-62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EA1415BC-0C49-4AFE-8B9A-E5478A50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76" y="4527794"/>
            <a:ext cx="9455086" cy="3314985"/>
          </a:xfrm>
          <a:custGeom xmlns:a="http://schemas.openxmlformats.org/drawingml/2006/main">
            <a:rect l="l" t="t" r="r" b="b"/>
            <a:pathLst>
              <a:path w="12606782" h="4419981">
                <a:moveTo>
                  <a:pt x="0" y="159258"/>
                </a:moveTo>
                <a:cubicBezTo>
                  <a:pt x="0" y="71247"/>
                  <a:pt x="71247" y="0"/>
                  <a:pt x="159258" y="0"/>
                </a:cubicBezTo>
                <a:lnTo>
                  <a:pt x="12447524" y="0"/>
                </a:lnTo>
                <a:cubicBezTo>
                  <a:pt x="12535535" y="0"/>
                  <a:pt x="12606782" y="71247"/>
                  <a:pt x="12606782" y="159258"/>
                </a:cubicBezTo>
                <a:lnTo>
                  <a:pt x="12606782" y="4260723"/>
                </a:lnTo>
                <a:cubicBezTo>
                  <a:pt x="12606782" y="4348734"/>
                  <a:pt x="12535535" y="4419981"/>
                  <a:pt x="12447524" y="4419981"/>
                </a:cubicBezTo>
                <a:lnTo>
                  <a:pt x="159258" y="4419981"/>
                </a:lnTo>
                <a:cubicBezTo>
                  <a:pt x="71247" y="4419981"/>
                  <a:pt x="0" y="4348734"/>
                  <a:pt x="0" y="4260723"/>
                </a:cubicBezTo>
                <a:close/>
              </a:path>
            </a:pathLst>
          </a:custGeom>
          <a:solidFill xmlns:a="http://schemas.openxmlformats.org/drawingml/2006/main">
            <a:srgbClr val="DDEEE6"/>
          </a:solidFill>
          <a:ln xmlns:a="http://schemas.openxmlformats.org/drawingml/2006/main" w="9526">
            <a:solidFill>
              <a:srgbClr val="C3D4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ED100BD9-1FAB-4953-BB0F-099B2C13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63" y="4542082"/>
            <a:ext cx="9426511" cy="1643253"/>
          </a:xfrm>
          <a:custGeom xmlns:a="http://schemas.openxmlformats.org/drawingml/2006/main"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 xmlns:a="http://schemas.openxmlformats.org/drawingml/2006/main">
            <a:srgbClr val="DDEE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76CF3778-337A-4018-A5B3-7E21D904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63" y="6185297"/>
            <a:ext cx="9426511" cy="1643253"/>
          </a:xfrm>
          <a:custGeom xmlns:a="http://schemas.openxmlformats.org/drawingml/2006/main"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 xmlns:a="http://schemas.openxmlformats.org/drawingml/2006/main">
            <a:srgbClr val="DDEE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85ECDDEB-1B86-429A-A48D-37936631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63" y="6185297"/>
            <a:ext cx="9426511" cy="38100"/>
          </a:xfrm>
          <a:custGeom xmlns:a="http://schemas.openxmlformats.org/drawingml/2006/main">
            <a:rect l="l" t="t" r="r" b="b"/>
            <a:pathLst>
              <a:path w="12568682" h="50800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lnTo>
                  <a:pt x="12543282" y="0"/>
                </a:lnTo>
                <a:cubicBezTo>
                  <a:pt x="12557251" y="0"/>
                  <a:pt x="12568682" y="11430"/>
                  <a:pt x="12568682" y="25400"/>
                </a:cubicBezTo>
                <a:cubicBezTo>
                  <a:pt x="12568682" y="39370"/>
                  <a:pt x="12557251" y="50800"/>
                  <a:pt x="12543282" y="50800"/>
                </a:cubicBezTo>
                <a:lnTo>
                  <a:pt x="25400" y="50800"/>
                </a:lnTo>
                <a:cubicBezTo>
                  <a:pt x="11430" y="50800"/>
                  <a:pt x="0" y="39370"/>
                  <a:pt x="0" y="25400"/>
                </a:cubicBezTo>
                <a:close/>
              </a:path>
            </a:pathLst>
          </a:custGeom>
          <a:solidFill xmlns:a="http://schemas.openxmlformats.org/drawingml/2006/main">
            <a:srgbClr val="C3D4C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F688FE79-FF58-40B1-967A-025F78B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2420245"/>
            <a:ext cx="9445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アプリの目的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C6B6A3A4-1531-4835-B71D-9DD11B1A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3674269"/>
            <a:ext cx="10359923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</a:t>
            </a: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強制的に止める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アプリではありません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F50B5CE4-309B-4BAB-9871-B1996538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84" y="4806553"/>
            <a:ext cx="8859441" cy="471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❌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強制ストップ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B05BE07B-12E1-4E93-A68D-76A76582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84" y="5362423"/>
            <a:ext cx="8859441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飲酒を制限する機能はありません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F095EE85-FF58-4825-85A4-FF523EF2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84" y="6449768"/>
            <a:ext cx="8859441" cy="471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✅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気づきを促す</a:t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66E04541-2F11-4CED-A691-5C7F181F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84" y="7005637"/>
            <a:ext cx="8859441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注文のついでに、自分の飲酒ペースを確認できます</a:t>
            </a:r>
          </a:p>
        </p:txBody>
      </p:sp>
    </p:spTree>
    <p:extLst>
      <p:ext uri="{BB962C8B-B14F-4D97-AF65-F5344CB8AC3E}">
        <p14:creationId xmlns:p14="http://schemas.microsoft.com/office/powerpoint/2010/main" val="12465691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92090EA2-E2C6-4245-BC39-CA1EF16A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F33280C7-3589-430E-8CFC-450C6FCC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FA107382-506A-439C-8733-0755C4B3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771373"/>
            <a:ext cx="16303523" cy="5311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993"/>
              </a:lnSpc>
              <a:buNone/>
            </a:pPr>
            <a:r>
              <a:rPr sz="32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アプリの利用フロー</a:t>
            </a: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C966523F-E024-479A-A030-5B598021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645" y="1492006"/>
            <a:ext cx="15734727" cy="7691151"/>
          </a:xfrm>
          <a:custGeom xmlns:a="http://schemas.openxmlformats.org/drawingml/2006/main">
            <a:rect l="l" t="t" r="r" b="b"/>
            <a:pathLst>
              <a:path w="20979637" h="10254869">
                <a:moveTo>
                  <a:pt x="0" y="0"/>
                </a:moveTo>
                <a:lnTo>
                  <a:pt x="20979637" y="0"/>
                </a:lnTo>
                <a:lnTo>
                  <a:pt x="20979637" y="10254869"/>
                </a:lnTo>
                <a:lnTo>
                  <a:pt x="0" y="1025486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99017db8cbf414d"/>
            <a:stretch>
              <a:fillRect l="0" t="-30" r="0" b="-3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C815E761-E9EA-44B5-8BD1-EC71B518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7880" y="4119210"/>
            <a:ext cx="3668211" cy="4775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テーブル登録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4F152C45-2208-4D0F-A642-E00E14D0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2312" y="2358476"/>
            <a:ext cx="3668211" cy="4775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商品を選択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BA422E-4686-4570-8EEA-51F31B62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1709" y="5977776"/>
            <a:ext cx="3668211" cy="4775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注文確定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DDD9276F-BAA1-4611-A3C2-B2029DAB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28" y="7771124"/>
            <a:ext cx="3668211" cy="4775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履歴に保存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0376B2-851F-45A3-BDFB-F0E3450B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9280179"/>
            <a:ext cx="17217923" cy="2163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512"/>
              </a:lnSpc>
              <a:buNone/>
            </a:pPr>
            <a:r>
              <a:rPr sz="1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注文操作と飲酒ペースの記録が、一つのフローで完結します</a:t>
            </a:r>
          </a:p>
        </p:txBody>
      </p:sp>
      <p:sp>
        <p:nvSpPr>
          <p:cNvPr id="16" name="gamma-badge-cover">
            <a:extLst xmlns:a="http://schemas.openxmlformats.org/drawingml/2006/main">
              <a:ext uri="{FF2B5EF4-FFF2-40B4-BE49-F238E27FC236}">
                <a16:creationId xmlns:a16="http://schemas.microsoft.com/office/drawing/2014/main" id="{B189EB43-56D3-48E4-9843-080BCD79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9601200"/>
            <a:ext cx="2305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E6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151068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C29BE29-653A-4E3F-9976-208009A6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DE15627B-BC9B-4F53-8E44-1AC29EDD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6EFC17DF-DDBD-4481-94E8-1DC3F258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2770880"/>
            <a:ext cx="16303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なぜ「注文記録」方式にしたのか</a:t>
            </a:r>
          </a:p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ED07ED28-13E0-405B-84EB-EA407A92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041" y="4110628"/>
            <a:ext cx="8214264" cy="3376898"/>
          </a:xfrm>
          <a:custGeom xmlns:a="http://schemas.openxmlformats.org/drawingml/2006/main">
            <a:rect l="l" t="t" r="r" b="b"/>
            <a:pathLst>
              <a:path w="10952353" h="4502531">
                <a:moveTo>
                  <a:pt x="0" y="272161"/>
                </a:moveTo>
                <a:cubicBezTo>
                  <a:pt x="0" y="121920"/>
                  <a:pt x="121920" y="0"/>
                  <a:pt x="272161" y="0"/>
                </a:cubicBezTo>
                <a:lnTo>
                  <a:pt x="10680192" y="0"/>
                </a:lnTo>
                <a:cubicBezTo>
                  <a:pt x="10830561" y="0"/>
                  <a:pt x="10952353" y="121920"/>
                  <a:pt x="10952353" y="272161"/>
                </a:cubicBezTo>
                <a:lnTo>
                  <a:pt x="10952353" y="4230370"/>
                </a:lnTo>
                <a:cubicBezTo>
                  <a:pt x="10952353" y="4380738"/>
                  <a:pt x="10830433" y="4502531"/>
                  <a:pt x="10680192" y="4502531"/>
                </a:cubicBezTo>
                <a:lnTo>
                  <a:pt x="272161" y="4502531"/>
                </a:lnTo>
                <a:cubicBezTo>
                  <a:pt x="121920" y="4502531"/>
                  <a:pt x="0" y="4380738"/>
                  <a:pt x="0" y="4230370"/>
                </a:cubicBezTo>
                <a:close/>
              </a:path>
            </a:pathLst>
          </a:custGeom>
          <a:solidFill xmlns:a="http://schemas.openxmlformats.org/drawingml/2006/main">
            <a:srgbClr val="22443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30DF6B1F-AF15-4C16-B032-0509A134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" y="4375099"/>
            <a:ext cx="7647232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FFFFFF"/>
                </a:solidFill>
                <a:latin typeface="Syne Bold"/>
                <a:ea typeface="Syne Bold"/>
                <a:cs typeface="Syne Bold"/>
              </a:rPr>
              <a:t>当初の案：タップカウント型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A3D9AF22-AF05-4903-A628-B3150D04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" y="5034858"/>
            <a:ext cx="8561632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飲んだ杯数を自分で入力する方式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608236-626D-469C-A2CC-F5864130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" y="5743575"/>
            <a:ext cx="7647232" cy="12895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毎回アプリを開く必要がある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入力を忘れる可能性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実際の利用場面には合わない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E6D6516D-59A7-44D9-8DDE-AE1D7929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4375099"/>
            <a:ext cx="4114800" cy="4216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採用した方式：注文連動型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686569EE-9B82-4DFA-A36D-844EF40E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5034858"/>
            <a:ext cx="8720290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注文操作そのものを記録として利用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1610D78B-F15E-41B0-8010-3A328E9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5743575"/>
            <a:ext cx="7805890" cy="12895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カートに追加・注文確定で自動記録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追加の入力操作は不要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自然な行動と記録がつながる</a:t>
            </a:r>
          </a:p>
        </p:txBody>
      </p:sp>
    </p:spTree>
    <p:extLst>
      <p:ext uri="{BB962C8B-B14F-4D97-AF65-F5344CB8AC3E}">
        <p14:creationId xmlns:p14="http://schemas.microsoft.com/office/powerpoint/2010/main" val="12484084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EE9DD260-800F-4D51-8D50-C7D988A7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1700650-F700-42B6-BF37-81AD25F8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88504E17-82F4-431E-90AC-7D7B45D9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1686220"/>
            <a:ext cx="16303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実装した主な4つの機能</a:t>
            </a: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18F9BBB9-B0E6-4556-ABD7-A8461FDB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3167805"/>
            <a:ext cx="8009934" cy="2560444"/>
          </a:xfrm>
          <a:custGeom xmlns:a="http://schemas.openxmlformats.org/drawingml/2006/main"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cb5b61046424632">
              <a:extLst>
                <a:ext uri="{96DAC541-7B7A-43D3-8B79-37D633B846F1}">
                  <asvg:svgBlip xmlns:asvg="http://schemas.microsoft.com/office/drawing/2016/SVG/main" r:embed="R72fcc8463f4c4de2"/>
                </a:ext>
              </a:extLst>
            </a:blip>
            <a:stretch>
              <a:fillRect l="0" t="-31" r="0" b="-3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BBBA42C4-CA5B-48E5-996D-154D398E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4522" y="3360544"/>
            <a:ext cx="425202" cy="531614"/>
          </a:xfrm>
          <a:custGeom xmlns:a="http://schemas.openxmlformats.org/drawingml/2006/main"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38e0321b22d4065">
              <a:alphaModFix amt="0"/>
            </a:blip>
            <a:stretch>
              <a:fillRect l="-110411" t="0" r="-110412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823A2AE5-94FC-4E04-95EB-12335925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4522" y="3360544"/>
            <a:ext cx="425206" cy="5316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1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4783F6B9-7CFD-4FE7-969A-630F06C3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50" y="4320931"/>
            <a:ext cx="7366692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セッション開始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361F67C-CDD2-4BEF-B9B5-F975704B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50" y="4867275"/>
            <a:ext cx="7366692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テーブルIDとニックネームで入室</a:t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2A79CA74-FD28-4FB9-B5C4-4A40B534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5684" y="3167805"/>
            <a:ext cx="8010077" cy="2560444"/>
          </a:xfrm>
          <a:custGeom xmlns:a="http://schemas.openxmlformats.org/drawingml/2006/main"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cb5b61046424632">
              <a:extLst>
                <a:ext uri="{96DAC541-7B7A-43D3-8B79-37D633B846F1}">
                  <asvg:svgBlip xmlns:asvg="http://schemas.microsoft.com/office/drawing/2016/SVG/main" r:embed="R72fcc8463f4c4de2"/>
                </a:ext>
              </a:extLst>
            </a:blip>
            <a:stretch>
              <a:fillRect l="0" t="-31" r="0" b="-31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875584C0-02BD-4D49-A6C9-3607352C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8120" y="3360544"/>
            <a:ext cx="425202" cy="531614"/>
          </a:xfrm>
          <a:custGeom xmlns:a="http://schemas.openxmlformats.org/drawingml/2006/main"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38e0321b22d4065">
              <a:alphaModFix amt="0"/>
            </a:blip>
            <a:stretch>
              <a:fillRect l="-110411" t="0" r="-110412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2438E7CD-1939-44B9-8C23-8B4F5EB2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8120" y="3360544"/>
            <a:ext cx="425206" cy="5316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2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6A230C91-61D0-4137-892A-481FAADD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306" y="4320931"/>
            <a:ext cx="7366845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メニュー＆カート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EC878ACF-2C45-4656-A0B9-FED7FFF6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306" y="4867275"/>
            <a:ext cx="7366845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商品追加・数量変更・削除・注文確定</a:t>
            </a:r>
          </a:p>
        </p:txBody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16ABB980-0626-45D5-A564-020B7CC7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6011761"/>
            <a:ext cx="8009934" cy="2560444"/>
          </a:xfrm>
          <a:custGeom xmlns:a="http://schemas.openxmlformats.org/drawingml/2006/main"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cb5b61046424632">
              <a:extLst>
                <a:ext uri="{96DAC541-7B7A-43D3-8B79-37D633B846F1}">
                  <asvg:svgBlip xmlns:asvg="http://schemas.microsoft.com/office/drawing/2016/SVG/main" r:embed="R72fcc8463f4c4de2"/>
                </a:ext>
              </a:extLst>
            </a:blip>
            <a:stretch>
              <a:fillRect l="0" t="-31" r="0" b="-3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255900D6-9083-4AB5-849A-822F5DEA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4522" y="6204499"/>
            <a:ext cx="425202" cy="531614"/>
          </a:xfrm>
          <a:custGeom xmlns:a="http://schemas.openxmlformats.org/drawingml/2006/main"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38e0321b22d4065">
              <a:alphaModFix amt="0"/>
            </a:blip>
            <a:stretch>
              <a:fillRect l="-110411" t="0" r="-110412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A4E14AAE-F47D-4D84-9EC0-724436C9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4522" y="6204499"/>
            <a:ext cx="425206" cy="5316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3</a:t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FB95014A-BA36-401F-8EE0-B61194FB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50" y="7164886"/>
            <a:ext cx="7366692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Firebase履歴保存</a:t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6B4A1968-3C18-49A3-870D-0E34CBEB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50" y="7711230"/>
            <a:ext cx="7366692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注文確定でリアルタイムDBへ保存・反映</a:t>
            </a:r>
          </a:p>
        </p:txBody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CD0018FD-3B50-4CD8-B2CD-5CDFD85D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5684" y="6011761"/>
            <a:ext cx="8010077" cy="2560444"/>
          </a:xfrm>
          <a:custGeom xmlns:a="http://schemas.openxmlformats.org/drawingml/2006/main"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cb5b61046424632">
              <a:extLst>
                <a:ext uri="{96DAC541-7B7A-43D3-8B79-37D633B846F1}">
                  <asvg:svgBlip xmlns:asvg="http://schemas.microsoft.com/office/drawing/2016/SVG/main" r:embed="R72fcc8463f4c4de2"/>
                </a:ext>
              </a:extLst>
            </a:blip>
            <a:stretch>
              <a:fillRect l="0" t="-31" r="0" b="-31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94886D02-1D02-426D-A454-AAF581CC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8120" y="6204499"/>
            <a:ext cx="425202" cy="531614"/>
          </a:xfrm>
          <a:custGeom xmlns:a="http://schemas.openxmlformats.org/drawingml/2006/main"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38e0321b22d4065">
              <a:alphaModFix amt="0"/>
            </a:blip>
            <a:stretch>
              <a:fillRect l="-110411" t="0" r="-110412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9EA0ED9F-C378-4FAC-8D77-F73FD445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8120" y="6204499"/>
            <a:ext cx="425206" cy="5316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4</a:t>
            </a: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A2C3DB82-CF79-4FFA-A8B5-B42B5220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306" y="7164886"/>
            <a:ext cx="7366845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飲酒ペース表示</a:t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BBEE1B76-E0B3-42DE-82F9-9674B603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7306" y="7711230"/>
            <a:ext cx="7366845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直近30分の純アルコール量を表示</a:t>
            </a:r>
          </a:p>
        </p:txBody>
      </p:sp>
    </p:spTree>
    <p:extLst>
      <p:ext uri="{BB962C8B-B14F-4D97-AF65-F5344CB8AC3E}">
        <p14:creationId xmlns:p14="http://schemas.microsoft.com/office/powerpoint/2010/main" val="70880596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43EEB7A2-09A5-4443-A77A-42470FC1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8C1EB84-A46C-443B-A8AB-9403969D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05e2966fe4396"/>
          <a:stretch xmlns:a="http://schemas.openxmlformats.org/drawingml/2006/main"/>
        </p:blipFill>
        <p:spPr>
          <a:xfrm xmlns:a="http://schemas.openxmlformats.org/drawingml/2006/main">
            <a:off x="4607433" y="666750"/>
            <a:ext cx="9073039" cy="90730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5385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159020EE-9E89-4CD4-8141-1A2B5CBE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CD3ABDB-3FA4-4B87-8934-66D3F6FC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08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B186875E-200E-458F-8A79-3FC3295F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2185987"/>
            <a:ext cx="16303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飲酒ペースの目安と注意表示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05174D34-933A-4663-AECD-6BA0679D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844" y="3952132"/>
            <a:ext cx="3398552" cy="9606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６０ｇ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454D51E4-C949-4492-96FB-B5159FAB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344" y="5080102"/>
            <a:ext cx="2475406" cy="4216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注意表示の目安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3540789-59B9-4710-9A1D-D5E08696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5626446"/>
            <a:ext cx="7974511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直近30分の純アルコール量が60g以上で表示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DF62B8-A2D7-490B-B7D9-9D7DB338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7784" y="3952132"/>
            <a:ext cx="3398551" cy="9606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３０分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5462FB-D313-4A0C-AB7A-36890792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108" y="5080102"/>
            <a:ext cx="7974654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通知間隔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2E0D12-D671-40B1-B1CD-64EBDB21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108" y="5626446"/>
            <a:ext cx="7974654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同じ注意が連続表示されないよう間隔を設定</a:t>
            </a: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B7EF63E0-7D34-41E2-B5FA-1CF7EA4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6484744"/>
            <a:ext cx="16303466" cy="1587532"/>
          </a:xfrm>
          <a:custGeom xmlns:a="http://schemas.openxmlformats.org/drawingml/2006/main">
            <a:rect l="l" t="t" r="r" b="b"/>
            <a:pathLst>
              <a:path w="21737955" h="2116709">
                <a:moveTo>
                  <a:pt x="0" y="158750"/>
                </a:moveTo>
                <a:cubicBezTo>
                  <a:pt x="0" y="71120"/>
                  <a:pt x="71120" y="0"/>
                  <a:pt x="158750" y="0"/>
                </a:cubicBezTo>
                <a:lnTo>
                  <a:pt x="21579205" y="0"/>
                </a:lnTo>
                <a:cubicBezTo>
                  <a:pt x="21666836" y="0"/>
                  <a:pt x="21737955" y="71120"/>
                  <a:pt x="21737955" y="158750"/>
                </a:cubicBezTo>
                <a:lnTo>
                  <a:pt x="21737955" y="1957959"/>
                </a:lnTo>
                <a:cubicBezTo>
                  <a:pt x="21737955" y="2045589"/>
                  <a:pt x="21666836" y="2116709"/>
                  <a:pt x="21579205" y="2116709"/>
                </a:cubicBezTo>
                <a:lnTo>
                  <a:pt x="158750" y="2116709"/>
                </a:lnTo>
                <a:cubicBezTo>
                  <a:pt x="71120" y="2116709"/>
                  <a:pt x="0" y="2045589"/>
                  <a:pt x="0" y="1957959"/>
                </a:cubicBezTo>
                <a:close/>
              </a:path>
            </a:pathLst>
          </a:custGeom>
          <a:solidFill xmlns:a="http://schemas.openxmlformats.org/drawingml/2006/main">
            <a:srgbClr val="DDEE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9EE083B7-66A8-41F1-8614-79EE8974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30" y="6753377"/>
            <a:ext cx="15098611" cy="87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この数値は飲酒ペースを振り返るための目安です</a:t>
            </a: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。</a:t>
            </a:r>
          </a:p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医療的な診断や、飲酒してよいかどうかを判断する機能ではありません</a:t>
            </a: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。</a:t>
            </a:r>
          </a:p>
        </p:txBody>
      </p:sp>
      <p:sp>
        <p:nvSpPr>
          <p:cNvPr id="20" name="gamma-badge-cover">
            <a:extLst xmlns:a="http://schemas.openxmlformats.org/drawingml/2006/main">
              <a:ext uri="{FF2B5EF4-FFF2-40B4-BE49-F238E27FC236}">
                <a16:creationId xmlns:a16="http://schemas.microsoft.com/office/drawing/2014/main" id="{F07F6509-2FF7-4400-AC2A-4730E09F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9601200"/>
            <a:ext cx="2305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E6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181002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58682BD-A143-45FB-A7CE-067164DC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CE8C43D0-3EC4-4150-9A59-83F2AE59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CE2F9C40-2B47-4A72-891E-491E7370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1160269"/>
            <a:ext cx="16303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開発環境とスケジュール</a:t>
            </a: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3D0F4E80-C724-4C45-B401-E87AB865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2974924"/>
            <a:ext cx="10355199" cy="5648134"/>
          </a:xfrm>
          <a:custGeom xmlns:a="http://schemas.openxmlformats.org/drawingml/2006/main">
            <a:rect l="l" t="t" r="r" b="b"/>
            <a:pathLst>
              <a:path w="13806932" h="7530846">
                <a:moveTo>
                  <a:pt x="0" y="0"/>
                </a:moveTo>
                <a:lnTo>
                  <a:pt x="13806932" y="0"/>
                </a:lnTo>
                <a:lnTo>
                  <a:pt x="13806932" y="7530846"/>
                </a:lnTo>
                <a:lnTo>
                  <a:pt x="0" y="7530846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d531810baa242f9"/>
            <a:stretch>
              <a:fillRect l="-37" t="0" r="-37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999EC31-765E-4ED3-9B32-30A86DA2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8677" y="2764479"/>
            <a:ext cx="5256457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7BB15EB8-A28B-4F66-B7AF-FCE82F7F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8677" y="3424237"/>
            <a:ext cx="5256457" cy="16448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Flutter 3.35.7 (stable) / Dart 3.9.2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 Realtime Database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Gitで変更履歴を管理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C5DD34B-08A5-464D-8E4B-7ADD5E07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8677" y="5333552"/>
            <a:ext cx="5256457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スケジュール（5月〜7月）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4B714D20-46EA-4A9E-A70B-8A6D75E0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8677" y="5993311"/>
            <a:ext cx="5256457" cy="21658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5月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：タップカウント型から注文アプリへ方向転換・仕様整理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6月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：Firebase連携・カート機能・注文履歴・飲酒ペース判定を実装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7月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：UI調整・不要な機能を削除</a:t>
            </a:r>
          </a:p>
        </p:txBody>
      </p:sp>
      <p:sp>
        <p:nvSpPr>
          <p:cNvPr id="15" name="gamma-badge-cover">
            <a:extLst xmlns:a="http://schemas.openxmlformats.org/drawingml/2006/main">
              <a:ext uri="{FF2B5EF4-FFF2-40B4-BE49-F238E27FC236}">
                <a16:creationId xmlns:a16="http://schemas.microsoft.com/office/drawing/2014/main" id="{88E33CE1-AC1D-468F-8A87-A16DE941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9601200"/>
            <a:ext cx="2305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E6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56446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07EFD2DE-32BB-40E2-9994-561C063F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0D9904F8-0102-4B91-BF57-E98C6330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8BDE3B26-7186-4F5E-B24A-5DA0CFF8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2117084"/>
            <a:ext cx="16303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テストとAIの活用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23131802-B802-4C6F-A597-79CE017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3721294"/>
            <a:ext cx="7805890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テスト内容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999283BB-4826-4A99-9EA9-8C60B4B4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98" y="4381052"/>
            <a:ext cx="8730108" cy="1783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静的解析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flutter analyze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で問題なしを確認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単体テスト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：純アルコール量・30分集計・60g境界・通知間隔・テーブルID入力規則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Widgetテスト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：テーブルID→ニックネーム画面の遷移フロー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B5F18842-8621-4EE5-BB92-7D3ECD02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3721294"/>
            <a:ext cx="7805890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AIの活用範囲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E41888E4-E065-4953-B53C-A6E65489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4381052"/>
            <a:ext cx="7805890" cy="1783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Firebase接続・リアルタイム同期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30分集計・通知処理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エラー原因の調査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仕様書・発表メモの文章整理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758A01E4-FD4F-47FF-8A47-12B7089C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6290367"/>
            <a:ext cx="7805890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自分で実装した部分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9614C139-8845-4A5B-B1A9-C4D94F48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6950126"/>
            <a:ext cx="7805890" cy="10920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基本画面・画面遷移・メニュー・カート操作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UI調整（ボタン・文言・配色）</a:t>
            </a:r>
          </a:p>
        </p:txBody>
      </p:sp>
    </p:spTree>
    <p:extLst>
      <p:ext uri="{BB962C8B-B14F-4D97-AF65-F5344CB8AC3E}">
        <p14:creationId xmlns:p14="http://schemas.microsoft.com/office/powerpoint/2010/main" val="179713088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6FE9194B-6455-484F-A9C2-0B5AD57F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331435A4-427D-4F58-BAB8-7E8217D7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517E473E-9DA9-4243-AD9B-311FB15E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19" y="742950"/>
            <a:ext cx="16303562" cy="9145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実機説明</a:t>
            </a:r>
          </a:p>
        </p:txBody>
      </p:sp>
      <p:sp>
        <p:nvSpPr>
          <p:cNvPr id="7" name="demo-caption-1">
            <a:extLst xmlns:a="http://schemas.openxmlformats.org/drawingml/2006/main">
              <a:ext uri="{FF2B5EF4-FFF2-40B4-BE49-F238E27FC236}">
                <a16:creationId xmlns:a16="http://schemas.microsoft.com/office/drawing/2014/main" id="{59D36BD1-DABE-4ECB-B7C6-E3D3521F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2015a1a504d44"/>
          <a:stretch xmlns:a="http://schemas.openxmlformats.org/drawingml/2006/main"/>
        </p:blipFill>
        <p:spPr>
          <a:xfrm xmlns:a="http://schemas.openxmlformats.org/drawingml/2006/main">
            <a:off x="952500" y="2383036"/>
            <a:ext cx="4953000" cy="3482578"/>
          </a:xfrm>
          <a:prstGeom xmlns:a="http://schemas.openxmlformats.org/drawingml/2006/main" prst="rect">
            <a:avLst/>
          </a:prstGeom>
        </p:spPr>
      </p:pic>
      <p:sp>
        <p:nvSpPr>
          <p:cNvPr id="9" name="demo-caption-2">
            <a:extLst xmlns:a="http://schemas.openxmlformats.org/drawingml/2006/main">
              <a:ext uri="{FF2B5EF4-FFF2-40B4-BE49-F238E27FC236}">
                <a16:creationId xmlns:a16="http://schemas.microsoft.com/office/drawing/2014/main" id="{037FD925-2028-4CAD-95C4-17F28AEB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商品選択・飲酒ペース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e7ee756c94d82"/>
          <a:stretch xmlns:a="http://schemas.openxmlformats.org/drawingml/2006/main"/>
        </p:blipFill>
        <p:spPr>
          <a:xfrm xmlns:a="http://schemas.openxmlformats.org/drawingml/2006/main">
            <a:off x="6667500" y="2383036"/>
            <a:ext cx="4953000" cy="3482578"/>
          </a:xfrm>
          <a:prstGeom xmlns:a="http://schemas.openxmlformats.org/drawingml/2006/main" prst="rect">
            <a:avLst/>
          </a:prstGeom>
        </p:spPr>
      </p:pic>
      <p:sp>
        <p:nvSpPr>
          <p:cNvPr id="11" name="demo-caption-3">
            <a:extLst xmlns:a="http://schemas.openxmlformats.org/drawingml/2006/main">
              <a:ext uri="{FF2B5EF4-FFF2-40B4-BE49-F238E27FC236}">
                <a16:creationId xmlns:a16="http://schemas.microsoft.com/office/drawing/2014/main" id="{43A12F1D-6AB0-4819-A8DE-380B84D5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8097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注文履歴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fa24deee34892"/>
          <a:stretch xmlns:a="http://schemas.openxmlformats.org/drawingml/2006/main"/>
        </p:blipFill>
        <p:spPr>
          <a:xfrm xmlns:a="http://schemas.openxmlformats.org/drawingml/2006/main">
            <a:off x="12382500" y="2383036"/>
            <a:ext cx="4953000" cy="3482578"/>
          </a:xfrm>
          <a:prstGeom xmlns:a="http://schemas.openxmlformats.org/drawingml/2006/main" prst="rect">
            <a:avLst/>
          </a:prstGeom>
        </p:spPr>
      </p:pic>
      <p:sp>
        <p:nvSpPr>
          <p:cNvPr id="13" name="demo-flow">
            <a:extLst xmlns:a="http://schemas.openxmlformats.org/drawingml/2006/main">
              <a:ext uri="{FF2B5EF4-FFF2-40B4-BE49-F238E27FC236}">
                <a16:creationId xmlns:a16="http://schemas.microsoft.com/office/drawing/2014/main" id="{C62F982A-EC20-40F9-B8C1-508A437F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239000"/>
            <a:ext cx="1409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　→　商品選択・注文確定　→　履歴へ保存</a:t>
            </a:r>
          </a:p>
        </p:txBody>
      </p:sp>
    </p:spTree>
    <p:extLst>
      <p:ext uri="{BB962C8B-B14F-4D97-AF65-F5344CB8AC3E}">
        <p14:creationId xmlns:p14="http://schemas.microsoft.com/office/powerpoint/2010/main" val="16047726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85EAD273-DE2E-469C-8263-BD1CF49D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C542227E-BCF7-4FA5-B2ED-4D75F51C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B269B4DD-86F9-41E0-9A98-FAC4509D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00" cy="10287000"/>
          </a:xfrm>
          <a:custGeom xmlns:a="http://schemas.openxmlformats.org/drawingml/2006/main"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72a6e1ba3cb4a47"/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DE281218-CB59-4617-9D5E-93D15901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0238" y="1360284"/>
            <a:ext cx="9445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今後の展望</a:t>
            </a: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B9C483D6-576D-4776-B670-423F9310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499" y="2708824"/>
            <a:ext cx="425206" cy="425206"/>
          </a:xfrm>
          <a:custGeom xmlns:a="http://schemas.openxmlformats.org/drawingml/2006/main"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87b6283619e460a">
              <a:extLst>
                <a:ext uri="{96DAC541-7B7A-43D3-8B79-37D633B846F1}">
                  <asvg:svgBlip xmlns:asvg="http://schemas.microsoft.com/office/drawing/2016/SVG/main" r:embed="R71e32b99cb16417a"/>
                </a:ext>
              </a:extLst>
            </a:blip>
            <a:stretch>
              <a:fillRect l="-8888" t="0" r="-8888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8D32C9E2-0686-4AE8-B9AE-59DB4396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630" y="2680992"/>
            <a:ext cx="8524132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店舗向け機能の追加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58EDFC8-1A55-4BF1-9E23-815429D6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630" y="3227337"/>
            <a:ext cx="8524132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受注画面・会計連携・メニュー管理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9EF85AB0-3BD5-4081-9C04-70BCF381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499" y="4342505"/>
            <a:ext cx="425206" cy="425206"/>
          </a:xfrm>
          <a:custGeom xmlns:a="http://schemas.openxmlformats.org/drawingml/2006/main"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87b6283619e460a">
              <a:extLst>
                <a:ext uri="{96DAC541-7B7A-43D3-8B79-37D633B846F1}">
                  <asvg:svgBlip xmlns:asvg="http://schemas.microsoft.com/office/drawing/2016/SVG/main" r:embed="R71e32b99cb16417a"/>
                </a:ext>
              </a:extLst>
            </a:blip>
            <a:stretch>
              <a:fillRect l="-8888" t="0" r="-8888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6585CDCF-E7DF-4BDB-8F52-18A965A4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630" y="4314673"/>
            <a:ext cx="8524132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セキュリティ強化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D5B938FE-4516-4E8F-87D8-D789D0B4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630" y="4861027"/>
            <a:ext cx="8524132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利用者認証・Firebaseセキュリティルール</a:t>
            </a:r>
          </a:p>
        </p:txBody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A4B9A7FC-1240-482E-ABF2-58D0AB2F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499" y="5976195"/>
            <a:ext cx="425206" cy="425206"/>
          </a:xfrm>
          <a:custGeom xmlns:a="http://schemas.openxmlformats.org/drawingml/2006/main"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87b6283619e460a">
              <a:extLst>
                <a:ext uri="{96DAC541-7B7A-43D3-8B79-37D633B846F1}">
                  <asvg:svgBlip xmlns:asvg="http://schemas.microsoft.com/office/drawing/2016/SVG/main" r:embed="R71e32b99cb16417a"/>
                </a:ext>
              </a:extLst>
            </a:blip>
            <a:stretch>
              <a:fillRect l="-8888" t="0" r="-8888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B1ABAADF-B678-4A1E-ACC4-D238B96E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630" y="5948362"/>
            <a:ext cx="8524132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実店舗での検証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A99E1ACE-3E9D-4D13-8DCE-92209A3F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630" y="6494707"/>
            <a:ext cx="8524132" cy="5393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実際の操作性を確認し、UIを改善</a:t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8F8BB3CF-C331-4990-B956-DCDDA400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0238" y="7353005"/>
            <a:ext cx="38100" cy="1545145"/>
          </a:xfrm>
          <a:custGeom xmlns:a="http://schemas.openxmlformats.org/drawingml/2006/main">
            <a:rect l="l" t="t" r="r" b="b"/>
            <a:pathLst>
              <a:path w="50800" h="2060194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cubicBezTo>
                  <a:pt x="39370" y="0"/>
                  <a:pt x="50800" y="11430"/>
                  <a:pt x="50800" y="25400"/>
                </a:cubicBezTo>
                <a:lnTo>
                  <a:pt x="50800" y="2034794"/>
                </a:lnTo>
                <a:cubicBezTo>
                  <a:pt x="50800" y="2048764"/>
                  <a:pt x="39370" y="2060194"/>
                  <a:pt x="25400" y="2060194"/>
                </a:cubicBezTo>
                <a:cubicBezTo>
                  <a:pt x="11430" y="2060194"/>
                  <a:pt x="0" y="2048764"/>
                  <a:pt x="0" y="2034794"/>
                </a:cubicBezTo>
                <a:close/>
              </a:path>
            </a:pathLst>
          </a:custGeom>
          <a:solidFill xmlns:a="http://schemas.openxmlformats.org/drawingml/2006/main">
            <a:srgbClr val="22443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CE4A5412-BCC3-40CF-9D43-22BC5798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444" y="7586215"/>
            <a:ext cx="9020327" cy="87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SakeStopは、注文体験を邪魔せずに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、</a:t>
            </a:r>
          </a:p>
          <a:p xmlns:a="http://schemas.openxmlformats.org/drawingml/2006/main"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自分の飲酒ペースを振り返れるアプリです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。</a:t>
            </a:r>
          </a:p>
        </p:txBody>
      </p:sp>
      <p:sp>
        <p:nvSpPr>
          <p:cNvPr id="23" name="gamma-badge-cover">
            <a:extLst xmlns:a="http://schemas.openxmlformats.org/drawingml/2006/main">
              <a:ext uri="{FF2B5EF4-FFF2-40B4-BE49-F238E27FC236}">
                <a16:creationId xmlns:a16="http://schemas.microsoft.com/office/drawing/2014/main" id="{0837A109-41AB-4813-819F-8EFB7486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9601200"/>
            <a:ext cx="2305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E6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3672141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07EFD2DE-32BB-40E2-9994-561C063F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9F4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0D9904F8-0102-4B91-BF57-E98C6330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 xmlns:a="http://schemas.openxmlformats.org/drawingml/2006/main">
            <a:srgbClr val="FFFDE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8BDE3B26-7186-4F5E-B24A-5DA0CFF8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2117084"/>
            <a:ext cx="16303523" cy="9145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参考資料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23131802-B802-4C6F-A597-79CE017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38" y="3721294"/>
            <a:ext cx="7805890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公式ドキュメント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999283BB-4826-4A99-9EA9-8C60B4B4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19" y="4381024"/>
            <a:ext cx="7805928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Flutter公式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https://docs.flutter.dev/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Firebase Realtime Database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https://firebase.google.com/docs/database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Dart overview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https://dart.dev/overview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B5F18842-8621-4EE5-BB92-7D3ECD02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406" y="3721294"/>
            <a:ext cx="7805890" cy="461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授業参考リポジトリ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E41888E4-E065-4953-B53C-A6E65489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378" y="4381024"/>
            <a:ext cx="7805928" cy="3619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2024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github.com/ayasa06/flutter-mobile-app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2025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github.com/yotarokageyama/flutterMock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github.com/saitouruna/flutter_application_1</a:t>
            </a:r>
          </a:p>
          <a:p xmlns:a="http://schemas.openxmlformats.org/drawingml/2006/main">
            <a:pPr marL="530860" indent="-265430" algn="l">
              <a:lnSpc>
                <a:spcPts val="3511"/>
              </a:lnSpc>
              <a:buChar char="•"/>
              <a:defRPr sz="1500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500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github.com/usuiayaka/fluterMock</a:t>
            </a:r>
          </a:p>
        </p:txBody>
      </p:sp>
    </p:spTree>
    <p:extLst>
      <p:ext uri="{BB962C8B-B14F-4D97-AF65-F5344CB8AC3E}">
        <p14:creationId xmlns:p14="http://schemas.microsoft.com/office/powerpoint/2010/main" val="179713088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2026-07-14T03:42:20.3570000Z</dcterms:created>
  <dcterms:modified xsi:type="dcterms:W3CDTF">2026-07-14T03:42:20.3580000Z</dcterms:modified>
</coreProperties>
</file>