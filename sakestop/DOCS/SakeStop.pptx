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8288000" cy="10287000"/>
  <p:notesSz cx="6858000" cy="9144000"/>
  <p:embeddedFontLst>
    <p:embeddedFont>
      <p:font typeface="Yu Gothic" panose="020B0400000000000000" pitchFamily="50" charset="-128"/>
      <p:regular r:id="rId15"/>
      <p:bold r:id="rId16"/>
    </p:embeddedFont>
    <p:embeddedFont>
      <p:font typeface="Overpass Bold" panose="020B0600070205080204" charset="0"/>
      <p:regular r:id="rId17"/>
    </p:embeddedFont>
    <p:embeddedFont>
      <p:font typeface="Overpass Light" panose="020B0600070205080204" charset="0"/>
      <p:regular r:id="rId18"/>
    </p:embeddedFont>
    <p:embeddedFont>
      <p:font typeface="Syne Bold" panose="020B0600070205080204" charset="0"/>
      <p:regular r:id="rId19"/>
    </p:embeddedFont>
  </p:embeddedFont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7407" autoAdjust="0"/>
  </p:normalViewPr>
  <p:slideViewPr>
    <p:cSldViewPr snapToGrid="0">
      <p:cViewPr>
        <p:scale>
          <a:sx n="50" d="100"/>
          <a:sy n="50" d="100"/>
        </p:scale>
        <p:origin x="228" y="-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20秒】</a:t>
            </a:r>
          </a:p>
          <a:p>
            <a:r>
              <a:t>SakeStopについて発表します。</a:t>
            </a:r>
          </a:p>
          <a:p>
            <a:r>
              <a:t>居酒屋での注文操作と飲酒ペースの記録を一つにまとめたFlutterアプリです。</a:t>
            </a:r>
          </a:p>
          <a:p>
            <a:r>
              <a:t>目的、実装内容、テスト結果を説明した後、実機操作をお見せします。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このアプリは飲酒を強制的に止めるものではなく、自分のペースに気づくきっかけを作るものです。</a:t>
            </a:r>
          </a:p>
          <a:p>
            <a:r>
              <a:t>注文を禁止すると店舗では使いにくいため、通常の注文操作の中で純アルコール量と直近30分の量を確認できる形にしました。</a:t>
            </a:r>
          </a:p>
          <a:p>
            <a:r>
              <a:t>表示は医療的な判断ではなく、振り返りの目安です。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58498-BF57-F8B6-6635-73BBD6861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6CEE29-3A67-3285-F29C-2F068DD1D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618EA1-7A4F-7961-E627-93A14D9A4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【</a:t>
            </a:r>
            <a:r>
              <a:rPr lang="ja-JP" altLang="en-US" dirty="0"/>
              <a:t>目安 </a:t>
            </a:r>
            <a:r>
              <a:rPr lang="en-US" altLang="ja-JP" dirty="0"/>
              <a:t>40</a:t>
            </a:r>
            <a:r>
              <a:rPr lang="ja-JP" altLang="en-US" dirty="0"/>
              <a:t>秒</a:t>
            </a:r>
            <a:r>
              <a:rPr lang="en-US" altLang="ja-JP" dirty="0"/>
              <a:t>】</a:t>
            </a:r>
          </a:p>
          <a:p>
            <a:r>
              <a:rPr lang="ja-JP" altLang="en-US" dirty="0"/>
              <a:t>利用の流れは四つです。</a:t>
            </a:r>
          </a:p>
          <a:p>
            <a:r>
              <a:rPr lang="ja-JP" altLang="en-US" dirty="0"/>
              <a:t>テーブル</a:t>
            </a:r>
            <a:r>
              <a:rPr lang="en-US" altLang="ja-JP" dirty="0"/>
              <a:t>ID</a:t>
            </a:r>
            <a:r>
              <a:rPr lang="ja-JP" altLang="en-US" dirty="0"/>
              <a:t>とニックネームで開始し、商品を選び、カートで注文を確定します。</a:t>
            </a:r>
          </a:p>
          <a:p>
            <a:r>
              <a:rPr lang="ja-JP" altLang="en-US" dirty="0"/>
              <a:t>確定した注文は</a:t>
            </a:r>
            <a:r>
              <a:rPr lang="en-US" altLang="ja-JP" dirty="0"/>
              <a:t>Firebase</a:t>
            </a:r>
            <a:r>
              <a:rPr lang="ja-JP" altLang="en-US" dirty="0"/>
              <a:t>へ保存され、注文履歴と飲酒量へ反映されます。</a:t>
            </a:r>
          </a:p>
          <a:p>
            <a:r>
              <a:rPr lang="ja-JP" altLang="en-US" dirty="0"/>
              <a:t>注文と記録が一つの流れで完結する点が特徴です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BEFCE-BDD5-9E3B-D297-97A9B1E27AE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3131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目安</a:t>
            </a:r>
            <a:r>
              <a:rPr dirty="0"/>
              <a:t> 40秒】</a:t>
            </a:r>
          </a:p>
          <a:p>
            <a:r>
              <a:rPr dirty="0" err="1"/>
              <a:t>利用の流れは四つです</a:t>
            </a:r>
            <a:r>
              <a:rPr dirty="0"/>
              <a:t>。</a:t>
            </a:r>
          </a:p>
          <a:p>
            <a:r>
              <a:rPr dirty="0" err="1"/>
              <a:t>テーブルIDとニックネームで開始し、商品を選び、カートで注文を確定します</a:t>
            </a:r>
            <a:r>
              <a:rPr dirty="0"/>
              <a:t>。</a:t>
            </a:r>
          </a:p>
          <a:p>
            <a:r>
              <a:rPr dirty="0" err="1"/>
              <a:t>確定した注文はFirebaseへ保存され、注文履歴と飲酒量へ反映されます</a:t>
            </a:r>
            <a:r>
              <a:rPr dirty="0"/>
              <a:t>。</a:t>
            </a:r>
          </a:p>
          <a:p>
            <a:r>
              <a:rPr dirty="0" err="1"/>
              <a:t>注文と記録が一つの流れで完結する点が特徴です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50秒】</a:t>
            </a:r>
          </a:p>
          <a:p>
            <a:r>
              <a:t>当初は飲んだ杯数を自分で入力するタップカウント型でした。</a:t>
            </a:r>
          </a:p>
          <a:p>
            <a:r>
              <a:t>しかし毎回アプリを開く必要があり、入力忘れが起きやすいと考えました。</a:t>
            </a:r>
          </a:p>
          <a:p>
            <a:r>
              <a:t>そこで5月に方向転換し、注文確定をそのまま記録として使う方式に変更しました。</a:t>
            </a:r>
          </a:p>
          <a:p>
            <a:r>
              <a:t>追加の記録操作が不要なので、実際の利用場面に合いやすくなりました。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ja-JP" dirty="0"/>
              <a:t>主に実装した機能は3つあります。</a:t>
            </a:r>
            <a:br>
              <a:rPr lang="ja-JP" altLang="ja-JP" dirty="0"/>
            </a:br>
            <a:r>
              <a:rPr lang="ja-JP" altLang="ja-JP" dirty="0"/>
              <a:t>1つ目は注文機能で、商品の追加や数量変更、削除、注文確定ができます。</a:t>
            </a:r>
            <a:br>
              <a:rPr lang="ja-JP" altLang="ja-JP" dirty="0"/>
            </a:br>
            <a:r>
              <a:rPr lang="ja-JP" altLang="ja-JP" dirty="0"/>
              <a:t>2つ目はデータベース保存で、確定した注文内容をFirebaseへリアルタイムに保存します。</a:t>
            </a:r>
            <a:br>
              <a:rPr lang="ja-JP" altLang="ja-JP" dirty="0"/>
            </a:br>
            <a:r>
              <a:rPr lang="ja-JP" altLang="ja-JP" dirty="0"/>
              <a:t>3つ目はペース記録通知で、注文履歴から飲酒ペースを記録し、飲み過ぎを防ぐための通知を行います。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40秒】</a:t>
            </a:r>
          </a:p>
          <a:p>
            <a:r>
              <a:t>純アルコール量は、容量かける度数かける0.8、割る100で計算します。</a:t>
            </a:r>
          </a:p>
          <a:p>
            <a:r>
              <a:t>500ミリリットル、5パーセントのビールでは20グラムです。</a:t>
            </a:r>
          </a:p>
          <a:p>
            <a:r>
              <a:t>商品ごとに容量と度数を持たせ、結果を履歴と飲酒ペース表示に使っています。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45秒】</a:t>
            </a:r>
          </a:p>
          <a:p>
            <a:r>
              <a:t>直近30分の純アルコール量が60グラム以上になると注意を表示します。</a:t>
            </a:r>
          </a:p>
          <a:p>
            <a:r>
              <a:t>同じ注意が続かないよう、通知後30分の間隔も設定しました。</a:t>
            </a:r>
          </a:p>
          <a:p>
            <a:r>
              <a:t>これは安全性や飲酒可否を判断する機能ではなく、自分のペースを振り返るための目安です。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45秒】</a:t>
            </a:r>
          </a:p>
          <a:p>
            <a:r>
              <a:t>開発環境はFlutter 3.35.7、Dart 3.9.2で、Firebase Realtime DatabaseとGitを使いました。</a:t>
            </a:r>
          </a:p>
          <a:p>
            <a:r>
              <a:t>5月に仕様を見直し、6月にFirebase、カート、履歴、ペース判定を実装しました。</a:t>
            </a:r>
          </a:p>
          <a:p>
            <a:r>
              <a:t>7月はUI調整と不要機能の削除を行い、変更過程をコミット履歴へ残しました。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55秒】</a:t>
            </a:r>
          </a:p>
          <a:p>
            <a:r>
              <a:t>静的解析、単体テスト、Widgetテストを実施し、現在11件すべて成功しています。</a:t>
            </a:r>
          </a:p>
          <a:p>
            <a:r>
              <a:t>計算、30分集計、60グラムの境界、通知間隔、テーブルID検証、画面遷移を確認しました。</a:t>
            </a:r>
          </a:p>
          <a:p>
            <a:r>
              <a:t>AIはFirebaseの非同期処理、集計処理、エラー調査、仕様書と発表メモの文章整理に使い、最終的な内容と動作は自分で確認しました。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90秒／実機操作】</a:t>
            </a:r>
          </a:p>
          <a:p>
            <a:r>
              <a:t>1. テーブルID「T01」で開始し、入力規則を説明します。</a:t>
            </a:r>
          </a:p>
          <a:p>
            <a:r>
              <a:t>2. ニックネームを入力します。空欄はゲストになります。</a:t>
            </a:r>
          </a:p>
          <a:p>
            <a:r>
              <a:t>3. 生ビールと料理をカートへ追加します。</a:t>
            </a:r>
          </a:p>
          <a:p>
            <a:r>
              <a:t>4. 数量変更を示して注文を確定します。ここでFirebaseへ保存されます。</a:t>
            </a:r>
          </a:p>
          <a:p>
            <a:r>
              <a:t>5. 注文履歴を開き、商品名、時刻、純アルコール量を確認します。</a:t>
            </a:r>
          </a:p>
          <a:p>
            <a:r>
              <a:t>時間があればビール3杯分で60グラム以上の注意表示を示します。</a:t>
            </a:r>
          </a:p>
          <a:p>
            <a:r>
              <a:t>通信に失敗した場合は、このページの3画面を使って同じ流れを説明します。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【目安 35秒】</a:t>
            </a:r>
          </a:p>
          <a:p>
            <a:r>
              <a:t>SakeStopでは、テーブル登録から商品選択、注文確定、履歴保存までの流れを一つのアプリにまとめました。</a:t>
            </a:r>
          </a:p>
          <a:p>
            <a:r>
              <a:t>注文時に純アルコール量を計算し、直近30分の合計を表示することで、自分の飲酒ペースを振り返れるようにしました。</a:t>
            </a:r>
          </a:p>
          <a:p>
            <a:r>
              <a:t>FlutterとFirebaseを使い、実装・テスト・資料作成まで完成させました。</a:t>
            </a:r>
          </a:p>
          <a:p>
            <a:r>
              <a:t>以上で発表を終わります。ありがとうございました。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68C29-C276-4DB6-B83E-8D4FEC91E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6B67A0-9C4A-4551-973F-25D82059D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18C67-BF08-4968-87CC-C5B0B218FD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6F0B0-335B-4E2A-B76F-BBCB5A63C22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D65AB-BCF5-49C9-88F4-F12791C12C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9EAE2-EF41-4ABD-9C69-DBCBFAC88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74D3-3E01-465D-A071-2CD0992D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EB537-33DB-4F34-9403-D2CBD52A49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013E9-322F-40EC-B4A6-220A0D9776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3BC11-586E-42FE-9252-679F0A247C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EF588-E59A-49E8-AF20-C74CA611A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07C56-9610-4211-813A-8CC793611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826BA-9B51-4A5B-BC00-E447FC5F2DC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52003-F6E4-4F33-8F52-85D8821AF3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C663B-507C-4401-9767-C1D40D1E58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A1717-7D60-4D8A-A96E-DA13031B6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E287F-AD5F-4D26-A2F5-0AEB39DA9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DD2310-7DBA-43AA-AEE4-A1326059D648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3F609B-E296-46D3-A822-F011D2C7D81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83FDD-654D-415D-8F67-1CB7D5DE4B6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1D460-7158-44B6-B8F6-E62C614AA8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EE16B-A237-4E7F-AC57-236B17C2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0E8A7-90CD-4140-A2A1-C49712C6B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84143C-F0B0-42A3-993A-51DAD8B1DBC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08A66-586A-4361-805E-FA6727F4369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3CC53F-DFB2-4B01-A694-03BC85FE295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2F8F6A-06AD-49D5-96DD-C89D408CD5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D205FB-3A0B-46D9-A9D1-AE8DC22569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41F4B1-4AFA-4E64-90D8-5DF21F1BE9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1ADEB-BAED-4911-BB7B-A12B8532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05DAC-2F88-4741-9597-94D140F0B4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D4982B-20E5-42A1-B397-6AA989996DF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9B44D-4763-4B96-9257-F8BDE193E4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6599A0-4C4F-4D22-9554-8CD992CB00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93D3A3-F711-43AB-AADC-CCC9C3C907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765E8-4180-4012-A6F4-F67F6B7DF8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B3D1-991C-416F-917D-E70408B4D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65201-07A1-43B4-8A77-6EA582CA1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3390C-69C4-41B0-9136-401E721167D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B18CF-83AD-40CC-82C4-6B87AC128D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78B97E-8877-47BA-A1F9-7CA80FB339E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9DE474-F460-43C1-94C7-A17547C7D9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CA0D1-513B-45A1-96BC-FCA6122AF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867D5D-9EF6-4F30-BA05-20670F0A6E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032F2C-4A2B-4A15-94CE-E74E968ED8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75BDEF-641C-4B7A-A5E9-1497C9A4181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502-E2E5-4A1B-9B15-EEED5E2436D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0034F5-966D-40BC-B784-FA09E6EA08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9BA31-19C9-4805-898F-63A7D0BE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0FC478-D52A-4F73-90F0-46A910779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CEAB3-F976-4317-9C33-3C72183EBA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66739-4B95-4A57-989F-A73733F85A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4E71D-EE7A-413E-9BC3-B4BA763F51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F37FF9-5C62-47DB-906F-860C4AF3C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3CDD55-AF52-4F56-B9EF-97917BA0F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45DAE-1FE2-4860-A595-83E1BCDCCDA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1DE04-7444-49B8-A86E-3E3EA5F799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209C3-BBC8-452E-96E5-3AF849188F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B46436-3BFF-4C01-80CC-2931DA72E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C9566-FCC6-4227-B701-B66AFA33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59B1B-54D4-46B3-8E59-312B6B2AA96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t>2026/7/15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F217B-5F81-47E3-8F9B-3C4BC35A4D9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EA99D-E7AE-4A43-9247-99B8DDDC9F6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58E2AB53-0560-42B7-B9CC-6314D2DD2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CC0063B-079E-4EB7-B0E4-0C0F03A7B2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5F40831B-3D1E-470B-8D10-21B67DEF4412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CF020D6-4CAC-4FE0-A629-639B78BC928A}"/>
              </a:ext>
            </a:extLst>
          </p:cNvPr>
          <p:cNvSpPr>
            <a:spLocks noGrp="1"/>
          </p:cNvSpPr>
          <p:nvPr/>
        </p:nvSpPr>
        <p:spPr>
          <a:xfrm>
            <a:off x="992238" y="4005710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SakeStop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274696D-BD78-4A6A-B6D0-346803FE209A}"/>
              </a:ext>
            </a:extLst>
          </p:cNvPr>
          <p:cNvSpPr>
            <a:spLocks noGrp="1"/>
          </p:cNvSpPr>
          <p:nvPr/>
        </p:nvSpPr>
        <p:spPr>
          <a:xfrm>
            <a:off x="992238" y="5259734"/>
            <a:ext cx="9445523" cy="42126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居酒屋の注文と飲酒ペースを記録</a:t>
            </a:r>
            <a:endParaRPr sz="2200" dirty="0">
              <a:solidFill>
                <a:srgbClr val="3B4E4E"/>
              </a:solidFill>
              <a:latin typeface="Overpass Light"/>
              <a:ea typeface="Overpass Light"/>
              <a:cs typeface="Overpas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117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DA0FB0A-E389-42E9-95A4-D910700FED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6D4717E-A514-4710-88F6-3E823AD38F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88D03FF9-5DE5-4167-AA48-F2327521468F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2" r="-6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EA1415BC-0C49-4AFE-8B9A-E5478A506078}"/>
              </a:ext>
            </a:extLst>
          </p:cNvPr>
          <p:cNvSpPr>
            <a:spLocks noGrp="1"/>
          </p:cNvSpPr>
          <p:nvPr/>
        </p:nvSpPr>
        <p:spPr>
          <a:xfrm>
            <a:off x="987476" y="4527794"/>
            <a:ext cx="9455086" cy="3314985"/>
          </a:xfrm>
          <a:custGeom>
            <a:avLst/>
            <a:gdLst/>
            <a:ahLst/>
            <a:cxnLst/>
            <a:rect l="l" t="t" r="r" b="b"/>
            <a:pathLst>
              <a:path w="12606782" h="4419981">
                <a:moveTo>
                  <a:pt x="0" y="159258"/>
                </a:moveTo>
                <a:cubicBezTo>
                  <a:pt x="0" y="71247"/>
                  <a:pt x="71247" y="0"/>
                  <a:pt x="159258" y="0"/>
                </a:cubicBezTo>
                <a:lnTo>
                  <a:pt x="12447524" y="0"/>
                </a:lnTo>
                <a:cubicBezTo>
                  <a:pt x="12535535" y="0"/>
                  <a:pt x="12606782" y="71247"/>
                  <a:pt x="12606782" y="159258"/>
                </a:cubicBezTo>
                <a:lnTo>
                  <a:pt x="12606782" y="4260723"/>
                </a:lnTo>
                <a:cubicBezTo>
                  <a:pt x="12606782" y="4348734"/>
                  <a:pt x="12535535" y="4419981"/>
                  <a:pt x="12447524" y="4419981"/>
                </a:cubicBezTo>
                <a:lnTo>
                  <a:pt x="159258" y="4419981"/>
                </a:lnTo>
                <a:cubicBezTo>
                  <a:pt x="71247" y="4419981"/>
                  <a:pt x="0" y="4348734"/>
                  <a:pt x="0" y="4260723"/>
                </a:cubicBezTo>
                <a:close/>
              </a:path>
            </a:pathLst>
          </a:custGeom>
          <a:solidFill>
            <a:srgbClr val="DDEEE6"/>
          </a:solidFill>
          <a:ln w="9526">
            <a:solidFill>
              <a:srgbClr val="C3D4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ED100BD9-1FAB-4953-BB0F-099B2C1356FA}"/>
              </a:ext>
            </a:extLst>
          </p:cNvPr>
          <p:cNvSpPr>
            <a:spLocks noGrp="1"/>
          </p:cNvSpPr>
          <p:nvPr/>
        </p:nvSpPr>
        <p:spPr>
          <a:xfrm>
            <a:off x="1001763" y="4542082"/>
            <a:ext cx="9426511" cy="1643253"/>
          </a:xfrm>
          <a:custGeom>
            <a:avLst/>
            <a:gdLst/>
            <a:ahLst/>
            <a:cxnLst/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76CF3778-337A-4018-A5B3-7E21D904AC35}"/>
              </a:ext>
            </a:extLst>
          </p:cNvPr>
          <p:cNvSpPr>
            <a:spLocks noGrp="1"/>
          </p:cNvSpPr>
          <p:nvPr/>
        </p:nvSpPr>
        <p:spPr>
          <a:xfrm>
            <a:off x="1001763" y="6185297"/>
            <a:ext cx="9426511" cy="1643253"/>
          </a:xfrm>
          <a:custGeom>
            <a:avLst/>
            <a:gdLst/>
            <a:ahLst/>
            <a:cxnLst/>
            <a:rect l="l" t="t" r="r" b="b"/>
            <a:pathLst>
              <a:path w="12568682" h="2191004">
                <a:moveTo>
                  <a:pt x="0" y="0"/>
                </a:moveTo>
                <a:lnTo>
                  <a:pt x="12568682" y="0"/>
                </a:lnTo>
                <a:lnTo>
                  <a:pt x="12568682" y="2191004"/>
                </a:lnTo>
                <a:lnTo>
                  <a:pt x="0" y="2191004"/>
                </a:ln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85ECDDEB-1B86-429A-A48D-3793663134FF}"/>
              </a:ext>
            </a:extLst>
          </p:cNvPr>
          <p:cNvSpPr>
            <a:spLocks noGrp="1"/>
          </p:cNvSpPr>
          <p:nvPr/>
        </p:nvSpPr>
        <p:spPr>
          <a:xfrm>
            <a:off x="1001763" y="6185297"/>
            <a:ext cx="9426511" cy="38100"/>
          </a:xfrm>
          <a:custGeom>
            <a:avLst/>
            <a:gdLst/>
            <a:ahLst/>
            <a:cxnLst/>
            <a:rect l="l" t="t" r="r" b="b"/>
            <a:pathLst>
              <a:path w="12568682" h="50800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lnTo>
                  <a:pt x="12543282" y="0"/>
                </a:lnTo>
                <a:cubicBezTo>
                  <a:pt x="12557251" y="0"/>
                  <a:pt x="12568682" y="11430"/>
                  <a:pt x="12568682" y="25400"/>
                </a:cubicBezTo>
                <a:cubicBezTo>
                  <a:pt x="12568682" y="39370"/>
                  <a:pt x="12557251" y="50800"/>
                  <a:pt x="12543282" y="50800"/>
                </a:cubicBezTo>
                <a:lnTo>
                  <a:pt x="25400" y="50800"/>
                </a:lnTo>
                <a:cubicBezTo>
                  <a:pt x="11430" y="50800"/>
                  <a:pt x="0" y="39370"/>
                  <a:pt x="0" y="25400"/>
                </a:cubicBezTo>
                <a:close/>
              </a:path>
            </a:pathLst>
          </a:custGeom>
          <a:solidFill>
            <a:srgbClr val="C3D4CC"/>
          </a:solidFill>
        </p:spPr>
        <p:txBody>
          <a:bodyPr/>
          <a:lstStyle/>
          <a:p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688FE79-FF58-40B1-967A-025F78B22DCD}"/>
              </a:ext>
            </a:extLst>
          </p:cNvPr>
          <p:cNvSpPr>
            <a:spLocks noGrp="1"/>
          </p:cNvSpPr>
          <p:nvPr/>
        </p:nvSpPr>
        <p:spPr>
          <a:xfrm>
            <a:off x="992238" y="2420245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アプリの目的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6B6A3A4-1531-4835-B71D-9DD11B1A2D11}"/>
              </a:ext>
            </a:extLst>
          </p:cNvPr>
          <p:cNvSpPr>
            <a:spLocks noGrp="1"/>
          </p:cNvSpPr>
          <p:nvPr/>
        </p:nvSpPr>
        <p:spPr>
          <a:xfrm>
            <a:off x="992238" y="3674269"/>
            <a:ext cx="10359923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</a:t>
            </a:r>
            <a:r>
              <a:rPr sz="2200" b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強制的に止める</a:t>
            </a: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アプリではありません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50B5CE4-309B-4BAB-9871-B1996538D280}"/>
              </a:ext>
            </a:extLst>
          </p:cNvPr>
          <p:cNvSpPr>
            <a:spLocks noGrp="1"/>
          </p:cNvSpPr>
          <p:nvPr/>
        </p:nvSpPr>
        <p:spPr>
          <a:xfrm>
            <a:off x="1285284" y="4806553"/>
            <a:ext cx="8859441" cy="4714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❌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強制ストップ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B05BE07B-12E1-4E93-A68D-76A76582EFB5}"/>
              </a:ext>
            </a:extLst>
          </p:cNvPr>
          <p:cNvSpPr>
            <a:spLocks noGrp="1"/>
          </p:cNvSpPr>
          <p:nvPr/>
        </p:nvSpPr>
        <p:spPr>
          <a:xfrm>
            <a:off x="1285284" y="5362423"/>
            <a:ext cx="885944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飲酒を制限する機能はありません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095EE85-FF58-4825-85A4-FF523EF2A699}"/>
              </a:ext>
            </a:extLst>
          </p:cNvPr>
          <p:cNvSpPr>
            <a:spLocks noGrp="1"/>
          </p:cNvSpPr>
          <p:nvPr/>
        </p:nvSpPr>
        <p:spPr>
          <a:xfrm>
            <a:off x="1285284" y="6449768"/>
            <a:ext cx="8859441" cy="4714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000000"/>
                </a:solidFill>
                <a:latin typeface="Syne Bold"/>
                <a:ea typeface="Syne Bold"/>
                <a:cs typeface="Syne Bold"/>
              </a:rPr>
              <a:t>✅</a:t>
            </a: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 気づきを促す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6E04541-2F11-4CED-A691-5C7F181F2079}"/>
              </a:ext>
            </a:extLst>
          </p:cNvPr>
          <p:cNvSpPr>
            <a:spLocks noGrp="1"/>
          </p:cNvSpPr>
          <p:nvPr/>
        </p:nvSpPr>
        <p:spPr>
          <a:xfrm>
            <a:off x="1285284" y="7005637"/>
            <a:ext cx="885944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注文のついでに、自分の飲酒ペースを確認できます</a:t>
            </a:r>
          </a:p>
        </p:txBody>
      </p:sp>
    </p:spTree>
    <p:extLst>
      <p:ext uri="{BB962C8B-B14F-4D97-AF65-F5344CB8AC3E}">
        <p14:creationId xmlns:p14="http://schemas.microsoft.com/office/powerpoint/2010/main" val="1246569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589F0-62E8-9ADB-06C3-7CABE4625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20FDE7B8-8A60-76AE-6824-CFB03A6EDF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2D1B578-C73E-6730-EEAF-E48C4E8DE0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5C97F-225E-179A-B9E2-6AE0FD78CBA7}"/>
              </a:ext>
            </a:extLst>
          </p:cNvPr>
          <p:cNvSpPr>
            <a:spLocks noGrp="1"/>
          </p:cNvSpPr>
          <p:nvPr/>
        </p:nvSpPr>
        <p:spPr>
          <a:xfrm>
            <a:off x="992238" y="1686220"/>
            <a:ext cx="16303523" cy="85760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lang="ja-JP" altLang="en-US" sz="5500" b="1" dirty="0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利用フロー</a:t>
            </a:r>
            <a:endParaRPr sz="5500" b="1" dirty="0">
              <a:solidFill>
                <a:srgbClr val="233939"/>
              </a:solidFill>
              <a:latin typeface="Syne Bold"/>
              <a:ea typeface="Syne Bold"/>
              <a:cs typeface="Syne Bold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47F82510-2B76-E0B2-E04D-7D5DC7575544}"/>
              </a:ext>
            </a:extLst>
          </p:cNvPr>
          <p:cNvSpPr>
            <a:spLocks noGrp="1"/>
          </p:cNvSpPr>
          <p:nvPr/>
        </p:nvSpPr>
        <p:spPr>
          <a:xfrm>
            <a:off x="992238" y="3167805"/>
            <a:ext cx="8009934" cy="2560444"/>
          </a:xfrm>
          <a:custGeom>
            <a:avLst/>
            <a:gdLst/>
            <a:ahLst/>
            <a:cxnLst/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1BBD9EE7-9C1C-4F8C-C57C-584F283DE69A}"/>
              </a:ext>
            </a:extLst>
          </p:cNvPr>
          <p:cNvSpPr>
            <a:spLocks noGrp="1"/>
          </p:cNvSpPr>
          <p:nvPr/>
        </p:nvSpPr>
        <p:spPr>
          <a:xfrm>
            <a:off x="4784522" y="3360544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C08FD4F-B19E-0B93-C24B-11B9DC58F380}"/>
              </a:ext>
            </a:extLst>
          </p:cNvPr>
          <p:cNvSpPr>
            <a:spLocks noGrp="1"/>
          </p:cNvSpPr>
          <p:nvPr/>
        </p:nvSpPr>
        <p:spPr>
          <a:xfrm>
            <a:off x="4784522" y="3360544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9ED20C7-5CF7-15F7-EB0C-665D0790E2CD}"/>
              </a:ext>
            </a:extLst>
          </p:cNvPr>
          <p:cNvSpPr>
            <a:spLocks noGrp="1"/>
          </p:cNvSpPr>
          <p:nvPr/>
        </p:nvSpPr>
        <p:spPr>
          <a:xfrm>
            <a:off x="1313850" y="4320931"/>
            <a:ext cx="736669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セッション開始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76FDFDF-979B-F217-26D7-A44CA5D9C735}"/>
              </a:ext>
            </a:extLst>
          </p:cNvPr>
          <p:cNvSpPr>
            <a:spLocks noGrp="1"/>
          </p:cNvSpPr>
          <p:nvPr/>
        </p:nvSpPr>
        <p:spPr>
          <a:xfrm>
            <a:off x="1313850" y="4867275"/>
            <a:ext cx="736669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テーブルIDとニックネームで入室</a:t>
            </a:r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551D8E8D-F8CA-D11F-BE07-51269229E2F1}"/>
              </a:ext>
            </a:extLst>
          </p:cNvPr>
          <p:cNvSpPr>
            <a:spLocks noGrp="1"/>
          </p:cNvSpPr>
          <p:nvPr/>
        </p:nvSpPr>
        <p:spPr>
          <a:xfrm>
            <a:off x="9285684" y="3167805"/>
            <a:ext cx="8010077" cy="2560444"/>
          </a:xfrm>
          <a:custGeom>
            <a:avLst/>
            <a:gdLst/>
            <a:ahLst/>
            <a:cxnLst/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7FE27D9E-1256-37ED-3D33-2DE00E5166D2}"/>
              </a:ext>
            </a:extLst>
          </p:cNvPr>
          <p:cNvSpPr>
            <a:spLocks noGrp="1"/>
          </p:cNvSpPr>
          <p:nvPr/>
        </p:nvSpPr>
        <p:spPr>
          <a:xfrm>
            <a:off x="13078120" y="3360544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3D04B10-35BF-442A-92CF-B5986020B176}"/>
              </a:ext>
            </a:extLst>
          </p:cNvPr>
          <p:cNvSpPr>
            <a:spLocks noGrp="1"/>
          </p:cNvSpPr>
          <p:nvPr/>
        </p:nvSpPr>
        <p:spPr>
          <a:xfrm>
            <a:off x="13078120" y="3360544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2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BB43B77-889D-CB92-76DC-6DB047B45FED}"/>
              </a:ext>
            </a:extLst>
          </p:cNvPr>
          <p:cNvSpPr>
            <a:spLocks noGrp="1"/>
          </p:cNvSpPr>
          <p:nvPr/>
        </p:nvSpPr>
        <p:spPr>
          <a:xfrm>
            <a:off x="9607306" y="4320931"/>
            <a:ext cx="7366845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メニュー＆カート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3EEE133-7764-216D-4E5A-0575513CEBBA}"/>
              </a:ext>
            </a:extLst>
          </p:cNvPr>
          <p:cNvSpPr>
            <a:spLocks noGrp="1"/>
          </p:cNvSpPr>
          <p:nvPr/>
        </p:nvSpPr>
        <p:spPr>
          <a:xfrm>
            <a:off x="9607306" y="4867275"/>
            <a:ext cx="7366845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商品追加・数量変更・削除・注文確定</a:t>
            </a:r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B9A5E855-9B9D-4518-1677-BEFDD0F39372}"/>
              </a:ext>
            </a:extLst>
          </p:cNvPr>
          <p:cNvSpPr>
            <a:spLocks noGrp="1"/>
          </p:cNvSpPr>
          <p:nvPr/>
        </p:nvSpPr>
        <p:spPr>
          <a:xfrm>
            <a:off x="992238" y="6011761"/>
            <a:ext cx="8009934" cy="2560444"/>
          </a:xfrm>
          <a:custGeom>
            <a:avLst/>
            <a:gdLst/>
            <a:ahLst/>
            <a:cxnLst/>
            <a:rect l="l" t="t" r="r" b="b"/>
            <a:pathLst>
              <a:path w="8009934" h="2560444">
                <a:moveTo>
                  <a:pt x="0" y="0"/>
                </a:moveTo>
                <a:lnTo>
                  <a:pt x="8009935" y="0"/>
                </a:lnTo>
                <a:lnTo>
                  <a:pt x="8009935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A4242ACA-3957-05C2-5ACA-24043B9DF25D}"/>
              </a:ext>
            </a:extLst>
          </p:cNvPr>
          <p:cNvSpPr>
            <a:spLocks noGrp="1"/>
          </p:cNvSpPr>
          <p:nvPr/>
        </p:nvSpPr>
        <p:spPr>
          <a:xfrm>
            <a:off x="4784522" y="6204499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493FC1D-23F4-A8FC-F03E-8080D75E17DF}"/>
              </a:ext>
            </a:extLst>
          </p:cNvPr>
          <p:cNvSpPr>
            <a:spLocks noGrp="1"/>
          </p:cNvSpPr>
          <p:nvPr/>
        </p:nvSpPr>
        <p:spPr>
          <a:xfrm>
            <a:off x="4784522" y="6204499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3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9A22AF57-0E02-B038-FCBC-52638A2A7E5C}"/>
              </a:ext>
            </a:extLst>
          </p:cNvPr>
          <p:cNvSpPr>
            <a:spLocks noGrp="1"/>
          </p:cNvSpPr>
          <p:nvPr/>
        </p:nvSpPr>
        <p:spPr>
          <a:xfrm>
            <a:off x="1313850" y="7164886"/>
            <a:ext cx="736669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Firebase履歴保存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C465754-871D-F3E6-D0E9-E1EE65838F19}"/>
              </a:ext>
            </a:extLst>
          </p:cNvPr>
          <p:cNvSpPr>
            <a:spLocks noGrp="1"/>
          </p:cNvSpPr>
          <p:nvPr/>
        </p:nvSpPr>
        <p:spPr>
          <a:xfrm>
            <a:off x="1313850" y="7711230"/>
            <a:ext cx="736669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注文確定でリアルタイムDBへ保存・反映</a:t>
            </a:r>
          </a:p>
        </p:txBody>
      </p:sp>
      <p:sp>
        <p:nvSpPr>
          <p:cNvPr id="25" name="Freeform 25">
            <a:extLst>
              <a:ext uri="{FF2B5EF4-FFF2-40B4-BE49-F238E27FC236}">
                <a16:creationId xmlns:a16="http://schemas.microsoft.com/office/drawing/2014/main" id="{D8F9C466-C090-B03D-3559-6A28865F9AF8}"/>
              </a:ext>
            </a:extLst>
          </p:cNvPr>
          <p:cNvSpPr>
            <a:spLocks noGrp="1"/>
          </p:cNvSpPr>
          <p:nvPr/>
        </p:nvSpPr>
        <p:spPr>
          <a:xfrm>
            <a:off x="9285684" y="6011761"/>
            <a:ext cx="8010077" cy="2560444"/>
          </a:xfrm>
          <a:custGeom>
            <a:avLst/>
            <a:gdLst/>
            <a:ahLst/>
            <a:cxnLst/>
            <a:rect l="l" t="t" r="r" b="b"/>
            <a:pathLst>
              <a:path w="8010077" h="2560444">
                <a:moveTo>
                  <a:pt x="0" y="0"/>
                </a:moveTo>
                <a:lnTo>
                  <a:pt x="8010078" y="0"/>
                </a:lnTo>
                <a:lnTo>
                  <a:pt x="8010078" y="2560444"/>
                </a:lnTo>
                <a:lnTo>
                  <a:pt x="0" y="2560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675BEF01-01BA-B59F-2ECC-172AE549AB8F}"/>
              </a:ext>
            </a:extLst>
          </p:cNvPr>
          <p:cNvSpPr>
            <a:spLocks noGrp="1"/>
          </p:cNvSpPr>
          <p:nvPr/>
        </p:nvSpPr>
        <p:spPr>
          <a:xfrm>
            <a:off x="13078120" y="6204499"/>
            <a:ext cx="425202" cy="531614"/>
          </a:xfrm>
          <a:custGeom>
            <a:avLst/>
            <a:gdLst/>
            <a:ahLst/>
            <a:cxnLst/>
            <a:rect l="l" t="t" r="r" b="b"/>
            <a:pathLst>
              <a:path w="566936" h="708819">
                <a:moveTo>
                  <a:pt x="0" y="0"/>
                </a:moveTo>
                <a:lnTo>
                  <a:pt x="566936" y="0"/>
                </a:lnTo>
                <a:lnTo>
                  <a:pt x="566936" y="708819"/>
                </a:lnTo>
                <a:lnTo>
                  <a:pt x="0" y="708819"/>
                </a:lnTo>
                <a:close/>
              </a:path>
            </a:pathLst>
          </a:custGeom>
          <a:blipFill>
            <a:blip r:embed="rId4">
              <a:alphaModFix amt="0"/>
            </a:blip>
            <a:stretch>
              <a:fillRect l="-110411" r="-11041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682AD33C-9D94-B62F-EB8B-8C063298C9F7}"/>
              </a:ext>
            </a:extLst>
          </p:cNvPr>
          <p:cNvSpPr>
            <a:spLocks noGrp="1"/>
          </p:cNvSpPr>
          <p:nvPr/>
        </p:nvSpPr>
        <p:spPr>
          <a:xfrm>
            <a:off x="13078120" y="6204499"/>
            <a:ext cx="425206" cy="531609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lnSpc>
                <a:spcPts val="3960"/>
              </a:lnSpc>
              <a:buNone/>
            </a:pPr>
            <a:r>
              <a:rPr sz="3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4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1E427EFB-69C0-2EEA-C15F-9888C86D7F5C}"/>
              </a:ext>
            </a:extLst>
          </p:cNvPr>
          <p:cNvSpPr>
            <a:spLocks noGrp="1"/>
          </p:cNvSpPr>
          <p:nvPr/>
        </p:nvSpPr>
        <p:spPr>
          <a:xfrm>
            <a:off x="9607306" y="7164886"/>
            <a:ext cx="7366845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飲酒ペース表示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E01DCBB3-21FA-AA41-2A34-B53F50E392A5}"/>
              </a:ext>
            </a:extLst>
          </p:cNvPr>
          <p:cNvSpPr>
            <a:spLocks noGrp="1"/>
          </p:cNvSpPr>
          <p:nvPr/>
        </p:nvSpPr>
        <p:spPr>
          <a:xfrm>
            <a:off x="9607306" y="7711230"/>
            <a:ext cx="7366845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直近30分の純アルコール量を表示</a:t>
            </a:r>
          </a:p>
        </p:txBody>
      </p:sp>
    </p:spTree>
    <p:extLst>
      <p:ext uri="{BB962C8B-B14F-4D97-AF65-F5344CB8AC3E}">
        <p14:creationId xmlns:p14="http://schemas.microsoft.com/office/powerpoint/2010/main" val="698814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92090EA2-E2C6-4245-BC39-CA1EF16AF3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33280C7-3589-430E-8CFC-450C6FCC9A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A107382-506A-439C-8733-0755C4B3725A}"/>
              </a:ext>
            </a:extLst>
          </p:cNvPr>
          <p:cNvSpPr>
            <a:spLocks noGrp="1"/>
          </p:cNvSpPr>
          <p:nvPr/>
        </p:nvSpPr>
        <p:spPr>
          <a:xfrm>
            <a:off x="992238" y="771373"/>
            <a:ext cx="16303523" cy="53117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993"/>
              </a:lnSpc>
              <a:buNone/>
            </a:pPr>
            <a:r>
              <a:rPr sz="32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アプリの利用フロー</a:t>
            </a: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C966523F-E024-479A-A030-5B598021C869}"/>
              </a:ext>
            </a:extLst>
          </p:cNvPr>
          <p:cNvSpPr>
            <a:spLocks noGrp="1"/>
          </p:cNvSpPr>
          <p:nvPr/>
        </p:nvSpPr>
        <p:spPr>
          <a:xfrm>
            <a:off x="1276645" y="1492006"/>
            <a:ext cx="15734727" cy="7691151"/>
          </a:xfrm>
          <a:custGeom>
            <a:avLst/>
            <a:gdLst/>
            <a:ahLst/>
            <a:cxnLst/>
            <a:rect l="l" t="t" r="r" b="b"/>
            <a:pathLst>
              <a:path w="20979637" h="10254869">
                <a:moveTo>
                  <a:pt x="0" y="0"/>
                </a:moveTo>
                <a:lnTo>
                  <a:pt x="20979637" y="0"/>
                </a:lnTo>
                <a:lnTo>
                  <a:pt x="20979637" y="10254869"/>
                </a:lnTo>
                <a:lnTo>
                  <a:pt x="0" y="1025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" b="-3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815E761-E9EA-44B5-8BD1-EC71B518AD16}"/>
              </a:ext>
            </a:extLst>
          </p:cNvPr>
          <p:cNvSpPr>
            <a:spLocks noGrp="1"/>
          </p:cNvSpPr>
          <p:nvPr/>
        </p:nvSpPr>
        <p:spPr>
          <a:xfrm>
            <a:off x="2467880" y="4119210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テーブル登録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F152C45-2208-4D0F-A642-E00E14D009B8}"/>
              </a:ext>
            </a:extLst>
          </p:cNvPr>
          <p:cNvSpPr>
            <a:spLocks noGrp="1"/>
          </p:cNvSpPr>
          <p:nvPr/>
        </p:nvSpPr>
        <p:spPr>
          <a:xfrm>
            <a:off x="10342312" y="2358476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商品を選択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DBA422E-4686-4570-8EEA-51F31B62D002}"/>
              </a:ext>
            </a:extLst>
          </p:cNvPr>
          <p:cNvSpPr>
            <a:spLocks noGrp="1"/>
          </p:cNvSpPr>
          <p:nvPr/>
        </p:nvSpPr>
        <p:spPr>
          <a:xfrm>
            <a:off x="12151709" y="5977776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注文確定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DD9276F-BAA1-4611-A3C2-B2029DABE837}"/>
              </a:ext>
            </a:extLst>
          </p:cNvPr>
          <p:cNvSpPr>
            <a:spLocks noGrp="1"/>
          </p:cNvSpPr>
          <p:nvPr/>
        </p:nvSpPr>
        <p:spPr>
          <a:xfrm>
            <a:off x="4261228" y="7771124"/>
            <a:ext cx="3668211" cy="47757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494"/>
              </a:lnSpc>
              <a:buNone/>
            </a:pPr>
            <a:r>
              <a:rPr sz="2799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履歴に保存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80376B2-851F-45A3-BDFB-F0E3450BA37E}"/>
              </a:ext>
            </a:extLst>
          </p:cNvPr>
          <p:cNvSpPr>
            <a:spLocks noGrp="1"/>
          </p:cNvSpPr>
          <p:nvPr/>
        </p:nvSpPr>
        <p:spPr>
          <a:xfrm>
            <a:off x="992238" y="9280179"/>
            <a:ext cx="17217923" cy="21639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1512"/>
              </a:lnSpc>
              <a:buNone/>
            </a:pPr>
            <a:r>
              <a:rPr sz="1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注文操作と飲酒ペースの記録が、一つのフローで完結します</a:t>
            </a:r>
          </a:p>
        </p:txBody>
      </p:sp>
      <p:sp>
        <p:nvSpPr>
          <p:cNvPr id="16" name="gamma-badge-cover">
            <a:extLst>
              <a:ext uri="{FF2B5EF4-FFF2-40B4-BE49-F238E27FC236}">
                <a16:creationId xmlns:a16="http://schemas.microsoft.com/office/drawing/2014/main" id="{5CB7A983-3953-44A2-AE7F-3888A2E183BD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5106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FC29BE29-653A-4E3F-9976-208009A621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E15627B-BC9B-4F53-8E44-1AC29EDD77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EFC17DF-DDBD-4481-94E8-1DC3F258DF2E}"/>
              </a:ext>
            </a:extLst>
          </p:cNvPr>
          <p:cNvSpPr>
            <a:spLocks noGrp="1"/>
          </p:cNvSpPr>
          <p:nvPr/>
        </p:nvSpPr>
        <p:spPr>
          <a:xfrm>
            <a:off x="992238" y="2770880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なぜ「注文記録」方式にしたのか</a:t>
            </a: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ED07ED28-13E0-405B-84EB-EA407A92CE32}"/>
              </a:ext>
            </a:extLst>
          </p:cNvPr>
          <p:cNvSpPr>
            <a:spLocks noGrp="1"/>
          </p:cNvSpPr>
          <p:nvPr/>
        </p:nvSpPr>
        <p:spPr>
          <a:xfrm>
            <a:off x="788041" y="4110628"/>
            <a:ext cx="8214264" cy="3376898"/>
          </a:xfrm>
          <a:custGeom>
            <a:avLst/>
            <a:gdLst/>
            <a:ahLst/>
            <a:cxnLst/>
            <a:rect l="l" t="t" r="r" b="b"/>
            <a:pathLst>
              <a:path w="10952353" h="4502531">
                <a:moveTo>
                  <a:pt x="0" y="272161"/>
                </a:moveTo>
                <a:cubicBezTo>
                  <a:pt x="0" y="121920"/>
                  <a:pt x="121920" y="0"/>
                  <a:pt x="272161" y="0"/>
                </a:cubicBezTo>
                <a:lnTo>
                  <a:pt x="10680192" y="0"/>
                </a:lnTo>
                <a:cubicBezTo>
                  <a:pt x="10830561" y="0"/>
                  <a:pt x="10952353" y="121920"/>
                  <a:pt x="10952353" y="272161"/>
                </a:cubicBezTo>
                <a:lnTo>
                  <a:pt x="10952353" y="4230370"/>
                </a:lnTo>
                <a:cubicBezTo>
                  <a:pt x="10952353" y="4380738"/>
                  <a:pt x="10830433" y="4502531"/>
                  <a:pt x="10680192" y="4502531"/>
                </a:cubicBezTo>
                <a:lnTo>
                  <a:pt x="272161" y="4502531"/>
                </a:lnTo>
                <a:cubicBezTo>
                  <a:pt x="121920" y="4502531"/>
                  <a:pt x="0" y="4380738"/>
                  <a:pt x="0" y="4230370"/>
                </a:cubicBezTo>
                <a:close/>
              </a:path>
            </a:pathLst>
          </a:custGeom>
          <a:solidFill>
            <a:srgbClr val="224435"/>
          </a:solidFill>
        </p:spPr>
        <p:txBody>
          <a:bodyPr/>
          <a:lstStyle/>
          <a:p>
            <a:endParaRPr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0DF6B1F-AF15-4C16-B032-0509A13464A3}"/>
              </a:ext>
            </a:extLst>
          </p:cNvPr>
          <p:cNvSpPr>
            <a:spLocks noGrp="1"/>
          </p:cNvSpPr>
          <p:nvPr/>
        </p:nvSpPr>
        <p:spPr>
          <a:xfrm>
            <a:off x="1071562" y="4375099"/>
            <a:ext cx="76472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FFFFFF"/>
                </a:solidFill>
                <a:latin typeface="Syne Bold"/>
                <a:ea typeface="Syne Bold"/>
                <a:cs typeface="Syne Bold"/>
              </a:rPr>
              <a:t>当初の案：タップカウント型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D9AF22-AF05-4903-A628-B3150D0459D4}"/>
              </a:ext>
            </a:extLst>
          </p:cNvPr>
          <p:cNvSpPr>
            <a:spLocks noGrp="1"/>
          </p:cNvSpPr>
          <p:nvPr/>
        </p:nvSpPr>
        <p:spPr>
          <a:xfrm>
            <a:off x="1071562" y="5034858"/>
            <a:ext cx="85616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飲んだ杯数を自分で入力する方式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5608236-626D-469C-A2CC-F58641303FC0}"/>
              </a:ext>
            </a:extLst>
          </p:cNvPr>
          <p:cNvSpPr>
            <a:spLocks noGrp="1"/>
          </p:cNvSpPr>
          <p:nvPr/>
        </p:nvSpPr>
        <p:spPr>
          <a:xfrm>
            <a:off x="1071562" y="5743575"/>
            <a:ext cx="7647232" cy="12895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毎回アプリを開く必要がある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入力を忘れる可能性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FFFFFF"/>
                </a:solidFill>
                <a:latin typeface="Overpass Light"/>
                <a:ea typeface="Overpass Light"/>
                <a:cs typeface="Overpass Light"/>
              </a:rPr>
              <a:t>実際の利用場面には合わない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6D6516D-59A7-44D9-8DDE-AE1D7929B6B4}"/>
              </a:ext>
            </a:extLst>
          </p:cNvPr>
          <p:cNvSpPr>
            <a:spLocks noGrp="1"/>
          </p:cNvSpPr>
          <p:nvPr/>
        </p:nvSpPr>
        <p:spPr>
          <a:xfrm>
            <a:off x="9499406" y="4375099"/>
            <a:ext cx="4324544" cy="42169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 dirty="0" err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採用した方式：注文連動型</a:t>
            </a:r>
            <a:endParaRPr sz="2700" b="1" dirty="0">
              <a:solidFill>
                <a:srgbClr val="233939"/>
              </a:solidFill>
              <a:latin typeface="Syne Bold"/>
              <a:ea typeface="Syne Bold"/>
              <a:cs typeface="Syne 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86569EE-9B82-4DFA-A36D-844EF40EE575}"/>
              </a:ext>
            </a:extLst>
          </p:cNvPr>
          <p:cNvSpPr>
            <a:spLocks noGrp="1"/>
          </p:cNvSpPr>
          <p:nvPr/>
        </p:nvSpPr>
        <p:spPr>
          <a:xfrm>
            <a:off x="9499406" y="5034858"/>
            <a:ext cx="8720290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注文操作そのものを記録として利用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610D78B-F15E-41B0-8010-3A328E92E965}"/>
              </a:ext>
            </a:extLst>
          </p:cNvPr>
          <p:cNvSpPr>
            <a:spLocks noGrp="1"/>
          </p:cNvSpPr>
          <p:nvPr/>
        </p:nvSpPr>
        <p:spPr>
          <a:xfrm>
            <a:off x="9499406" y="5743575"/>
            <a:ext cx="7805890" cy="12895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カートに追加・注文確定で自動記録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追加の入力操作は不要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自然な行動と記録がつながる</a:t>
            </a:r>
          </a:p>
        </p:txBody>
      </p:sp>
    </p:spTree>
    <p:extLst>
      <p:ext uri="{BB962C8B-B14F-4D97-AF65-F5344CB8AC3E}">
        <p14:creationId xmlns:p14="http://schemas.microsoft.com/office/powerpoint/2010/main" val="12484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EE9DD260-800F-4D51-8D50-C7D988A762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1700650-F700-42B6-BF37-81AD25F899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r>
              <a:rPr lang="ja-JP" altLang="en-US" dirty="0"/>
              <a:t>実装した主な</a:t>
            </a:r>
            <a:r>
              <a:rPr lang="en-US" altLang="ja-JP" dirty="0"/>
              <a:t>3</a:t>
            </a:r>
            <a:r>
              <a:rPr lang="ja-JP" altLang="en-US" dirty="0"/>
              <a:t>つの機能</a:t>
            </a:r>
            <a:endParaRPr dirty="0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8504E17-82F4-431E-90AC-7D7B45D9458F}"/>
              </a:ext>
            </a:extLst>
          </p:cNvPr>
          <p:cNvSpPr>
            <a:spLocks noGrp="1"/>
          </p:cNvSpPr>
          <p:nvPr/>
        </p:nvSpPr>
        <p:spPr>
          <a:xfrm>
            <a:off x="992238" y="1686220"/>
            <a:ext cx="16303523" cy="84183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 dirty="0" err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実装した主な</a:t>
            </a:r>
            <a:r>
              <a:rPr lang="ja-JP" altLang="en-US" sz="5500" b="1" dirty="0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３</a:t>
            </a:r>
            <a:r>
              <a:rPr sz="5500" b="1" dirty="0" err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つの機能</a:t>
            </a:r>
            <a:endParaRPr sz="5500" b="1" dirty="0">
              <a:solidFill>
                <a:srgbClr val="233939"/>
              </a:solidFill>
              <a:latin typeface="Syne Bold"/>
              <a:ea typeface="Syne Bold"/>
              <a:cs typeface="Syne Bold"/>
            </a:endParaRPr>
          </a:p>
        </p:txBody>
      </p:sp>
      <p:sp>
        <p:nvSpPr>
          <p:cNvPr id="14" name="feature-1">
            <a:extLst>
              <a:ext uri="{FF2B5EF4-FFF2-40B4-BE49-F238E27FC236}">
                <a16:creationId xmlns:a16="http://schemas.microsoft.com/office/drawing/2014/main" id="{A5E11D6E-1918-494F-313D-53E8F328121D}"/>
              </a:ext>
            </a:extLst>
          </p:cNvPr>
          <p:cNvSpPr>
            <a:spLocks noGrp="1"/>
          </p:cNvSpPr>
          <p:nvPr/>
        </p:nvSpPr>
        <p:spPr>
          <a:xfrm>
            <a:off x="1157287" y="2892425"/>
            <a:ext cx="5057775" cy="5572125"/>
          </a:xfrm>
          <a:prstGeom prst="roundRect">
            <a:avLst>
              <a:gd name="adj" fmla="val 3390"/>
            </a:avLst>
          </a:prstGeom>
          <a:solidFill>
            <a:srgbClr val="FFFDF4"/>
          </a:solidFill>
          <a:ln w="19050">
            <a:solidFill>
              <a:srgbClr val="C9D7CF"/>
            </a:solidFill>
            <a:prstDash val="solid"/>
          </a:ln>
        </p:spPr>
        <p:txBody>
          <a:bodyPr/>
          <a:lstStyle/>
          <a:p>
            <a:endParaRPr lang="ja-JP" altLang="en-US" sz="2700"/>
          </a:p>
        </p:txBody>
      </p:sp>
      <p:sp>
        <p:nvSpPr>
          <p:cNvPr id="26" name="feature-band-1">
            <a:extLst>
              <a:ext uri="{FF2B5EF4-FFF2-40B4-BE49-F238E27FC236}">
                <a16:creationId xmlns:a16="http://schemas.microsoft.com/office/drawing/2014/main" id="{157D09B4-D35C-4490-A44D-579DA545941C}"/>
              </a:ext>
            </a:extLst>
          </p:cNvPr>
          <p:cNvSpPr>
            <a:spLocks noGrp="1"/>
          </p:cNvSpPr>
          <p:nvPr/>
        </p:nvSpPr>
        <p:spPr>
          <a:xfrm>
            <a:off x="1157287" y="2892425"/>
            <a:ext cx="5057775" cy="1228725"/>
          </a:xfrm>
          <a:prstGeom prst="rect">
            <a:avLst/>
          </a:prstGeom>
          <a:solidFill>
            <a:srgbClr val="DCECE4"/>
          </a:solidFill>
          <a:ln w="0">
            <a:solidFill>
              <a:srgbClr val="DCECE4"/>
            </a:solidFill>
            <a:prstDash val="solid"/>
          </a:ln>
        </p:spPr>
        <p:txBody>
          <a:bodyPr/>
          <a:lstStyle/>
          <a:p>
            <a:endParaRPr lang="ja-JP" altLang="en-US" sz="2700"/>
          </a:p>
        </p:txBody>
      </p:sp>
      <p:sp>
        <p:nvSpPr>
          <p:cNvPr id="32" name="number-1">
            <a:extLst>
              <a:ext uri="{FF2B5EF4-FFF2-40B4-BE49-F238E27FC236}">
                <a16:creationId xmlns:a16="http://schemas.microsoft.com/office/drawing/2014/main" id="{5F3626AF-9B16-CE3A-45BF-2D5C9FE59E88}"/>
              </a:ext>
            </a:extLst>
          </p:cNvPr>
          <p:cNvSpPr>
            <a:spLocks noGrp="1"/>
          </p:cNvSpPr>
          <p:nvPr/>
        </p:nvSpPr>
        <p:spPr>
          <a:xfrm>
            <a:off x="1157287" y="3049588"/>
            <a:ext cx="505777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173D38"/>
                </a:solidFill>
              </a:defRPr>
            </a:pPr>
            <a:r>
              <a:rPr sz="3375" b="1">
                <a:solidFill>
                  <a:srgbClr val="173D38"/>
                </a:solidFill>
              </a:rPr>
              <a:t>1</a:t>
            </a:r>
          </a:p>
        </p:txBody>
      </p:sp>
      <p:sp>
        <p:nvSpPr>
          <p:cNvPr id="34" name="feature-title-1">
            <a:extLst>
              <a:ext uri="{FF2B5EF4-FFF2-40B4-BE49-F238E27FC236}">
                <a16:creationId xmlns:a16="http://schemas.microsoft.com/office/drawing/2014/main" id="{CCF95168-634B-8E81-18CE-2453F40F8FAC}"/>
              </a:ext>
            </a:extLst>
          </p:cNvPr>
          <p:cNvSpPr>
            <a:spLocks noGrp="1"/>
          </p:cNvSpPr>
          <p:nvPr/>
        </p:nvSpPr>
        <p:spPr>
          <a:xfrm>
            <a:off x="1557337" y="4549775"/>
            <a:ext cx="4257675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173D38"/>
                </a:solidFill>
              </a:defRPr>
            </a:pPr>
            <a:r>
              <a:rPr sz="3038" b="1">
                <a:solidFill>
                  <a:srgbClr val="173D38"/>
                </a:solidFill>
              </a:rPr>
              <a:t>注文機能</a:t>
            </a:r>
          </a:p>
        </p:txBody>
      </p:sp>
      <p:sp>
        <p:nvSpPr>
          <p:cNvPr id="36" name="feature-body-1">
            <a:extLst>
              <a:ext uri="{FF2B5EF4-FFF2-40B4-BE49-F238E27FC236}">
                <a16:creationId xmlns:a16="http://schemas.microsoft.com/office/drawing/2014/main" id="{9F05C83C-B137-B213-7A11-6CFC717420E7}"/>
              </a:ext>
            </a:extLst>
          </p:cNvPr>
          <p:cNvSpPr>
            <a:spLocks noGrp="1"/>
          </p:cNvSpPr>
          <p:nvPr/>
        </p:nvSpPr>
        <p:spPr>
          <a:xfrm>
            <a:off x="1557337" y="5578475"/>
            <a:ext cx="4257675" cy="1228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334B45"/>
                </a:solidFill>
              </a:defRPr>
            </a:pPr>
            <a:r>
              <a:rPr sz="2138">
                <a:solidFill>
                  <a:srgbClr val="334B45"/>
                </a:solidFill>
              </a:rPr>
              <a:t>商品追加・数量変更・削除・注文確定</a:t>
            </a:r>
          </a:p>
        </p:txBody>
      </p:sp>
      <p:sp>
        <p:nvSpPr>
          <p:cNvPr id="38" name="feature-note-1">
            <a:extLst>
              <a:ext uri="{FF2B5EF4-FFF2-40B4-BE49-F238E27FC236}">
                <a16:creationId xmlns:a16="http://schemas.microsoft.com/office/drawing/2014/main" id="{C66B3DD8-C57F-53A9-2FBF-174D03865157}"/>
              </a:ext>
            </a:extLst>
          </p:cNvPr>
          <p:cNvSpPr>
            <a:spLocks noGrp="1"/>
          </p:cNvSpPr>
          <p:nvPr/>
        </p:nvSpPr>
        <p:spPr>
          <a:xfrm>
            <a:off x="1557337" y="7178675"/>
            <a:ext cx="425767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B7B75"/>
                </a:solidFill>
              </a:defRPr>
            </a:pPr>
            <a:r>
              <a:rPr>
                <a:solidFill>
                  <a:srgbClr val="6B7B75"/>
                </a:solidFill>
              </a:rPr>
              <a:t>注文操作をそのまま飲酒記録につなげる</a:t>
            </a:r>
          </a:p>
        </p:txBody>
      </p:sp>
      <p:sp>
        <p:nvSpPr>
          <p:cNvPr id="40" name="feature-2">
            <a:extLst>
              <a:ext uri="{FF2B5EF4-FFF2-40B4-BE49-F238E27FC236}">
                <a16:creationId xmlns:a16="http://schemas.microsoft.com/office/drawing/2014/main" id="{D23B66A7-ADA7-9EBB-E415-BEA6E63EBC2A}"/>
              </a:ext>
            </a:extLst>
          </p:cNvPr>
          <p:cNvSpPr>
            <a:spLocks noGrp="1"/>
          </p:cNvSpPr>
          <p:nvPr/>
        </p:nvSpPr>
        <p:spPr>
          <a:xfrm>
            <a:off x="6615112" y="2892425"/>
            <a:ext cx="5057775" cy="5572125"/>
          </a:xfrm>
          <a:prstGeom prst="roundRect">
            <a:avLst>
              <a:gd name="adj" fmla="val 3390"/>
            </a:avLst>
          </a:prstGeom>
          <a:solidFill>
            <a:srgbClr val="FFFDF4"/>
          </a:solidFill>
          <a:ln w="19050">
            <a:solidFill>
              <a:srgbClr val="C9D7CF"/>
            </a:solidFill>
            <a:prstDash val="solid"/>
          </a:ln>
        </p:spPr>
        <p:txBody>
          <a:bodyPr/>
          <a:lstStyle/>
          <a:p>
            <a:endParaRPr lang="ja-JP" altLang="en-US" sz="2700"/>
          </a:p>
        </p:txBody>
      </p:sp>
      <p:sp>
        <p:nvSpPr>
          <p:cNvPr id="42" name="feature-band-2">
            <a:extLst>
              <a:ext uri="{FF2B5EF4-FFF2-40B4-BE49-F238E27FC236}">
                <a16:creationId xmlns:a16="http://schemas.microsoft.com/office/drawing/2014/main" id="{A52328B4-0823-4A68-2C4F-0674DA9868CB}"/>
              </a:ext>
            </a:extLst>
          </p:cNvPr>
          <p:cNvSpPr>
            <a:spLocks noGrp="1"/>
          </p:cNvSpPr>
          <p:nvPr/>
        </p:nvSpPr>
        <p:spPr>
          <a:xfrm>
            <a:off x="6615112" y="2892425"/>
            <a:ext cx="5057775" cy="1228725"/>
          </a:xfrm>
          <a:prstGeom prst="rect">
            <a:avLst/>
          </a:prstGeom>
          <a:solidFill>
            <a:srgbClr val="DCECE4"/>
          </a:solidFill>
          <a:ln w="0">
            <a:solidFill>
              <a:srgbClr val="DCECE4"/>
            </a:solidFill>
            <a:prstDash val="solid"/>
          </a:ln>
        </p:spPr>
        <p:txBody>
          <a:bodyPr/>
          <a:lstStyle/>
          <a:p>
            <a:endParaRPr lang="ja-JP" altLang="en-US" sz="2700"/>
          </a:p>
        </p:txBody>
      </p:sp>
      <p:sp>
        <p:nvSpPr>
          <p:cNvPr id="44" name="number-2">
            <a:extLst>
              <a:ext uri="{FF2B5EF4-FFF2-40B4-BE49-F238E27FC236}">
                <a16:creationId xmlns:a16="http://schemas.microsoft.com/office/drawing/2014/main" id="{B2D83A39-8766-04F7-12DD-01A19DBE55CB}"/>
              </a:ext>
            </a:extLst>
          </p:cNvPr>
          <p:cNvSpPr>
            <a:spLocks noGrp="1"/>
          </p:cNvSpPr>
          <p:nvPr/>
        </p:nvSpPr>
        <p:spPr>
          <a:xfrm>
            <a:off x="6615112" y="3049588"/>
            <a:ext cx="505777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173D38"/>
                </a:solidFill>
              </a:defRPr>
            </a:pPr>
            <a:r>
              <a:rPr sz="3375" b="1">
                <a:solidFill>
                  <a:srgbClr val="173D38"/>
                </a:solidFill>
              </a:rPr>
              <a:t>2</a:t>
            </a:r>
          </a:p>
        </p:txBody>
      </p:sp>
      <p:sp>
        <p:nvSpPr>
          <p:cNvPr id="46" name="feature-title-2">
            <a:extLst>
              <a:ext uri="{FF2B5EF4-FFF2-40B4-BE49-F238E27FC236}">
                <a16:creationId xmlns:a16="http://schemas.microsoft.com/office/drawing/2014/main" id="{E55AAFBB-B6BA-24A5-EE02-97EEE81E900B}"/>
              </a:ext>
            </a:extLst>
          </p:cNvPr>
          <p:cNvSpPr>
            <a:spLocks noGrp="1"/>
          </p:cNvSpPr>
          <p:nvPr/>
        </p:nvSpPr>
        <p:spPr>
          <a:xfrm>
            <a:off x="7015162" y="4549775"/>
            <a:ext cx="4257675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173D38"/>
                </a:solidFill>
              </a:defRPr>
            </a:pPr>
            <a:r>
              <a:rPr sz="3038" b="1">
                <a:solidFill>
                  <a:srgbClr val="173D38"/>
                </a:solidFill>
              </a:rPr>
              <a:t>データベース保存</a:t>
            </a:r>
          </a:p>
        </p:txBody>
      </p:sp>
      <p:sp>
        <p:nvSpPr>
          <p:cNvPr id="48" name="feature-body-2">
            <a:extLst>
              <a:ext uri="{FF2B5EF4-FFF2-40B4-BE49-F238E27FC236}">
                <a16:creationId xmlns:a16="http://schemas.microsoft.com/office/drawing/2014/main" id="{0DC1A4D5-9974-6D14-36AB-6BFEE59DBF55}"/>
              </a:ext>
            </a:extLst>
          </p:cNvPr>
          <p:cNvSpPr>
            <a:spLocks noGrp="1"/>
          </p:cNvSpPr>
          <p:nvPr/>
        </p:nvSpPr>
        <p:spPr>
          <a:xfrm>
            <a:off x="7015162" y="5578475"/>
            <a:ext cx="4257675" cy="1228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334B45"/>
                </a:solidFill>
              </a:defRPr>
            </a:pPr>
            <a:r>
              <a:rPr sz="2138">
                <a:solidFill>
                  <a:srgbClr val="334B45"/>
                </a:solidFill>
              </a:rPr>
              <a:t>注文確定時にFirebaseへリアルタイム保存</a:t>
            </a:r>
          </a:p>
        </p:txBody>
      </p:sp>
      <p:sp>
        <p:nvSpPr>
          <p:cNvPr id="50" name="feature-note-2">
            <a:extLst>
              <a:ext uri="{FF2B5EF4-FFF2-40B4-BE49-F238E27FC236}">
                <a16:creationId xmlns:a16="http://schemas.microsoft.com/office/drawing/2014/main" id="{34EC9814-34FC-7E67-1C22-F0D5856B24FD}"/>
              </a:ext>
            </a:extLst>
          </p:cNvPr>
          <p:cNvSpPr>
            <a:spLocks noGrp="1"/>
          </p:cNvSpPr>
          <p:nvPr/>
        </p:nvSpPr>
        <p:spPr>
          <a:xfrm>
            <a:off x="7015162" y="7178675"/>
            <a:ext cx="425767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B7B75"/>
                </a:solidFill>
              </a:defRPr>
            </a:pPr>
            <a:r>
              <a:rPr>
                <a:solidFill>
                  <a:srgbClr val="6B7B75"/>
                </a:solidFill>
              </a:rPr>
              <a:t>履歴を即時に保存・反映して確認できる</a:t>
            </a:r>
          </a:p>
        </p:txBody>
      </p:sp>
      <p:sp>
        <p:nvSpPr>
          <p:cNvPr id="52" name="feature-3">
            <a:extLst>
              <a:ext uri="{FF2B5EF4-FFF2-40B4-BE49-F238E27FC236}">
                <a16:creationId xmlns:a16="http://schemas.microsoft.com/office/drawing/2014/main" id="{42E9175A-FA58-09B7-3170-F085645E8EA4}"/>
              </a:ext>
            </a:extLst>
          </p:cNvPr>
          <p:cNvSpPr>
            <a:spLocks noGrp="1"/>
          </p:cNvSpPr>
          <p:nvPr/>
        </p:nvSpPr>
        <p:spPr>
          <a:xfrm>
            <a:off x="12072937" y="2892425"/>
            <a:ext cx="5057775" cy="5572125"/>
          </a:xfrm>
          <a:prstGeom prst="roundRect">
            <a:avLst>
              <a:gd name="adj" fmla="val 3390"/>
            </a:avLst>
          </a:prstGeom>
          <a:solidFill>
            <a:srgbClr val="FFFDF4"/>
          </a:solidFill>
          <a:ln w="19050">
            <a:solidFill>
              <a:srgbClr val="C9D7CF"/>
            </a:solidFill>
            <a:prstDash val="solid"/>
          </a:ln>
        </p:spPr>
        <p:txBody>
          <a:bodyPr/>
          <a:lstStyle/>
          <a:p>
            <a:endParaRPr lang="ja-JP" altLang="en-US" sz="2700"/>
          </a:p>
        </p:txBody>
      </p:sp>
      <p:sp>
        <p:nvSpPr>
          <p:cNvPr id="54" name="feature-band-3">
            <a:extLst>
              <a:ext uri="{FF2B5EF4-FFF2-40B4-BE49-F238E27FC236}">
                <a16:creationId xmlns:a16="http://schemas.microsoft.com/office/drawing/2014/main" id="{0A029D3D-5BA4-7A1B-F535-446B63FF80B6}"/>
              </a:ext>
            </a:extLst>
          </p:cNvPr>
          <p:cNvSpPr>
            <a:spLocks noGrp="1"/>
          </p:cNvSpPr>
          <p:nvPr/>
        </p:nvSpPr>
        <p:spPr>
          <a:xfrm>
            <a:off x="12072937" y="2892425"/>
            <a:ext cx="5057775" cy="1228725"/>
          </a:xfrm>
          <a:prstGeom prst="rect">
            <a:avLst/>
          </a:prstGeom>
          <a:solidFill>
            <a:srgbClr val="DCECE4"/>
          </a:solidFill>
          <a:ln w="0">
            <a:solidFill>
              <a:srgbClr val="DCECE4"/>
            </a:solidFill>
            <a:prstDash val="solid"/>
          </a:ln>
        </p:spPr>
        <p:txBody>
          <a:bodyPr/>
          <a:lstStyle/>
          <a:p>
            <a:endParaRPr lang="ja-JP" altLang="en-US" sz="2700"/>
          </a:p>
        </p:txBody>
      </p:sp>
      <p:sp>
        <p:nvSpPr>
          <p:cNvPr id="56" name="number-3">
            <a:extLst>
              <a:ext uri="{FF2B5EF4-FFF2-40B4-BE49-F238E27FC236}">
                <a16:creationId xmlns:a16="http://schemas.microsoft.com/office/drawing/2014/main" id="{7F998F38-7E25-98D7-F62E-4AE788393550}"/>
              </a:ext>
            </a:extLst>
          </p:cNvPr>
          <p:cNvSpPr>
            <a:spLocks noGrp="1"/>
          </p:cNvSpPr>
          <p:nvPr/>
        </p:nvSpPr>
        <p:spPr>
          <a:xfrm>
            <a:off x="12072937" y="3049588"/>
            <a:ext cx="5057775" cy="771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173D38"/>
                </a:solidFill>
              </a:defRPr>
            </a:pPr>
            <a:r>
              <a:rPr sz="3375" b="1">
                <a:solidFill>
                  <a:srgbClr val="173D38"/>
                </a:solidFill>
              </a:rPr>
              <a:t>3</a:t>
            </a:r>
          </a:p>
        </p:txBody>
      </p:sp>
      <p:sp>
        <p:nvSpPr>
          <p:cNvPr id="58" name="feature-title-3">
            <a:extLst>
              <a:ext uri="{FF2B5EF4-FFF2-40B4-BE49-F238E27FC236}">
                <a16:creationId xmlns:a16="http://schemas.microsoft.com/office/drawing/2014/main" id="{ECC147B9-F3D0-73EC-D93F-933032DAD988}"/>
              </a:ext>
            </a:extLst>
          </p:cNvPr>
          <p:cNvSpPr>
            <a:spLocks noGrp="1"/>
          </p:cNvSpPr>
          <p:nvPr/>
        </p:nvSpPr>
        <p:spPr>
          <a:xfrm>
            <a:off x="12472987" y="4549775"/>
            <a:ext cx="4257675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173D38"/>
                </a:solidFill>
              </a:defRPr>
            </a:pPr>
            <a:r>
              <a:rPr sz="3038" b="1">
                <a:solidFill>
                  <a:srgbClr val="173D38"/>
                </a:solidFill>
              </a:rPr>
              <a:t>ペース記録通知</a:t>
            </a:r>
          </a:p>
        </p:txBody>
      </p:sp>
      <p:sp>
        <p:nvSpPr>
          <p:cNvPr id="60" name="feature-body-3">
            <a:extLst>
              <a:ext uri="{FF2B5EF4-FFF2-40B4-BE49-F238E27FC236}">
                <a16:creationId xmlns:a16="http://schemas.microsoft.com/office/drawing/2014/main" id="{F2FF672E-25A1-4D4D-CA5C-875DA50D5665}"/>
              </a:ext>
            </a:extLst>
          </p:cNvPr>
          <p:cNvSpPr>
            <a:spLocks noGrp="1"/>
          </p:cNvSpPr>
          <p:nvPr/>
        </p:nvSpPr>
        <p:spPr>
          <a:xfrm>
            <a:off x="12472987" y="5578475"/>
            <a:ext cx="4257675" cy="1228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>
                <a:solidFill>
                  <a:srgbClr val="334B45"/>
                </a:solidFill>
              </a:defRPr>
            </a:pPr>
            <a:r>
              <a:rPr sz="2138">
                <a:solidFill>
                  <a:srgbClr val="334B45"/>
                </a:solidFill>
              </a:rPr>
              <a:t>飲酒ペースを記録し、飲み過ぎを通知</a:t>
            </a:r>
          </a:p>
        </p:txBody>
      </p:sp>
      <p:sp>
        <p:nvSpPr>
          <p:cNvPr id="62" name="feature-note-3">
            <a:extLst>
              <a:ext uri="{FF2B5EF4-FFF2-40B4-BE49-F238E27FC236}">
                <a16:creationId xmlns:a16="http://schemas.microsoft.com/office/drawing/2014/main" id="{D791293C-C17A-9F51-0DA0-6DBAE0A1E430}"/>
              </a:ext>
            </a:extLst>
          </p:cNvPr>
          <p:cNvSpPr>
            <a:spLocks noGrp="1"/>
          </p:cNvSpPr>
          <p:nvPr/>
        </p:nvSpPr>
        <p:spPr>
          <a:xfrm>
            <a:off x="12472987" y="7178675"/>
            <a:ext cx="425767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B7B75"/>
                </a:solidFill>
              </a:defRPr>
            </a:pPr>
            <a:r>
              <a:rPr>
                <a:solidFill>
                  <a:srgbClr val="6B7B75"/>
                </a:solidFill>
              </a:rPr>
              <a:t>経過時間と注文履歴からペースを見える化</a:t>
            </a:r>
          </a:p>
        </p:txBody>
      </p:sp>
      <p:sp>
        <p:nvSpPr>
          <p:cNvPr id="64" name="footer">
            <a:extLst>
              <a:ext uri="{FF2B5EF4-FFF2-40B4-BE49-F238E27FC236}">
                <a16:creationId xmlns:a16="http://schemas.microsoft.com/office/drawing/2014/main" id="{358F2891-5488-3E37-F5AD-D80178936170}"/>
              </a:ext>
            </a:extLst>
          </p:cNvPr>
          <p:cNvSpPr>
            <a:spLocks noGrp="1"/>
          </p:cNvSpPr>
          <p:nvPr/>
        </p:nvSpPr>
        <p:spPr>
          <a:xfrm>
            <a:off x="1157287" y="9121775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83918B"/>
                </a:solidFill>
              </a:defRPr>
            </a:pPr>
            <a:r>
              <a:rPr sz="1575" b="1">
                <a:solidFill>
                  <a:srgbClr val="83918B"/>
                </a:solidFill>
              </a:rPr>
              <a:t>SakeStop</a:t>
            </a:r>
          </a:p>
        </p:txBody>
      </p:sp>
    </p:spTree>
    <p:extLst>
      <p:ext uri="{BB962C8B-B14F-4D97-AF65-F5344CB8AC3E}">
        <p14:creationId xmlns:p14="http://schemas.microsoft.com/office/powerpoint/2010/main" val="708805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3EEB7A2-09A5-4443-A77A-42470FC1B7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8C1EB84-A46C-443B-A8AB-9403969DD8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07433" y="666750"/>
            <a:ext cx="9073039" cy="907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538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59020EE-9E89-4CD4-8141-1A2B5CBE46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9CD3ABDB-3FA4-4B87-8934-66D3F6FCC9F4}"/>
              </a:ext>
            </a:extLst>
          </p:cNvPr>
          <p:cNvSpPr>
            <a:spLocks noGrp="1"/>
          </p:cNvSpPr>
          <p:nvPr/>
        </p:nvSpPr>
        <p:spPr>
          <a:xfrm>
            <a:off x="17710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186875E-200E-458F-8A79-3FC3295FA72A}"/>
              </a:ext>
            </a:extLst>
          </p:cNvPr>
          <p:cNvSpPr>
            <a:spLocks noGrp="1"/>
          </p:cNvSpPr>
          <p:nvPr/>
        </p:nvSpPr>
        <p:spPr>
          <a:xfrm>
            <a:off x="992238" y="2185987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飲酒ペースの目安と注意表示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5174D34-933A-4663-AECD-6BA0679DE046}"/>
              </a:ext>
            </a:extLst>
          </p:cNvPr>
          <p:cNvSpPr>
            <a:spLocks noGrp="1"/>
          </p:cNvSpPr>
          <p:nvPr/>
        </p:nvSpPr>
        <p:spPr>
          <a:xfrm>
            <a:off x="3588844" y="3952132"/>
            <a:ext cx="3398552" cy="96065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６０ｇ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54D51E4-C949-4492-96FB-B5159FAB70BA}"/>
              </a:ext>
            </a:extLst>
          </p:cNvPr>
          <p:cNvSpPr>
            <a:spLocks noGrp="1"/>
          </p:cNvSpPr>
          <p:nvPr/>
        </p:nvSpPr>
        <p:spPr>
          <a:xfrm>
            <a:off x="3779344" y="5080102"/>
            <a:ext cx="2475406" cy="42169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注意表示の目安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3540789-59B9-4710-9A1D-D5E08696C681}"/>
              </a:ext>
            </a:extLst>
          </p:cNvPr>
          <p:cNvSpPr>
            <a:spLocks noGrp="1"/>
          </p:cNvSpPr>
          <p:nvPr/>
        </p:nvSpPr>
        <p:spPr>
          <a:xfrm>
            <a:off x="992238" y="5626446"/>
            <a:ext cx="7974511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直近30分の純アルコール量が60g以上で表示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FDF62B8-A2D7-490B-B7D9-9D7DB338DF5E}"/>
              </a:ext>
            </a:extLst>
          </p:cNvPr>
          <p:cNvSpPr>
            <a:spLocks noGrp="1"/>
          </p:cNvSpPr>
          <p:nvPr/>
        </p:nvSpPr>
        <p:spPr>
          <a:xfrm>
            <a:off x="11917784" y="3952132"/>
            <a:ext cx="3398551" cy="96065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270"/>
              </a:lnSpc>
              <a:buNone/>
            </a:pPr>
            <a:r>
              <a:rPr sz="73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３０分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15462FB-D313-4A0C-AB7A-3689079201E9}"/>
              </a:ext>
            </a:extLst>
          </p:cNvPr>
          <p:cNvSpPr>
            <a:spLocks noGrp="1"/>
          </p:cNvSpPr>
          <p:nvPr/>
        </p:nvSpPr>
        <p:spPr>
          <a:xfrm>
            <a:off x="9321108" y="5080102"/>
            <a:ext cx="7974654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通知間隔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D2E0D12-D671-40B1-B1CD-64EBDB21B410}"/>
              </a:ext>
            </a:extLst>
          </p:cNvPr>
          <p:cNvSpPr>
            <a:spLocks noGrp="1"/>
          </p:cNvSpPr>
          <p:nvPr/>
        </p:nvSpPr>
        <p:spPr>
          <a:xfrm>
            <a:off x="9321108" y="5626446"/>
            <a:ext cx="7974654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ctr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同じ注意が連続表示されないよう間隔を設定</a:t>
            </a:r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B7EF63E0-7D34-41E2-B5FA-1CF7EA48EEF3}"/>
              </a:ext>
            </a:extLst>
          </p:cNvPr>
          <p:cNvSpPr>
            <a:spLocks noGrp="1"/>
          </p:cNvSpPr>
          <p:nvPr/>
        </p:nvSpPr>
        <p:spPr>
          <a:xfrm>
            <a:off x="992238" y="6484744"/>
            <a:ext cx="16303466" cy="1587532"/>
          </a:xfrm>
          <a:custGeom>
            <a:avLst/>
            <a:gdLst/>
            <a:ahLst/>
            <a:cxnLst/>
            <a:rect l="l" t="t" r="r" b="b"/>
            <a:pathLst>
              <a:path w="21737955" h="2116709">
                <a:moveTo>
                  <a:pt x="0" y="158750"/>
                </a:moveTo>
                <a:cubicBezTo>
                  <a:pt x="0" y="71120"/>
                  <a:pt x="71120" y="0"/>
                  <a:pt x="158750" y="0"/>
                </a:cubicBezTo>
                <a:lnTo>
                  <a:pt x="21579205" y="0"/>
                </a:lnTo>
                <a:cubicBezTo>
                  <a:pt x="21666836" y="0"/>
                  <a:pt x="21737955" y="71120"/>
                  <a:pt x="21737955" y="158750"/>
                </a:cubicBezTo>
                <a:lnTo>
                  <a:pt x="21737955" y="1957959"/>
                </a:lnTo>
                <a:cubicBezTo>
                  <a:pt x="21737955" y="2045589"/>
                  <a:pt x="21666836" y="2116709"/>
                  <a:pt x="21579205" y="2116709"/>
                </a:cubicBezTo>
                <a:lnTo>
                  <a:pt x="158750" y="2116709"/>
                </a:lnTo>
                <a:cubicBezTo>
                  <a:pt x="71120" y="2116709"/>
                  <a:pt x="0" y="2045589"/>
                  <a:pt x="0" y="1957959"/>
                </a:cubicBezTo>
                <a:close/>
              </a:path>
            </a:pathLst>
          </a:custGeom>
          <a:solidFill>
            <a:srgbClr val="DDEEE6"/>
          </a:solidFill>
        </p:spPr>
        <p:txBody>
          <a:bodyPr/>
          <a:lstStyle/>
          <a:p>
            <a:endParaRPr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EE083B7-66A8-41F1-8614-79EE8974773F}"/>
              </a:ext>
            </a:extLst>
          </p:cNvPr>
          <p:cNvSpPr>
            <a:spLocks noGrp="1"/>
          </p:cNvSpPr>
          <p:nvPr/>
        </p:nvSpPr>
        <p:spPr>
          <a:xfrm>
            <a:off x="1913630" y="6753377"/>
            <a:ext cx="15098611" cy="8701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この数値は飲酒ペースを振り返るための目安です。</a:t>
            </a:r>
          </a:p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000000"/>
                </a:solidFill>
                <a:latin typeface="Overpass Light"/>
                <a:ea typeface="Overpass Light"/>
                <a:cs typeface="Overpass Light"/>
              </a:rPr>
              <a:t>医療的な診断や、飲酒してよいかどうかを判断する機能ではありません。</a:t>
            </a:r>
          </a:p>
        </p:txBody>
      </p:sp>
      <p:sp>
        <p:nvSpPr>
          <p:cNvPr id="20" name="gamma-badge-cover">
            <a:extLst>
              <a:ext uri="{FF2B5EF4-FFF2-40B4-BE49-F238E27FC236}">
                <a16:creationId xmlns:a16="http://schemas.microsoft.com/office/drawing/2014/main" id="{FA199D1A-C1C2-4CFA-B604-ADB6025E5FD0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18100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58682BD-A143-45FB-A7CE-067164DCD9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E8C43D0-3EC4-4150-9A59-83F2AE59BA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E2F9C40-2B47-4A72-891E-491E737069C1}"/>
              </a:ext>
            </a:extLst>
          </p:cNvPr>
          <p:cNvSpPr>
            <a:spLocks noGrp="1"/>
          </p:cNvSpPr>
          <p:nvPr/>
        </p:nvSpPr>
        <p:spPr>
          <a:xfrm>
            <a:off x="992238" y="1160269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開発環境とスケジュール</a:t>
            </a:r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3D0F4E80-C724-4C45-B401-E87AB865DDA0}"/>
              </a:ext>
            </a:extLst>
          </p:cNvPr>
          <p:cNvSpPr>
            <a:spLocks noGrp="1"/>
          </p:cNvSpPr>
          <p:nvPr/>
        </p:nvSpPr>
        <p:spPr>
          <a:xfrm>
            <a:off x="992238" y="2974924"/>
            <a:ext cx="10355199" cy="5648134"/>
          </a:xfrm>
          <a:custGeom>
            <a:avLst/>
            <a:gdLst/>
            <a:ahLst/>
            <a:cxnLst/>
            <a:rect l="l" t="t" r="r" b="b"/>
            <a:pathLst>
              <a:path w="13806932" h="7530846">
                <a:moveTo>
                  <a:pt x="0" y="0"/>
                </a:moveTo>
                <a:lnTo>
                  <a:pt x="13806932" y="0"/>
                </a:lnTo>
                <a:lnTo>
                  <a:pt x="13806932" y="7530846"/>
                </a:lnTo>
                <a:lnTo>
                  <a:pt x="0" y="75308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" r="-3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999EC31-765E-4ED3-9B32-30A86DA23901}"/>
              </a:ext>
            </a:extLst>
          </p:cNvPr>
          <p:cNvSpPr>
            <a:spLocks noGrp="1"/>
          </p:cNvSpPr>
          <p:nvPr/>
        </p:nvSpPr>
        <p:spPr>
          <a:xfrm>
            <a:off x="12048677" y="2764479"/>
            <a:ext cx="5256457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開発環境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BB15EB8-A28B-4F66-B7AF-FCE82F7F8E85}"/>
              </a:ext>
            </a:extLst>
          </p:cNvPr>
          <p:cNvSpPr>
            <a:spLocks noGrp="1"/>
          </p:cNvSpPr>
          <p:nvPr/>
        </p:nvSpPr>
        <p:spPr>
          <a:xfrm>
            <a:off x="12048677" y="3424237"/>
            <a:ext cx="5256457" cy="16448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Flutter 3.35.7 (stable) / Dart 3.9.2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 Realtime Database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Gitで変更履歴を管理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C5DD34B-08A5-464D-8E4B-7ADD5E0789A8}"/>
              </a:ext>
            </a:extLst>
          </p:cNvPr>
          <p:cNvSpPr>
            <a:spLocks noGrp="1"/>
          </p:cNvSpPr>
          <p:nvPr/>
        </p:nvSpPr>
        <p:spPr>
          <a:xfrm>
            <a:off x="12048677" y="5333552"/>
            <a:ext cx="5256457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スケジュール（5月〜7月）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B714D20-46EA-4A9E-A70B-8A6D75E057E0}"/>
              </a:ext>
            </a:extLst>
          </p:cNvPr>
          <p:cNvSpPr>
            <a:spLocks noGrp="1"/>
          </p:cNvSpPr>
          <p:nvPr/>
        </p:nvSpPr>
        <p:spPr>
          <a:xfrm>
            <a:off x="12048677" y="5993311"/>
            <a:ext cx="5256457" cy="216583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 b="1" dirty="0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5月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：タップカウント型から注文アプリへ方向転換・仕様整理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 dirty="0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6月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：Firebase連携・カート機能・注文履歴・飲酒ペース判定を実装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 dirty="0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7月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：UI調整・不要な機能を削除</a:t>
            </a:r>
          </a:p>
        </p:txBody>
      </p:sp>
      <p:sp>
        <p:nvSpPr>
          <p:cNvPr id="15" name="gamma-badge-cover">
            <a:extLst>
              <a:ext uri="{FF2B5EF4-FFF2-40B4-BE49-F238E27FC236}">
                <a16:creationId xmlns:a16="http://schemas.microsoft.com/office/drawing/2014/main" id="{F748A986-6A55-403A-8125-C01DEA5CFFDD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45644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7EFD2DE-32BB-40E2-9994-561C063F10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0D9904F8-0102-4B91-BF57-E98C6330E1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BDE3B26-7186-4F5E-B24A-5DA0CFF8B295}"/>
              </a:ext>
            </a:extLst>
          </p:cNvPr>
          <p:cNvSpPr>
            <a:spLocks noGrp="1"/>
          </p:cNvSpPr>
          <p:nvPr/>
        </p:nvSpPr>
        <p:spPr>
          <a:xfrm>
            <a:off x="992238" y="2117084"/>
            <a:ext cx="16303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テストとAIの活用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3131802-B802-4C6F-A597-79CE01704BA9}"/>
              </a:ext>
            </a:extLst>
          </p:cNvPr>
          <p:cNvSpPr>
            <a:spLocks noGrp="1"/>
          </p:cNvSpPr>
          <p:nvPr/>
        </p:nvSpPr>
        <p:spPr>
          <a:xfrm>
            <a:off x="992238" y="3721294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テスト内容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99283BB-4826-4A99-9EA9-8C60B4B4DE05}"/>
              </a:ext>
            </a:extLst>
          </p:cNvPr>
          <p:cNvSpPr>
            <a:spLocks noGrp="1"/>
          </p:cNvSpPr>
          <p:nvPr/>
        </p:nvSpPr>
        <p:spPr>
          <a:xfrm>
            <a:off x="769298" y="4381052"/>
            <a:ext cx="8730108" cy="17835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 b="1" dirty="0" err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静的解析</a:t>
            </a: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：flutter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 </a:t>
            </a: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analyzeで問題</a:t>
            </a:r>
            <a:r>
              <a:rPr lang="ja-JP" altLang="en-US"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がないか</a:t>
            </a: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確認</a:t>
            </a:r>
            <a:endParaRPr sz="2200" dirty="0">
              <a:solidFill>
                <a:srgbClr val="3B4E4E"/>
              </a:solidFill>
              <a:latin typeface="Overpass Light"/>
              <a:ea typeface="Overpass Light"/>
              <a:cs typeface="Overpass Light"/>
            </a:endParaRP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 dirty="0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単体テスト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：純アルコール量・30分集計・60g境界・通知間隔・テーブルID入力規則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 b="1" dirty="0" err="1">
                <a:solidFill>
                  <a:srgbClr val="3B4E4E"/>
                </a:solidFill>
                <a:latin typeface="Overpass Bold"/>
                <a:ea typeface="Overpass Bold"/>
                <a:cs typeface="Overpass Bold"/>
              </a:rPr>
              <a:t>Widgetテスト</a:t>
            </a:r>
            <a:r>
              <a:rPr sz="2200" dirty="0" err="1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：テーブルID→ニックネーム画面の遷移フロ</a:t>
            </a:r>
            <a:r>
              <a:rPr sz="2200" dirty="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ー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5F18842-8621-4EE5-BB92-7D3ECD02CBFA}"/>
              </a:ext>
            </a:extLst>
          </p:cNvPr>
          <p:cNvSpPr>
            <a:spLocks noGrp="1"/>
          </p:cNvSpPr>
          <p:nvPr/>
        </p:nvSpPr>
        <p:spPr>
          <a:xfrm>
            <a:off x="9499406" y="3721294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AIの活用範囲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41888E4-E065-4953-B53C-A6E654894140}"/>
              </a:ext>
            </a:extLst>
          </p:cNvPr>
          <p:cNvSpPr>
            <a:spLocks noGrp="1"/>
          </p:cNvSpPr>
          <p:nvPr/>
        </p:nvSpPr>
        <p:spPr>
          <a:xfrm>
            <a:off x="9499406" y="4381052"/>
            <a:ext cx="7805890" cy="178358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Firebase接続・リアルタイム同期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30分集計・通知処理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エラー原因の調査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仕様書・発表メモの文章整理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58A01E4-FD4F-47FF-8A47-12B7089C90A9}"/>
              </a:ext>
            </a:extLst>
          </p:cNvPr>
          <p:cNvSpPr>
            <a:spLocks noGrp="1"/>
          </p:cNvSpPr>
          <p:nvPr/>
        </p:nvSpPr>
        <p:spPr>
          <a:xfrm>
            <a:off x="9499406" y="6290367"/>
            <a:ext cx="7805890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自分で実装した部分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614C139-8845-4A5B-B1A9-C4D94F482EFA}"/>
              </a:ext>
            </a:extLst>
          </p:cNvPr>
          <p:cNvSpPr>
            <a:spLocks noGrp="1"/>
          </p:cNvSpPr>
          <p:nvPr/>
        </p:nvSpPr>
        <p:spPr>
          <a:xfrm>
            <a:off x="9499406" y="6950126"/>
            <a:ext cx="7805890" cy="109209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基本画面・画面遷移・メニュー・カート操作</a:t>
            </a:r>
          </a:p>
          <a:p>
            <a:pPr marL="530860" indent="-265430" algn="l">
              <a:lnSpc>
                <a:spcPts val="3511"/>
              </a:lnSpc>
              <a:buChar char="•"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UI調整（ボタン・文言・配色）</a:t>
            </a:r>
          </a:p>
        </p:txBody>
      </p:sp>
    </p:spTree>
    <p:extLst>
      <p:ext uri="{BB962C8B-B14F-4D97-AF65-F5344CB8AC3E}">
        <p14:creationId xmlns:p14="http://schemas.microsoft.com/office/powerpoint/2010/main" val="1797130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FE9194B-6455-484F-A9C2-0B5AD57FB0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331435A4-427D-4F58-BAB8-7E8217D7B5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17E473E-9DA9-4243-AD9B-311FB15EE619}"/>
              </a:ext>
            </a:extLst>
          </p:cNvPr>
          <p:cNvSpPr>
            <a:spLocks noGrp="1"/>
          </p:cNvSpPr>
          <p:nvPr/>
        </p:nvSpPr>
        <p:spPr>
          <a:xfrm>
            <a:off x="992219" y="742950"/>
            <a:ext cx="16303562" cy="91459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実機説明</a:t>
            </a:r>
          </a:p>
        </p:txBody>
      </p:sp>
      <p:sp>
        <p:nvSpPr>
          <p:cNvPr id="7" name="demo-caption-1">
            <a:extLst>
              <a:ext uri="{FF2B5EF4-FFF2-40B4-BE49-F238E27FC236}">
                <a16:creationId xmlns:a16="http://schemas.microsoft.com/office/drawing/2014/main" id="{9B13004D-D5BE-4604-A8D7-02EEEFEF699C}"/>
              </a:ext>
            </a:extLst>
          </p:cNvPr>
          <p:cNvSpPr>
            <a:spLocks noGrp="1"/>
          </p:cNvSpPr>
          <p:nvPr/>
        </p:nvSpPr>
        <p:spPr>
          <a:xfrm>
            <a:off x="952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</a:t>
            </a:r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2500" y="2383036"/>
            <a:ext cx="4953000" cy="3482578"/>
          </a:xfrm>
          <a:prstGeom prst="rect">
            <a:avLst/>
          </a:prstGeom>
        </p:spPr>
      </p:pic>
      <p:sp>
        <p:nvSpPr>
          <p:cNvPr id="9" name="demo-caption-2">
            <a:extLst>
              <a:ext uri="{FF2B5EF4-FFF2-40B4-BE49-F238E27FC236}">
                <a16:creationId xmlns:a16="http://schemas.microsoft.com/office/drawing/2014/main" id="{BE9E80DE-1A7A-47F0-BB5C-9303FCDE8714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商品選択・飲酒ペース</a:t>
            </a:r>
          </a:p>
        </p:txBody>
      </p:sp>
      <p:pic>
        <p:nvPicPr>
          <p:cNvPr id="20" name="図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67500" y="2383036"/>
            <a:ext cx="4953000" cy="3482578"/>
          </a:xfrm>
          <a:prstGeom prst="rect">
            <a:avLst/>
          </a:prstGeom>
        </p:spPr>
      </p:pic>
      <p:sp>
        <p:nvSpPr>
          <p:cNvPr id="11" name="demo-caption-3">
            <a:extLst>
              <a:ext uri="{FF2B5EF4-FFF2-40B4-BE49-F238E27FC236}">
                <a16:creationId xmlns:a16="http://schemas.microsoft.com/office/drawing/2014/main" id="{281C2F4C-07A2-4501-8491-D25FA2B75A07}"/>
              </a:ext>
            </a:extLst>
          </p:cNvPr>
          <p:cNvSpPr>
            <a:spLocks noGrp="1"/>
          </p:cNvSpPr>
          <p:nvPr/>
        </p:nvSpPr>
        <p:spPr>
          <a:xfrm>
            <a:off x="12382500" y="1809750"/>
            <a:ext cx="495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注文履歴</a:t>
            </a:r>
          </a:p>
        </p:txBody>
      </p:sp>
      <p:pic>
        <p:nvPicPr>
          <p:cNvPr id="22" name="図 2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2382500" y="2383036"/>
            <a:ext cx="4953000" cy="3482578"/>
          </a:xfrm>
          <a:prstGeom prst="rect">
            <a:avLst/>
          </a:prstGeom>
        </p:spPr>
      </p:pic>
      <p:sp>
        <p:nvSpPr>
          <p:cNvPr id="13" name="demo-flow">
            <a:extLst>
              <a:ext uri="{FF2B5EF4-FFF2-40B4-BE49-F238E27FC236}">
                <a16:creationId xmlns:a16="http://schemas.microsoft.com/office/drawing/2014/main" id="{F4534FD0-CC61-423F-B2A1-A981E5B72B55}"/>
              </a:ext>
            </a:extLst>
          </p:cNvPr>
          <p:cNvSpPr>
            <a:spLocks noGrp="1"/>
          </p:cNvSpPr>
          <p:nvPr/>
        </p:nvSpPr>
        <p:spPr>
          <a:xfrm>
            <a:off x="2095500" y="7239000"/>
            <a:ext cx="1409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/>
          <a:p>
            <a:pPr algn="ctr">
              <a:def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24433A"/>
                </a:solidFill>
                <a:latin typeface="Yu Gothic"/>
                <a:ea typeface="Yu Gothic"/>
                <a:cs typeface="Yu Gothic"/>
              </a:rPr>
              <a:t>テーブル登録　→　商品選択・注文確定　→　履歴へ保存</a:t>
            </a:r>
          </a:p>
        </p:txBody>
      </p:sp>
    </p:spTree>
    <p:extLst>
      <p:ext uri="{BB962C8B-B14F-4D97-AF65-F5344CB8AC3E}">
        <p14:creationId xmlns:p14="http://schemas.microsoft.com/office/powerpoint/2010/main" val="160477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85EAD273-DE2E-469C-8263-BD1CF49DAB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9F4BE"/>
          </a:solid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542227E-BCF7-4FA5-B2ED-4D75F51C06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24384000" h="13716000">
                <a:moveTo>
                  <a:pt x="0" y="0"/>
                </a:moveTo>
                <a:lnTo>
                  <a:pt x="24384000" y="0"/>
                </a:lnTo>
                <a:lnTo>
                  <a:pt x="24384000" y="13716000"/>
                </a:lnTo>
                <a:lnTo>
                  <a:pt x="0" y="13716000"/>
                </a:lnTo>
                <a:close/>
              </a:path>
            </a:pathLst>
          </a:custGeom>
          <a:solidFill>
            <a:srgbClr val="FFFDE6"/>
          </a:solidFill>
        </p:spPr>
        <p:txBody>
          <a:bodyPr/>
          <a:lstStyle/>
          <a:p>
            <a:endParaRPr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269B4DD-86F9-41E0-9A98-FAC4509D60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58000" cy="10287000"/>
          </a:xfrm>
          <a:custGeom>
            <a:avLst/>
            <a:gdLst/>
            <a:ahLst/>
            <a:cxnLst/>
            <a:rect l="l" t="t" r="r" b="b"/>
            <a:pathLst>
              <a:path w="9144000" h="13716000">
                <a:moveTo>
                  <a:pt x="0" y="0"/>
                </a:moveTo>
                <a:lnTo>
                  <a:pt x="9144000" y="0"/>
                </a:lnTo>
                <a:lnTo>
                  <a:pt x="9144000" y="13716000"/>
                </a:lnTo>
                <a:lnTo>
                  <a:pt x="0" y="1371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E281218-CB59-4617-9D5E-93D159012C42}"/>
              </a:ext>
            </a:extLst>
          </p:cNvPr>
          <p:cNvSpPr>
            <a:spLocks noGrp="1"/>
          </p:cNvSpPr>
          <p:nvPr/>
        </p:nvSpPr>
        <p:spPr>
          <a:xfrm>
            <a:off x="7850238" y="1360284"/>
            <a:ext cx="9445523" cy="91455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6864"/>
              </a:lnSpc>
              <a:buNone/>
            </a:pPr>
            <a:r>
              <a:rPr sz="5500" b="1">
                <a:solidFill>
                  <a:srgbClr val="233939"/>
                </a:solidFill>
                <a:latin typeface="Syne Bold"/>
                <a:ea typeface="Syne Bold"/>
                <a:cs typeface="Syne Bold"/>
              </a:rPr>
              <a:t>作品のまとめ</a:t>
            </a:r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9C483D6-576D-4776-B670-423F9310D314}"/>
              </a:ext>
            </a:extLst>
          </p:cNvPr>
          <p:cNvSpPr>
            <a:spLocks noGrp="1"/>
          </p:cNvSpPr>
          <p:nvPr/>
        </p:nvSpPr>
        <p:spPr>
          <a:xfrm>
            <a:off x="7956499" y="2708824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6"/>
                </a:lnTo>
                <a:lnTo>
                  <a:pt x="0" y="425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D32C9E2-0686-4AE8-B9AE-59DB439657F3}"/>
              </a:ext>
            </a:extLst>
          </p:cNvPr>
          <p:cNvSpPr>
            <a:spLocks noGrp="1"/>
          </p:cNvSpPr>
          <p:nvPr/>
        </p:nvSpPr>
        <p:spPr>
          <a:xfrm>
            <a:off x="8771630" y="2680992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注文から履歴までを一体化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58EDFC8-1A55-4BF1-9E23-815429D6D35E}"/>
              </a:ext>
            </a:extLst>
          </p:cNvPr>
          <p:cNvSpPr>
            <a:spLocks noGrp="1"/>
          </p:cNvSpPr>
          <p:nvPr/>
        </p:nvSpPr>
        <p:spPr>
          <a:xfrm>
            <a:off x="8771630" y="322733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テーブル登録・商品選択・注文確定・履歴保存</a:t>
            </a:r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9EF85AB0-3BD5-4081-9C04-70BCF3816BFB}"/>
              </a:ext>
            </a:extLst>
          </p:cNvPr>
          <p:cNvSpPr>
            <a:spLocks noGrp="1"/>
          </p:cNvSpPr>
          <p:nvPr/>
        </p:nvSpPr>
        <p:spPr>
          <a:xfrm>
            <a:off x="7956499" y="4342505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585CDCF-E7DF-4BDB-8F52-18A965A4DC67}"/>
              </a:ext>
            </a:extLst>
          </p:cNvPr>
          <p:cNvSpPr>
            <a:spLocks noGrp="1"/>
          </p:cNvSpPr>
          <p:nvPr/>
        </p:nvSpPr>
        <p:spPr>
          <a:xfrm>
            <a:off x="8771630" y="4314673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飲酒ペースを見える化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B938FE-4516-4E8F-87D8-D789D0B413EB}"/>
              </a:ext>
            </a:extLst>
          </p:cNvPr>
          <p:cNvSpPr>
            <a:spLocks noGrp="1"/>
          </p:cNvSpPr>
          <p:nvPr/>
        </p:nvSpPr>
        <p:spPr>
          <a:xfrm>
            <a:off x="8771630" y="486102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純アルコール量を計算し、直近30分の合計を表示</a:t>
            </a:r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A4B9A7FC-1240-482E-ABF2-58D0AB2FD0DF}"/>
              </a:ext>
            </a:extLst>
          </p:cNvPr>
          <p:cNvSpPr>
            <a:spLocks noGrp="1"/>
          </p:cNvSpPr>
          <p:nvPr/>
        </p:nvSpPr>
        <p:spPr>
          <a:xfrm>
            <a:off x="7956499" y="5976195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6" y="0"/>
                </a:lnTo>
                <a:lnTo>
                  <a:pt x="425206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88" r="-888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1ABAADF-B678-4A1E-ACC4-D238B96E4E4D}"/>
              </a:ext>
            </a:extLst>
          </p:cNvPr>
          <p:cNvSpPr>
            <a:spLocks noGrp="1"/>
          </p:cNvSpPr>
          <p:nvPr/>
        </p:nvSpPr>
        <p:spPr>
          <a:xfrm>
            <a:off x="8771630" y="5948362"/>
            <a:ext cx="8524132" cy="46196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369"/>
              </a:lnSpc>
              <a:buNone/>
            </a:pPr>
            <a:r>
              <a:rPr sz="2700" b="1">
                <a:solidFill>
                  <a:srgbClr val="3B4E4E"/>
                </a:solidFill>
                <a:latin typeface="Syne Bold"/>
                <a:ea typeface="Syne Bold"/>
                <a:cs typeface="Syne Bold"/>
              </a:rPr>
              <a:t>Flutterで動くアプリとして完成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A99E1ACE-3E9D-4D13-8DCE-92209A3F0004}"/>
              </a:ext>
            </a:extLst>
          </p:cNvPr>
          <p:cNvSpPr>
            <a:spLocks noGrp="1"/>
          </p:cNvSpPr>
          <p:nvPr/>
        </p:nvSpPr>
        <p:spPr>
          <a:xfrm>
            <a:off x="8771630" y="6494707"/>
            <a:ext cx="8524132" cy="5393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Firebase連携・テスト・資料作成まで実施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8F8BB3CF-C331-4990-B956-DCDDA400E6E0}"/>
              </a:ext>
            </a:extLst>
          </p:cNvPr>
          <p:cNvSpPr>
            <a:spLocks noGrp="1"/>
          </p:cNvSpPr>
          <p:nvPr/>
        </p:nvSpPr>
        <p:spPr>
          <a:xfrm>
            <a:off x="7850238" y="7353005"/>
            <a:ext cx="38100" cy="1545145"/>
          </a:xfrm>
          <a:custGeom>
            <a:avLst/>
            <a:gdLst/>
            <a:ahLst/>
            <a:cxnLst/>
            <a:rect l="l" t="t" r="r" b="b"/>
            <a:pathLst>
              <a:path w="50800" h="2060194">
                <a:moveTo>
                  <a:pt x="0" y="25400"/>
                </a:moveTo>
                <a:cubicBezTo>
                  <a:pt x="0" y="11430"/>
                  <a:pt x="11430" y="0"/>
                  <a:pt x="25400" y="0"/>
                </a:cubicBezTo>
                <a:cubicBezTo>
                  <a:pt x="39370" y="0"/>
                  <a:pt x="50800" y="11430"/>
                  <a:pt x="50800" y="25400"/>
                </a:cubicBezTo>
                <a:lnTo>
                  <a:pt x="50800" y="2034794"/>
                </a:lnTo>
                <a:cubicBezTo>
                  <a:pt x="50800" y="2048764"/>
                  <a:pt x="39370" y="2060194"/>
                  <a:pt x="25400" y="2060194"/>
                </a:cubicBezTo>
                <a:cubicBezTo>
                  <a:pt x="11430" y="2060194"/>
                  <a:pt x="0" y="2048764"/>
                  <a:pt x="0" y="2034794"/>
                </a:cubicBezTo>
                <a:close/>
              </a:path>
            </a:pathLst>
          </a:custGeom>
          <a:solidFill>
            <a:srgbClr val="224435"/>
          </a:solidFill>
        </p:spPr>
        <p:txBody>
          <a:bodyPr/>
          <a:lstStyle/>
          <a:p>
            <a:endParaRPr/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CE4A5412-BCC3-40CF-9D43-22BC57983349}"/>
              </a:ext>
            </a:extLst>
          </p:cNvPr>
          <p:cNvSpPr>
            <a:spLocks noGrp="1"/>
          </p:cNvSpPr>
          <p:nvPr/>
        </p:nvSpPr>
        <p:spPr>
          <a:xfrm>
            <a:off x="8275444" y="7586215"/>
            <a:ext cx="9020327" cy="89179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SakeStopは、注文の流れの中で、</a:t>
            </a:r>
          </a:p>
          <a:p>
            <a:pPr algn="l">
              <a:lnSpc>
                <a:spcPts val="3511"/>
              </a:lnSpc>
              <a:buNone/>
            </a:pPr>
            <a:r>
              <a:rPr sz="2200">
                <a:solidFill>
                  <a:srgbClr val="3B4E4E"/>
                </a:solidFill>
                <a:latin typeface="Overpass Light"/>
                <a:ea typeface="Overpass Light"/>
                <a:cs typeface="Overpass Light"/>
              </a:rPr>
              <a:t>自分の飲酒ペースを振り返れるアプリとして完成しました。</a:t>
            </a:r>
          </a:p>
        </p:txBody>
      </p:sp>
      <p:sp>
        <p:nvSpPr>
          <p:cNvPr id="23" name="gamma-badge-cover">
            <a:extLst>
              <a:ext uri="{FF2B5EF4-FFF2-40B4-BE49-F238E27FC236}">
                <a16:creationId xmlns:a16="http://schemas.microsoft.com/office/drawing/2014/main" id="{13DA4AA7-D167-42C1-A9CA-2A593727DFA3}"/>
              </a:ext>
            </a:extLst>
          </p:cNvPr>
          <p:cNvSpPr>
            <a:spLocks noGrp="1"/>
          </p:cNvSpPr>
          <p:nvPr/>
        </p:nvSpPr>
        <p:spPr>
          <a:xfrm>
            <a:off x="15982950" y="9601200"/>
            <a:ext cx="2305050" cy="685800"/>
          </a:xfrm>
          <a:prstGeom prst="rect">
            <a:avLst/>
          </a:prstGeom>
          <a:solidFill>
            <a:srgbClr val="FFFDE6"/>
          </a:solidFill>
          <a:ln w="0">
            <a:noFill/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3672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729</Words>
  <Application>Microsoft Office PowerPoint</Application>
  <DocSecurity>0</DocSecurity>
  <PresentationFormat>ユーザー設定</PresentationFormat>
  <Paragraphs>151</Paragraphs>
  <Slides>12</Slides>
  <Notes>12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Overpass Light</vt:lpstr>
      <vt:lpstr>Calibri</vt:lpstr>
      <vt:lpstr>Syne Bold</vt:lpstr>
      <vt:lpstr>Overpass Bold</vt:lpstr>
      <vt:lpstr>Yu Gothic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木村 耀丸(zeal23410142)</cp:lastModifiedBy>
  <cp:revision>2</cp:revision>
  <dcterms:created xsi:type="dcterms:W3CDTF">2026-07-14T06:26:21Z</dcterms:created>
  <dcterms:modified xsi:type="dcterms:W3CDTF">2026-07-15T01:27:02Z</dcterms:modified>
</cp:coreProperties>
</file>