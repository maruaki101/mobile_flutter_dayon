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Yu Gothic" panose="020B0400000000000000" pitchFamily="50" charset="-128"/>
      <p:regular r:id="rId14"/>
      <p:bold r:id="rId15"/>
    </p:embeddedFont>
    <p:embeddedFont>
      <p:font typeface="Overpass Bold" panose="020B0600070205080204" charset="0"/>
      <p:regular r:id="rId16"/>
    </p:embeddedFont>
    <p:embeddedFont>
      <p:font typeface="Overpass Light" panose="020B0600070205080204" charset="0"/>
      <p:regular r:id="rId17"/>
    </p:embeddedFont>
    <p:embeddedFont>
      <p:font typeface="Syne Bold" panose="020B0600070205080204" charset="0"/>
      <p:regular r:id="rId18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9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20秒】</a:t>
            </a:r>
          </a:p>
          <a:p>
            <a:r>
              <a:t>SakeStopについて発表します。</a:t>
            </a:r>
          </a:p>
          <a:p>
            <a:r>
              <a:t>居酒屋での注文操作と飲酒ペースの記録を一つにまとめたFlutterアプリです。</a:t>
            </a:r>
          </a:p>
          <a:p>
            <a:r>
              <a:t>目的、実装内容、テスト結果を説明した後、実機操作をお見せします。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このアプリは飲酒を強制的に止めるものではなく、自分のペースに気づくきっかけを作るものです。</a:t>
            </a:r>
          </a:p>
          <a:p>
            <a:r>
              <a:t>注文を禁止すると店舗では使いにくいため、通常の注文操作の中で純アルコール量と直近30分の量を確認できる形にしました。</a:t>
            </a:r>
          </a:p>
          <a:p>
            <a:r>
              <a:t>表示は医療的な判断ではなく、振り返りの目安です。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利用の流れは四つです。</a:t>
            </a:r>
          </a:p>
          <a:p>
            <a:r>
              <a:t>テーブルIDとニックネームで開始し、商品を選び、カートで注文を確定します。</a:t>
            </a:r>
          </a:p>
          <a:p>
            <a:r>
              <a:t>確定した注文はFirebaseへ保存され、注文履歴と飲酒量へ反映されます。</a:t>
            </a:r>
          </a:p>
          <a:p>
            <a:r>
              <a:t>注文と記録が一つの流れで完結する点が特徴です。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50秒】</a:t>
            </a:r>
          </a:p>
          <a:p>
            <a:r>
              <a:t>当初は飲んだ杯数を自分で入力するタップカウント型でした。</a:t>
            </a:r>
          </a:p>
          <a:p>
            <a:r>
              <a:t>しかし毎回アプリを開く必要があり、入力忘れが起きやすいと考えました。</a:t>
            </a:r>
          </a:p>
          <a:p>
            <a:r>
              <a:t>そこで5月に方向転換し、注文確定をそのまま記録として使う方式に変更しました。</a:t>
            </a:r>
          </a:p>
          <a:p>
            <a:r>
              <a:t>追加の記録操作が不要なので、実際の利用場面に合いやすくなりました。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55秒】</a:t>
            </a:r>
          </a:p>
          <a:p>
            <a:r>
              <a:t>主な機能は四つです。</a:t>
            </a:r>
          </a:p>
          <a:p>
            <a:r>
              <a:t>テーブルIDとニックネームによる利用開始、商品の追加や数量変更ができるカート、Firebaseへの注文履歴保存、純アルコール量と直近30分の表示です。</a:t>
            </a:r>
          </a:p>
          <a:p>
            <a:r>
              <a:t>ニックネームが空欄ならゲストとして開始します。</a:t>
            </a:r>
          </a:p>
          <a:p>
            <a:r>
              <a:t>確定した注文はリアルタイムに履歴へ反映されます。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純アルコール量は、容量かける度数かける0.8、割る100で計算します。</a:t>
            </a:r>
          </a:p>
          <a:p>
            <a:r>
              <a:t>500ミリリットル、5パーセントのビールでは20グラムです。</a:t>
            </a:r>
          </a:p>
          <a:p>
            <a:r>
              <a:t>商品ごとに容量と度数を持たせ、結果を履歴と飲酒ペース表示に使っています。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直近30分の純アルコール量が60グラム以上になると注意を表示します。</a:t>
            </a:r>
          </a:p>
          <a:p>
            <a:r>
              <a:t>同じ注意が続かないよう、通知後30分の間隔も設定しました。</a:t>
            </a:r>
          </a:p>
          <a:p>
            <a:r>
              <a:t>これは安全性や飲酒可否を判断する機能ではなく、自分のペースを振り返るための目安です。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開発環境はFlutter 3.35.7、Dart 3.9.2で、Firebase Realtime DatabaseとGitを使いました。</a:t>
            </a:r>
          </a:p>
          <a:p>
            <a:r>
              <a:t>5月に仕様を見直し、6月にFirebase、カート、履歴、ペース判定を実装しました。</a:t>
            </a:r>
          </a:p>
          <a:p>
            <a:r>
              <a:t>7月はUI調整と不要機能の削除を行い、変更過程をコミット履歴へ残しました。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55秒】</a:t>
            </a:r>
          </a:p>
          <a:p>
            <a:r>
              <a:t>静的解析、単体テスト、Widgetテストを実施し、現在11件すべて成功しています。</a:t>
            </a:r>
          </a:p>
          <a:p>
            <a:r>
              <a:t>計算、30分集計、60グラムの境界、通知間隔、テーブルID検証、画面遷移を確認しました。</a:t>
            </a:r>
          </a:p>
          <a:p>
            <a:r>
              <a:t>AIはFirebaseの非同期処理、集計処理、エラー調査、仕様書と発表メモの文章整理に使い、最終的な内容と動作は自分で確認しました。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90秒／実機操作】</a:t>
            </a:r>
          </a:p>
          <a:p>
            <a:r>
              <a:t>1. テーブルID「T01」で開始し、入力規則を説明します。</a:t>
            </a:r>
          </a:p>
          <a:p>
            <a:r>
              <a:t>2. ニックネームを入力します。空欄はゲストになります。</a:t>
            </a:r>
          </a:p>
          <a:p>
            <a:r>
              <a:t>3. 生ビールと料理をカートへ追加します。</a:t>
            </a:r>
          </a:p>
          <a:p>
            <a:r>
              <a:t>4. 数量変更を示して注文を確定します。ここでFirebaseへ保存されます。</a:t>
            </a:r>
          </a:p>
          <a:p>
            <a:r>
              <a:t>5. 注文履歴を開き、商品名、時刻、純アルコール量を確認します。</a:t>
            </a:r>
          </a:p>
          <a:p>
            <a:r>
              <a:t>時間があればビール3杯分で60グラム以上の注意表示を示します。</a:t>
            </a:r>
          </a:p>
          <a:p>
            <a:r>
              <a:t>通信に失敗した場合は、このページの3画面を使って同じ流れを説明します。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35秒】</a:t>
            </a:r>
          </a:p>
          <a:p>
            <a:r>
              <a:t>今後は店舗スタッフ向けの受注・会計・メニュー管理、利用者認証とFirebaseルール、実店舗での検証が必要です。</a:t>
            </a:r>
          </a:p>
          <a:p>
            <a:r>
              <a:t>SakeStopは、注文体験を邪魔せずに自分の飲酒ペースを振り返れるアプリとして実装しました。</a:t>
            </a:r>
          </a:p>
          <a:p>
            <a:r>
              <a:t>以上で発表を終わります。ありがとうございました。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68C29-C276-4DB6-B83E-8D4FEC91E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6B67A0-9C4A-4551-973F-25D82059D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18C67-BF08-4968-87CC-C5B0B218FD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6F0B0-335B-4E2A-B76F-BBCB5A63C22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D65AB-BCF5-49C9-88F4-F12791C12C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9EAE2-EF41-4ABD-9C69-DBCBFAC88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74D3-3E01-465D-A071-2CD0992D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EB537-33DB-4F34-9403-D2CBD52A49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013E9-322F-40EC-B4A6-220A0D9776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3BC11-586E-42FE-9252-679F0A247C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EF588-E59A-49E8-AF20-C74CA611A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07C56-9610-4211-813A-8CC79361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826BA-9B51-4A5B-BC00-E447FC5F2DC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52003-F6E4-4F33-8F52-85D8821AF3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C663B-507C-4401-9767-C1D40D1E58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A1717-7D60-4D8A-A96E-DA13031B6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E287F-AD5F-4D26-A2F5-0AEB39DA9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D2310-7DBA-43AA-AEE4-A1326059D64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3F609B-E296-46D3-A822-F011D2C7D8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83FDD-654D-415D-8F67-1CB7D5DE4B6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1D460-7158-44B6-B8F6-E62C614AA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EE16B-A237-4E7F-AC57-236B17C2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0E8A7-90CD-4140-A2A1-C49712C6B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84143C-F0B0-42A3-993A-51DAD8B1DBC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08A66-586A-4361-805E-FA6727F4369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3CC53F-DFB2-4B01-A694-03BC85FE295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2F8F6A-06AD-49D5-96DD-C89D408CD5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D205FB-3A0B-46D9-A9D1-AE8DC22569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41F4B1-4AFA-4E64-90D8-5DF21F1BE9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ADEB-BAED-4911-BB7B-A12B8532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05DAC-2F88-4741-9597-94D140F0B4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D4982B-20E5-42A1-B397-6AA989996DF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9B44D-4763-4B96-9257-F8BDE193E4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6599A0-4C4F-4D22-9554-8CD992CB00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93D3A3-F711-43AB-AADC-CCC9C3C907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765E8-4180-4012-A6F4-F67F6B7DF8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B3D1-991C-416F-917D-E70408B4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65201-07A1-43B4-8A77-6EA582CA1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3390C-69C4-41B0-9136-401E721167D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B18CF-83AD-40CC-82C4-6B87AC128D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8B97E-8877-47BA-A1F9-7CA80FB339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E474-F460-43C1-94C7-A17547C7D9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CA0D1-513B-45A1-96BC-FCA6122AF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867D5D-9EF6-4F30-BA05-20670F0A6E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32F2C-4A2B-4A15-94CE-E74E968ED8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5BDEF-641C-4B7A-A5E9-1497C9A418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502-E2E5-4A1B-9B15-EEED5E2436D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0034F5-966D-40BC-B784-FA09E6EA08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9BA31-19C9-4805-898F-63A7D0BE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0FC478-D52A-4F73-90F0-46A910779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CEAB3-F976-4317-9C33-3C72183EBA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66739-4B95-4A57-989F-A73733F85A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4E71D-EE7A-413E-9BC3-B4BA763F51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F37FF9-5C62-47DB-906F-860C4AF3C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3CDD55-AF52-4F56-B9EF-97917BA0F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45DAE-1FE2-4860-A595-83E1BCDCCDA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1DE04-7444-49B8-A86E-3E3EA5F799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209C3-BBC8-452E-96E5-3AF849188F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B46436-3BFF-4C01-80CC-2931DA72E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C9566-FCC6-4227-B701-B66AFA33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59B1B-54D4-46B3-8E59-312B6B2AA96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F217B-5F81-47E3-8F9B-3C4BC35A4D9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EA99D-E7AE-4A43-9247-99B8DDDC9F6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58E2AB53-0560-42B7-B9CC-6314D2DD2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C0063B-079E-4EB7-B0E4-0C0F03A7B2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 dirty="0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F40831B-3D1E-470B-8D10-21B67DEF4412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CF020D6-4CAC-4FE0-A629-639B78BC928A}"/>
              </a:ext>
            </a:extLst>
          </p:cNvPr>
          <p:cNvSpPr>
            <a:spLocks noGrp="1"/>
          </p:cNvSpPr>
          <p:nvPr/>
        </p:nvSpPr>
        <p:spPr>
          <a:xfrm>
            <a:off x="992238" y="4005710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SakeStop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274696D-BD78-4A6A-B6D0-346803FE209A}"/>
              </a:ext>
            </a:extLst>
          </p:cNvPr>
          <p:cNvSpPr>
            <a:spLocks noGrp="1"/>
          </p:cNvSpPr>
          <p:nvPr/>
        </p:nvSpPr>
        <p:spPr>
          <a:xfrm>
            <a:off x="992238" y="5259734"/>
            <a:ext cx="9445523" cy="42126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lang="ja-JP" altLang="en-US"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飲酒ペースのわかる注文アプリ</a:t>
            </a:r>
            <a:endParaRPr sz="2200" dirty="0">
              <a:solidFill>
                <a:srgbClr val="3B4E4E"/>
              </a:solidFill>
              <a:latin typeface="Overpass Light"/>
              <a:ea typeface="Overpass Light"/>
              <a:cs typeface="Overpas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117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DA0FB0A-E389-42E9-95A4-D910700FE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D4717E-A514-4710-88F6-3E823AD38F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88D03FF9-5DE5-4167-AA48-F2327521468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2" r="-6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EA1415BC-0C49-4AFE-8B9A-E5478A506078}"/>
              </a:ext>
            </a:extLst>
          </p:cNvPr>
          <p:cNvSpPr>
            <a:spLocks noGrp="1"/>
          </p:cNvSpPr>
          <p:nvPr/>
        </p:nvSpPr>
        <p:spPr>
          <a:xfrm>
            <a:off x="987476" y="4527794"/>
            <a:ext cx="9455086" cy="3314985"/>
          </a:xfrm>
          <a:custGeom>
            <a:avLst/>
            <a:gdLst/>
            <a:ahLst/>
            <a:cxnLst/>
            <a:rect l="l" t="t" r="r" b="b"/>
            <a:pathLst>
              <a:path w="12606782" h="4419981">
                <a:moveTo>
                  <a:pt x="0" y="159258"/>
                </a:moveTo>
                <a:cubicBezTo>
                  <a:pt x="0" y="71247"/>
                  <a:pt x="71247" y="0"/>
                  <a:pt x="159258" y="0"/>
                </a:cubicBezTo>
                <a:lnTo>
                  <a:pt x="12447524" y="0"/>
                </a:lnTo>
                <a:cubicBezTo>
                  <a:pt x="12535535" y="0"/>
                  <a:pt x="12606782" y="71247"/>
                  <a:pt x="12606782" y="159258"/>
                </a:cubicBezTo>
                <a:lnTo>
                  <a:pt x="12606782" y="4260723"/>
                </a:lnTo>
                <a:cubicBezTo>
                  <a:pt x="12606782" y="4348734"/>
                  <a:pt x="12535535" y="4419981"/>
                  <a:pt x="12447524" y="4419981"/>
                </a:cubicBezTo>
                <a:lnTo>
                  <a:pt x="159258" y="4419981"/>
                </a:lnTo>
                <a:cubicBezTo>
                  <a:pt x="71247" y="4419981"/>
                  <a:pt x="0" y="4348734"/>
                  <a:pt x="0" y="4260723"/>
                </a:cubicBezTo>
                <a:close/>
              </a:path>
            </a:pathLst>
          </a:custGeom>
          <a:solidFill>
            <a:srgbClr val="DDEEE6"/>
          </a:solidFill>
          <a:ln w="9526">
            <a:solidFill>
              <a:srgbClr val="C3D4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ED100BD9-1FAB-4953-BB0F-099B2C1356FA}"/>
              </a:ext>
            </a:extLst>
          </p:cNvPr>
          <p:cNvSpPr>
            <a:spLocks noGrp="1"/>
          </p:cNvSpPr>
          <p:nvPr/>
        </p:nvSpPr>
        <p:spPr>
          <a:xfrm>
            <a:off x="1001763" y="4542082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76CF3778-337A-4018-A5B3-7E21D904AC35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5ECDDEB-1B86-429A-A48D-3793663134FF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38100"/>
          </a:xfrm>
          <a:custGeom>
            <a:avLst/>
            <a:gdLst/>
            <a:ahLst/>
            <a:cxnLst/>
            <a:rect l="l" t="t" r="r" b="b"/>
            <a:pathLst>
              <a:path w="12568682" h="50800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lnTo>
                  <a:pt x="12543282" y="0"/>
                </a:lnTo>
                <a:cubicBezTo>
                  <a:pt x="12557251" y="0"/>
                  <a:pt x="12568682" y="11430"/>
                  <a:pt x="12568682" y="25400"/>
                </a:cubicBezTo>
                <a:cubicBezTo>
                  <a:pt x="12568682" y="39370"/>
                  <a:pt x="12557251" y="50800"/>
                  <a:pt x="12543282" y="50800"/>
                </a:cubicBezTo>
                <a:lnTo>
                  <a:pt x="25400" y="50800"/>
                </a:lnTo>
                <a:cubicBezTo>
                  <a:pt x="11430" y="50800"/>
                  <a:pt x="0" y="39370"/>
                  <a:pt x="0" y="25400"/>
                </a:cubicBezTo>
                <a:close/>
              </a:path>
            </a:pathLst>
          </a:custGeom>
          <a:solidFill>
            <a:srgbClr val="C3D4CC"/>
          </a:solid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688FE79-FF58-40B1-967A-025F78B22DCD}"/>
              </a:ext>
            </a:extLst>
          </p:cNvPr>
          <p:cNvSpPr>
            <a:spLocks noGrp="1"/>
          </p:cNvSpPr>
          <p:nvPr/>
        </p:nvSpPr>
        <p:spPr>
          <a:xfrm>
            <a:off x="992238" y="2420245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アプリの目的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6B6A3A4-1531-4835-B71D-9DD11B1A2D11}"/>
              </a:ext>
            </a:extLst>
          </p:cNvPr>
          <p:cNvSpPr>
            <a:spLocks noGrp="1"/>
          </p:cNvSpPr>
          <p:nvPr/>
        </p:nvSpPr>
        <p:spPr>
          <a:xfrm>
            <a:off x="992238" y="3674269"/>
            <a:ext cx="10359923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</a:t>
            </a: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強制的に止める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アプリではありません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50B5CE4-309B-4BAB-9871-B1996538D280}"/>
              </a:ext>
            </a:extLst>
          </p:cNvPr>
          <p:cNvSpPr>
            <a:spLocks noGrp="1"/>
          </p:cNvSpPr>
          <p:nvPr/>
        </p:nvSpPr>
        <p:spPr>
          <a:xfrm>
            <a:off x="1285284" y="4806553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❌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強制ストップ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05BE07B-12E1-4E93-A68D-76A76582EFB5}"/>
              </a:ext>
            </a:extLst>
          </p:cNvPr>
          <p:cNvSpPr>
            <a:spLocks noGrp="1"/>
          </p:cNvSpPr>
          <p:nvPr/>
        </p:nvSpPr>
        <p:spPr>
          <a:xfrm>
            <a:off x="1285284" y="5362423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飲酒を制限する機能はありません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095EE85-FF58-4825-85A4-FF523EF2A699}"/>
              </a:ext>
            </a:extLst>
          </p:cNvPr>
          <p:cNvSpPr>
            <a:spLocks noGrp="1"/>
          </p:cNvSpPr>
          <p:nvPr/>
        </p:nvSpPr>
        <p:spPr>
          <a:xfrm>
            <a:off x="1285284" y="6449768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✅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気づきを促す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6E04541-2F11-4CED-A691-5C7F181F2079}"/>
              </a:ext>
            </a:extLst>
          </p:cNvPr>
          <p:cNvSpPr>
            <a:spLocks noGrp="1"/>
          </p:cNvSpPr>
          <p:nvPr/>
        </p:nvSpPr>
        <p:spPr>
          <a:xfrm>
            <a:off x="1285284" y="7005637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注文のついでに、自分の飲酒ペースを確認できます</a:t>
            </a:r>
          </a:p>
        </p:txBody>
      </p:sp>
    </p:spTree>
    <p:extLst>
      <p:ext uri="{BB962C8B-B14F-4D97-AF65-F5344CB8AC3E}">
        <p14:creationId xmlns:p14="http://schemas.microsoft.com/office/powerpoint/2010/main" val="1246569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92090EA2-E2C6-4245-BC39-CA1EF16AF3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33280C7-3589-430E-8CFC-450C6FCC9A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107382-506A-439C-8733-0755C4B3725A}"/>
              </a:ext>
            </a:extLst>
          </p:cNvPr>
          <p:cNvSpPr>
            <a:spLocks noGrp="1"/>
          </p:cNvSpPr>
          <p:nvPr/>
        </p:nvSpPr>
        <p:spPr>
          <a:xfrm>
            <a:off x="992238" y="771373"/>
            <a:ext cx="16303523" cy="53117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993"/>
              </a:lnSpc>
              <a:buNone/>
            </a:pPr>
            <a:r>
              <a:rPr sz="32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アプリの利用フロー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C966523F-E024-479A-A030-5B598021C869}"/>
              </a:ext>
            </a:extLst>
          </p:cNvPr>
          <p:cNvSpPr>
            <a:spLocks noGrp="1"/>
          </p:cNvSpPr>
          <p:nvPr/>
        </p:nvSpPr>
        <p:spPr>
          <a:xfrm>
            <a:off x="1276645" y="1492006"/>
            <a:ext cx="15734727" cy="7691151"/>
          </a:xfrm>
          <a:custGeom>
            <a:avLst/>
            <a:gdLst/>
            <a:ahLst/>
            <a:cxnLst/>
            <a:rect l="l" t="t" r="r" b="b"/>
            <a:pathLst>
              <a:path w="20979637" h="10254869">
                <a:moveTo>
                  <a:pt x="0" y="0"/>
                </a:moveTo>
                <a:lnTo>
                  <a:pt x="20979637" y="0"/>
                </a:lnTo>
                <a:lnTo>
                  <a:pt x="20979637" y="10254869"/>
                </a:lnTo>
                <a:lnTo>
                  <a:pt x="0" y="1025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815E761-E9EA-44B5-8BD1-EC71B518AD16}"/>
              </a:ext>
            </a:extLst>
          </p:cNvPr>
          <p:cNvSpPr>
            <a:spLocks noGrp="1"/>
          </p:cNvSpPr>
          <p:nvPr/>
        </p:nvSpPr>
        <p:spPr>
          <a:xfrm>
            <a:off x="2467880" y="4119210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テーブル登録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F152C45-2208-4D0F-A642-E00E14D009B8}"/>
              </a:ext>
            </a:extLst>
          </p:cNvPr>
          <p:cNvSpPr>
            <a:spLocks noGrp="1"/>
          </p:cNvSpPr>
          <p:nvPr/>
        </p:nvSpPr>
        <p:spPr>
          <a:xfrm>
            <a:off x="10342312" y="23584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商品を選択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DBA422E-4686-4570-8EEA-51F31B62D002}"/>
              </a:ext>
            </a:extLst>
          </p:cNvPr>
          <p:cNvSpPr>
            <a:spLocks noGrp="1"/>
          </p:cNvSpPr>
          <p:nvPr/>
        </p:nvSpPr>
        <p:spPr>
          <a:xfrm>
            <a:off x="12151709" y="59777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注文確定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DD9276F-BAA1-4611-A3C2-B2029DABE837}"/>
              </a:ext>
            </a:extLst>
          </p:cNvPr>
          <p:cNvSpPr>
            <a:spLocks noGrp="1"/>
          </p:cNvSpPr>
          <p:nvPr/>
        </p:nvSpPr>
        <p:spPr>
          <a:xfrm>
            <a:off x="4261228" y="7771124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履歴に保存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80376B2-851F-45A3-BDFB-F0E3450BA37E}"/>
              </a:ext>
            </a:extLst>
          </p:cNvPr>
          <p:cNvSpPr>
            <a:spLocks noGrp="1"/>
          </p:cNvSpPr>
          <p:nvPr/>
        </p:nvSpPr>
        <p:spPr>
          <a:xfrm>
            <a:off x="992238" y="9280179"/>
            <a:ext cx="17217923" cy="2163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1512"/>
              </a:lnSpc>
              <a:buNone/>
            </a:pPr>
            <a:r>
              <a:rPr sz="1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注文操作と飲酒ペースの記録が、一つのフローで完結します</a:t>
            </a:r>
          </a:p>
        </p:txBody>
      </p:sp>
      <p:sp>
        <p:nvSpPr>
          <p:cNvPr id="16" name="gamma-badge-cover">
            <a:extLst>
              <a:ext uri="{FF2B5EF4-FFF2-40B4-BE49-F238E27FC236}">
                <a16:creationId xmlns:a16="http://schemas.microsoft.com/office/drawing/2014/main" id="{B189EB43-56D3-48E4-9843-080BCD7992F0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5106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C29BE29-653A-4E3F-9976-208009A621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E15627B-BC9B-4F53-8E44-1AC29EDD77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EFC17DF-DDBD-4481-94E8-1DC3F258DF2E}"/>
              </a:ext>
            </a:extLst>
          </p:cNvPr>
          <p:cNvSpPr>
            <a:spLocks noGrp="1"/>
          </p:cNvSpPr>
          <p:nvPr/>
        </p:nvSpPr>
        <p:spPr>
          <a:xfrm>
            <a:off x="992238" y="2770880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なぜ「注文記録」方式にしたのか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ED07ED28-13E0-405B-84EB-EA407A92CE32}"/>
              </a:ext>
            </a:extLst>
          </p:cNvPr>
          <p:cNvSpPr>
            <a:spLocks noGrp="1"/>
          </p:cNvSpPr>
          <p:nvPr/>
        </p:nvSpPr>
        <p:spPr>
          <a:xfrm>
            <a:off x="788041" y="4110628"/>
            <a:ext cx="8214264" cy="3376898"/>
          </a:xfrm>
          <a:custGeom>
            <a:avLst/>
            <a:gdLst/>
            <a:ahLst/>
            <a:cxnLst/>
            <a:rect l="l" t="t" r="r" b="b"/>
            <a:pathLst>
              <a:path w="10952353" h="4502531">
                <a:moveTo>
                  <a:pt x="0" y="272161"/>
                </a:moveTo>
                <a:cubicBezTo>
                  <a:pt x="0" y="121920"/>
                  <a:pt x="121920" y="0"/>
                  <a:pt x="272161" y="0"/>
                </a:cubicBezTo>
                <a:lnTo>
                  <a:pt x="10680192" y="0"/>
                </a:lnTo>
                <a:cubicBezTo>
                  <a:pt x="10830561" y="0"/>
                  <a:pt x="10952353" y="121920"/>
                  <a:pt x="10952353" y="272161"/>
                </a:cubicBezTo>
                <a:lnTo>
                  <a:pt x="10952353" y="4230370"/>
                </a:lnTo>
                <a:cubicBezTo>
                  <a:pt x="10952353" y="4380738"/>
                  <a:pt x="10830433" y="4502531"/>
                  <a:pt x="10680192" y="4502531"/>
                </a:cubicBezTo>
                <a:lnTo>
                  <a:pt x="272161" y="4502531"/>
                </a:lnTo>
                <a:cubicBezTo>
                  <a:pt x="121920" y="4502531"/>
                  <a:pt x="0" y="4380738"/>
                  <a:pt x="0" y="4230370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0DF6B1F-AF15-4C16-B032-0509A13464A3}"/>
              </a:ext>
            </a:extLst>
          </p:cNvPr>
          <p:cNvSpPr>
            <a:spLocks noGrp="1"/>
          </p:cNvSpPr>
          <p:nvPr/>
        </p:nvSpPr>
        <p:spPr>
          <a:xfrm>
            <a:off x="1071562" y="4375099"/>
            <a:ext cx="76472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FFFFFF"/>
                </a:solidFill>
                <a:latin typeface="Syne Bold"/>
                <a:ea typeface="Syne Bold"/>
                <a:cs typeface="Syne Bold"/>
              </a:rPr>
              <a:t>当初の案：タップカウント型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D9AF22-AF05-4903-A628-B3150D0459D4}"/>
              </a:ext>
            </a:extLst>
          </p:cNvPr>
          <p:cNvSpPr>
            <a:spLocks noGrp="1"/>
          </p:cNvSpPr>
          <p:nvPr/>
        </p:nvSpPr>
        <p:spPr>
          <a:xfrm>
            <a:off x="1071562" y="5034858"/>
            <a:ext cx="85616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飲んだ杯数を自分で入力する方式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5608236-626D-469C-A2CC-F58641303FC0}"/>
              </a:ext>
            </a:extLst>
          </p:cNvPr>
          <p:cNvSpPr>
            <a:spLocks noGrp="1"/>
          </p:cNvSpPr>
          <p:nvPr/>
        </p:nvSpPr>
        <p:spPr>
          <a:xfrm>
            <a:off x="1071562" y="5743575"/>
            <a:ext cx="7647232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毎回アプリを開く必要がある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入力を忘れる可能性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実際の利用場面には合わない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6D6516D-59A7-44D9-8DDE-AE1D7929B6B4}"/>
              </a:ext>
            </a:extLst>
          </p:cNvPr>
          <p:cNvSpPr>
            <a:spLocks noGrp="1"/>
          </p:cNvSpPr>
          <p:nvPr/>
        </p:nvSpPr>
        <p:spPr>
          <a:xfrm>
            <a:off x="9499406" y="4375099"/>
            <a:ext cx="4114800" cy="42169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採用した方式：注文連動型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86569EE-9B82-4DFA-A36D-844EF40EE575}"/>
              </a:ext>
            </a:extLst>
          </p:cNvPr>
          <p:cNvSpPr>
            <a:spLocks noGrp="1"/>
          </p:cNvSpPr>
          <p:nvPr/>
        </p:nvSpPr>
        <p:spPr>
          <a:xfrm>
            <a:off x="9499406" y="5034858"/>
            <a:ext cx="8720290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注文操作そのものを記録として利用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610D78B-F15E-41B0-8010-3A328E92E965}"/>
              </a:ext>
            </a:extLst>
          </p:cNvPr>
          <p:cNvSpPr>
            <a:spLocks noGrp="1"/>
          </p:cNvSpPr>
          <p:nvPr/>
        </p:nvSpPr>
        <p:spPr>
          <a:xfrm>
            <a:off x="9499406" y="5743575"/>
            <a:ext cx="7805890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カートに追加・注文確定で自動記録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追加の入力操作は不要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自然な行動と記録がつながる</a:t>
            </a:r>
          </a:p>
        </p:txBody>
      </p:sp>
    </p:spTree>
    <p:extLst>
      <p:ext uri="{BB962C8B-B14F-4D97-AF65-F5344CB8AC3E}">
        <p14:creationId xmlns:p14="http://schemas.microsoft.com/office/powerpoint/2010/main" val="1248408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EE9DD260-800F-4D51-8D50-C7D988A762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1700650-F700-42B6-BF37-81AD25F899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8504E17-82F4-431E-90AC-7D7B45D9458F}"/>
              </a:ext>
            </a:extLst>
          </p:cNvPr>
          <p:cNvSpPr>
            <a:spLocks noGrp="1"/>
          </p:cNvSpPr>
          <p:nvPr/>
        </p:nvSpPr>
        <p:spPr>
          <a:xfrm>
            <a:off x="992238" y="1686220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実装した主な4つの機能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8F9BBB9-B0E6-4556-ABD7-A8461FDB5140}"/>
              </a:ext>
            </a:extLst>
          </p:cNvPr>
          <p:cNvSpPr>
            <a:spLocks noGrp="1"/>
          </p:cNvSpPr>
          <p:nvPr/>
        </p:nvSpPr>
        <p:spPr>
          <a:xfrm>
            <a:off x="992238" y="3167805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BBA42C4-CA5B-48E5-996D-154D398E4CAA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23A2AE5-94FC-4E04-95EB-12335925B411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783F6B9-7CFD-4FE7-969A-630F06C38295}"/>
              </a:ext>
            </a:extLst>
          </p:cNvPr>
          <p:cNvSpPr>
            <a:spLocks noGrp="1"/>
          </p:cNvSpPr>
          <p:nvPr/>
        </p:nvSpPr>
        <p:spPr>
          <a:xfrm>
            <a:off x="1313850" y="4320931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セッション開始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361F67C-CDD2-4BEF-B9B5-F975704BD32B}"/>
              </a:ext>
            </a:extLst>
          </p:cNvPr>
          <p:cNvSpPr>
            <a:spLocks noGrp="1"/>
          </p:cNvSpPr>
          <p:nvPr/>
        </p:nvSpPr>
        <p:spPr>
          <a:xfrm>
            <a:off x="1313850" y="4867275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テーブルIDとニックネームで入室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2A79CA74-FD28-4FB9-B5C4-4A40B5344512}"/>
              </a:ext>
            </a:extLst>
          </p:cNvPr>
          <p:cNvSpPr>
            <a:spLocks noGrp="1"/>
          </p:cNvSpPr>
          <p:nvPr/>
        </p:nvSpPr>
        <p:spPr>
          <a:xfrm>
            <a:off x="9285684" y="3167805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875584C0-02BD-4D49-A6C9-3607352CB96E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438E7CD-1939-44B9-8C23-8B4F5EB23B5B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2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A230C91-61D0-4137-892A-481FAADDE80D}"/>
              </a:ext>
            </a:extLst>
          </p:cNvPr>
          <p:cNvSpPr>
            <a:spLocks noGrp="1"/>
          </p:cNvSpPr>
          <p:nvPr/>
        </p:nvSpPr>
        <p:spPr>
          <a:xfrm>
            <a:off x="9607306" y="4320931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メニュー＆カート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C878ACF-2C45-4656-A0B9-FED7FFF6C123}"/>
              </a:ext>
            </a:extLst>
          </p:cNvPr>
          <p:cNvSpPr>
            <a:spLocks noGrp="1"/>
          </p:cNvSpPr>
          <p:nvPr/>
        </p:nvSpPr>
        <p:spPr>
          <a:xfrm>
            <a:off x="9607306" y="4867275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商品追加・数量変更・削除・注文確定</a:t>
            </a:r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16ABB980-0626-45D5-A564-020B7CC7C768}"/>
              </a:ext>
            </a:extLst>
          </p:cNvPr>
          <p:cNvSpPr>
            <a:spLocks noGrp="1"/>
          </p:cNvSpPr>
          <p:nvPr/>
        </p:nvSpPr>
        <p:spPr>
          <a:xfrm>
            <a:off x="992238" y="6011761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55900D6-9083-4AB5-849A-822F5DEA027F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A4E14AAE-F47D-4D84-9EC0-724436C908A6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B95014A-BA36-401F-8EE0-B61194FB0B36}"/>
              </a:ext>
            </a:extLst>
          </p:cNvPr>
          <p:cNvSpPr>
            <a:spLocks noGrp="1"/>
          </p:cNvSpPr>
          <p:nvPr/>
        </p:nvSpPr>
        <p:spPr>
          <a:xfrm>
            <a:off x="1313850" y="7164886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Firebase履歴保存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B4A1968-3C18-49A3-870D-0E34CBEBAF78}"/>
              </a:ext>
            </a:extLst>
          </p:cNvPr>
          <p:cNvSpPr>
            <a:spLocks noGrp="1"/>
          </p:cNvSpPr>
          <p:nvPr/>
        </p:nvSpPr>
        <p:spPr>
          <a:xfrm>
            <a:off x="1313850" y="7711230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注文確定でリアルタイムDBへ保存・反映</a:t>
            </a:r>
          </a:p>
        </p:txBody>
      </p:sp>
      <p:sp>
        <p:nvSpPr>
          <p:cNvPr id="25" name="Freeform 25">
            <a:extLst>
              <a:ext uri="{FF2B5EF4-FFF2-40B4-BE49-F238E27FC236}">
                <a16:creationId xmlns:a16="http://schemas.microsoft.com/office/drawing/2014/main" id="{CD0018FD-3B50-4CD8-B2CD-5CDFD85D98EA}"/>
              </a:ext>
            </a:extLst>
          </p:cNvPr>
          <p:cNvSpPr>
            <a:spLocks noGrp="1"/>
          </p:cNvSpPr>
          <p:nvPr/>
        </p:nvSpPr>
        <p:spPr>
          <a:xfrm>
            <a:off x="9285684" y="6011761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94886D02-1D02-426D-A454-AAF581CC51B4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9EA0ED9F-C378-4FAC-8D77-F73FD44504F6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4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A2C3DB82-CF79-4FFA-A8B5-B42B5220035B}"/>
              </a:ext>
            </a:extLst>
          </p:cNvPr>
          <p:cNvSpPr>
            <a:spLocks noGrp="1"/>
          </p:cNvSpPr>
          <p:nvPr/>
        </p:nvSpPr>
        <p:spPr>
          <a:xfrm>
            <a:off x="9607306" y="7164886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飲酒ペース表示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BBEE1B76-E0B3-42DE-82F9-9674B6037EAE}"/>
              </a:ext>
            </a:extLst>
          </p:cNvPr>
          <p:cNvSpPr>
            <a:spLocks noGrp="1"/>
          </p:cNvSpPr>
          <p:nvPr/>
        </p:nvSpPr>
        <p:spPr>
          <a:xfrm>
            <a:off x="9607306" y="7711230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直近30分の純アルコール量を表示</a:t>
            </a:r>
          </a:p>
        </p:txBody>
      </p:sp>
    </p:spTree>
    <p:extLst>
      <p:ext uri="{BB962C8B-B14F-4D97-AF65-F5344CB8AC3E}">
        <p14:creationId xmlns:p14="http://schemas.microsoft.com/office/powerpoint/2010/main" val="708805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3EEB7A2-09A5-4443-A77A-42470FC1B7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8C1EB84-A46C-443B-A8AB-9403969DD8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07433" y="666750"/>
            <a:ext cx="9073039" cy="907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538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59020EE-9E89-4CD4-8141-1A2B5CBE46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D3ABDB-3FA4-4B87-8934-66D3F6FCC9F4}"/>
              </a:ext>
            </a:extLst>
          </p:cNvPr>
          <p:cNvSpPr>
            <a:spLocks noGrp="1"/>
          </p:cNvSpPr>
          <p:nvPr/>
        </p:nvSpPr>
        <p:spPr>
          <a:xfrm>
            <a:off x="17710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186875E-200E-458F-8A79-3FC3295FA72A}"/>
              </a:ext>
            </a:extLst>
          </p:cNvPr>
          <p:cNvSpPr>
            <a:spLocks noGrp="1"/>
          </p:cNvSpPr>
          <p:nvPr/>
        </p:nvSpPr>
        <p:spPr>
          <a:xfrm>
            <a:off x="992238" y="2185987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飲酒ペースの目安と注意表示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5174D34-933A-4663-AECD-6BA0679DE046}"/>
              </a:ext>
            </a:extLst>
          </p:cNvPr>
          <p:cNvSpPr>
            <a:spLocks noGrp="1"/>
          </p:cNvSpPr>
          <p:nvPr/>
        </p:nvSpPr>
        <p:spPr>
          <a:xfrm>
            <a:off x="3588844" y="3952132"/>
            <a:ext cx="3398552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６０ｇ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4D51E4-C949-4492-96FB-B5159FAB70BA}"/>
              </a:ext>
            </a:extLst>
          </p:cNvPr>
          <p:cNvSpPr>
            <a:spLocks noGrp="1"/>
          </p:cNvSpPr>
          <p:nvPr/>
        </p:nvSpPr>
        <p:spPr>
          <a:xfrm>
            <a:off x="3779344" y="5080102"/>
            <a:ext cx="2475406" cy="42169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注意表示の目安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3540789-59B9-4710-9A1D-D5E08696C681}"/>
              </a:ext>
            </a:extLst>
          </p:cNvPr>
          <p:cNvSpPr>
            <a:spLocks noGrp="1"/>
          </p:cNvSpPr>
          <p:nvPr/>
        </p:nvSpPr>
        <p:spPr>
          <a:xfrm>
            <a:off x="992238" y="5626446"/>
            <a:ext cx="797451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直近30分の純アルコール量が60g以上で表示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FDF62B8-A2D7-490B-B7D9-9D7DB338DF5E}"/>
              </a:ext>
            </a:extLst>
          </p:cNvPr>
          <p:cNvSpPr>
            <a:spLocks noGrp="1"/>
          </p:cNvSpPr>
          <p:nvPr/>
        </p:nvSpPr>
        <p:spPr>
          <a:xfrm>
            <a:off x="11917784" y="3952132"/>
            <a:ext cx="3398551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３０分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15462FB-D313-4A0C-AB7A-3689079201E9}"/>
              </a:ext>
            </a:extLst>
          </p:cNvPr>
          <p:cNvSpPr>
            <a:spLocks noGrp="1"/>
          </p:cNvSpPr>
          <p:nvPr/>
        </p:nvSpPr>
        <p:spPr>
          <a:xfrm>
            <a:off x="9321108" y="5080102"/>
            <a:ext cx="7974654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通知間隔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2E0D12-D671-40B1-B1CD-64EBDB21B410}"/>
              </a:ext>
            </a:extLst>
          </p:cNvPr>
          <p:cNvSpPr>
            <a:spLocks noGrp="1"/>
          </p:cNvSpPr>
          <p:nvPr/>
        </p:nvSpPr>
        <p:spPr>
          <a:xfrm>
            <a:off x="9321108" y="5626446"/>
            <a:ext cx="7974654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同じ注意が連続表示されないよう間隔を設定</a:t>
            </a:r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B7EF63E0-7D34-41E2-B5FA-1CF7EA48EEF3}"/>
              </a:ext>
            </a:extLst>
          </p:cNvPr>
          <p:cNvSpPr>
            <a:spLocks noGrp="1"/>
          </p:cNvSpPr>
          <p:nvPr/>
        </p:nvSpPr>
        <p:spPr>
          <a:xfrm>
            <a:off x="992238" y="6484744"/>
            <a:ext cx="16303466" cy="1587532"/>
          </a:xfrm>
          <a:custGeom>
            <a:avLst/>
            <a:gdLst/>
            <a:ahLst/>
            <a:cxnLst/>
            <a:rect l="l" t="t" r="r" b="b"/>
            <a:pathLst>
              <a:path w="21737955" h="2116709">
                <a:moveTo>
                  <a:pt x="0" y="158750"/>
                </a:moveTo>
                <a:cubicBezTo>
                  <a:pt x="0" y="71120"/>
                  <a:pt x="71120" y="0"/>
                  <a:pt x="158750" y="0"/>
                </a:cubicBezTo>
                <a:lnTo>
                  <a:pt x="21579205" y="0"/>
                </a:lnTo>
                <a:cubicBezTo>
                  <a:pt x="21666836" y="0"/>
                  <a:pt x="21737955" y="71120"/>
                  <a:pt x="21737955" y="158750"/>
                </a:cubicBezTo>
                <a:lnTo>
                  <a:pt x="21737955" y="1957959"/>
                </a:lnTo>
                <a:cubicBezTo>
                  <a:pt x="21737955" y="2045589"/>
                  <a:pt x="21666836" y="2116709"/>
                  <a:pt x="21579205" y="2116709"/>
                </a:cubicBezTo>
                <a:lnTo>
                  <a:pt x="158750" y="2116709"/>
                </a:lnTo>
                <a:cubicBezTo>
                  <a:pt x="71120" y="2116709"/>
                  <a:pt x="0" y="2045589"/>
                  <a:pt x="0" y="1957959"/>
                </a:cubicBez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EE083B7-66A8-41F1-8614-79EE8974773F}"/>
              </a:ext>
            </a:extLst>
          </p:cNvPr>
          <p:cNvSpPr>
            <a:spLocks noGrp="1"/>
          </p:cNvSpPr>
          <p:nvPr/>
        </p:nvSpPr>
        <p:spPr>
          <a:xfrm>
            <a:off x="1913630" y="6753377"/>
            <a:ext cx="15098611" cy="8701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この数値は飲酒ペースを振り返るための目安です。</a:t>
            </a:r>
          </a:p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医療的な診断や、飲酒してよいかどうかを判断する機能ではありません。</a:t>
            </a:r>
          </a:p>
        </p:txBody>
      </p:sp>
      <p:sp>
        <p:nvSpPr>
          <p:cNvPr id="20" name="gamma-badge-cover">
            <a:extLst>
              <a:ext uri="{FF2B5EF4-FFF2-40B4-BE49-F238E27FC236}">
                <a16:creationId xmlns:a16="http://schemas.microsoft.com/office/drawing/2014/main" id="{F07F6509-2FF7-4400-AC2A-4730E09F9EB1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18100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58682BD-A143-45FB-A7CE-067164DCD9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E8C43D0-3EC4-4150-9A59-83F2AE59BA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E2F9C40-2B47-4A72-891E-491E737069C1}"/>
              </a:ext>
            </a:extLst>
          </p:cNvPr>
          <p:cNvSpPr>
            <a:spLocks noGrp="1"/>
          </p:cNvSpPr>
          <p:nvPr/>
        </p:nvSpPr>
        <p:spPr>
          <a:xfrm>
            <a:off x="992238" y="1160269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開発環境とスケジュール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D0F4E80-C724-4C45-B401-E87AB865DDA0}"/>
              </a:ext>
            </a:extLst>
          </p:cNvPr>
          <p:cNvSpPr>
            <a:spLocks noGrp="1"/>
          </p:cNvSpPr>
          <p:nvPr/>
        </p:nvSpPr>
        <p:spPr>
          <a:xfrm>
            <a:off x="992238" y="2974924"/>
            <a:ext cx="10355199" cy="5648134"/>
          </a:xfrm>
          <a:custGeom>
            <a:avLst/>
            <a:gdLst/>
            <a:ahLst/>
            <a:cxnLst/>
            <a:rect l="l" t="t" r="r" b="b"/>
            <a:pathLst>
              <a:path w="13806932" h="7530846">
                <a:moveTo>
                  <a:pt x="0" y="0"/>
                </a:moveTo>
                <a:lnTo>
                  <a:pt x="13806932" y="0"/>
                </a:lnTo>
                <a:lnTo>
                  <a:pt x="13806932" y="7530846"/>
                </a:lnTo>
                <a:lnTo>
                  <a:pt x="0" y="75308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" r="-3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999EC31-765E-4ED3-9B32-30A86DA23901}"/>
              </a:ext>
            </a:extLst>
          </p:cNvPr>
          <p:cNvSpPr>
            <a:spLocks noGrp="1"/>
          </p:cNvSpPr>
          <p:nvPr/>
        </p:nvSpPr>
        <p:spPr>
          <a:xfrm>
            <a:off x="12048677" y="2764479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BB15EB8-A28B-4F66-B7AF-FCE82F7F8E85}"/>
              </a:ext>
            </a:extLst>
          </p:cNvPr>
          <p:cNvSpPr>
            <a:spLocks noGrp="1"/>
          </p:cNvSpPr>
          <p:nvPr/>
        </p:nvSpPr>
        <p:spPr>
          <a:xfrm>
            <a:off x="12048677" y="3424237"/>
            <a:ext cx="5256457" cy="16448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Flutter 3.35.7 (stable) / Dart 3.9.2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 Realtime Database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Gitで変更履歴を管理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C5DD34B-08A5-464D-8E4B-7ADD5E0789A8}"/>
              </a:ext>
            </a:extLst>
          </p:cNvPr>
          <p:cNvSpPr>
            <a:spLocks noGrp="1"/>
          </p:cNvSpPr>
          <p:nvPr/>
        </p:nvSpPr>
        <p:spPr>
          <a:xfrm>
            <a:off x="12048677" y="5333552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スケジュール（5月〜7月）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B714D20-46EA-4A9E-A70B-8A6D75E057E0}"/>
              </a:ext>
            </a:extLst>
          </p:cNvPr>
          <p:cNvSpPr>
            <a:spLocks noGrp="1"/>
          </p:cNvSpPr>
          <p:nvPr/>
        </p:nvSpPr>
        <p:spPr>
          <a:xfrm>
            <a:off x="12048677" y="5993311"/>
            <a:ext cx="5256457" cy="21658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5月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：タップカウント型から注文アプリへ方向転換・仕様整理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6月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：Firebase連携・カート機能・注文履歴・飲酒ペース判定を実装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7月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：UI調整・不要な機能を削除</a:t>
            </a:r>
          </a:p>
        </p:txBody>
      </p:sp>
      <p:sp>
        <p:nvSpPr>
          <p:cNvPr id="15" name="gamma-badge-cover">
            <a:extLst>
              <a:ext uri="{FF2B5EF4-FFF2-40B4-BE49-F238E27FC236}">
                <a16:creationId xmlns:a16="http://schemas.microsoft.com/office/drawing/2014/main" id="{88E33CE1-AC1D-468F-8A87-A16DE9418D38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45644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7EFD2DE-32BB-40E2-9994-561C063F10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0D9904F8-0102-4B91-BF57-E98C6330E1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BDE3B26-7186-4F5E-B24A-5DA0CFF8B295}"/>
              </a:ext>
            </a:extLst>
          </p:cNvPr>
          <p:cNvSpPr>
            <a:spLocks noGrp="1"/>
          </p:cNvSpPr>
          <p:nvPr/>
        </p:nvSpPr>
        <p:spPr>
          <a:xfrm>
            <a:off x="992238" y="2117084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テストとAIの活用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3131802-B802-4C6F-A597-79CE01704BA9}"/>
              </a:ext>
            </a:extLst>
          </p:cNvPr>
          <p:cNvSpPr>
            <a:spLocks noGrp="1"/>
          </p:cNvSpPr>
          <p:nvPr/>
        </p:nvSpPr>
        <p:spPr>
          <a:xfrm>
            <a:off x="992238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テスト内容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99283BB-4826-4A99-9EA9-8C60B4B4DE05}"/>
              </a:ext>
            </a:extLst>
          </p:cNvPr>
          <p:cNvSpPr>
            <a:spLocks noGrp="1"/>
          </p:cNvSpPr>
          <p:nvPr/>
        </p:nvSpPr>
        <p:spPr>
          <a:xfrm>
            <a:off x="769298" y="4381052"/>
            <a:ext cx="8730108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静的解析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：flutter analyzeで問題なしを確認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単体テスト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：純アルコール量・30分集計・60g境界・通知間隔・テーブルID入力規則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Widgetテスト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：テーブルID→ニックネーム画面の遷移フロー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5F18842-8621-4EE5-BB92-7D3ECD02CBFA}"/>
              </a:ext>
            </a:extLst>
          </p:cNvPr>
          <p:cNvSpPr>
            <a:spLocks noGrp="1"/>
          </p:cNvSpPr>
          <p:nvPr/>
        </p:nvSpPr>
        <p:spPr>
          <a:xfrm>
            <a:off x="9499406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AIの活用範囲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41888E4-E065-4953-B53C-A6E654894140}"/>
              </a:ext>
            </a:extLst>
          </p:cNvPr>
          <p:cNvSpPr>
            <a:spLocks noGrp="1"/>
          </p:cNvSpPr>
          <p:nvPr/>
        </p:nvSpPr>
        <p:spPr>
          <a:xfrm>
            <a:off x="9499406" y="4381052"/>
            <a:ext cx="7805890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Firebase接続・リアルタイム同期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30分集計・通知処理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エラー原因の調査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仕様書・発表メモの文章整理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58A01E4-FD4F-47FF-8A47-12B7089C90A9}"/>
              </a:ext>
            </a:extLst>
          </p:cNvPr>
          <p:cNvSpPr>
            <a:spLocks noGrp="1"/>
          </p:cNvSpPr>
          <p:nvPr/>
        </p:nvSpPr>
        <p:spPr>
          <a:xfrm>
            <a:off x="9499406" y="6290367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自分で実装した部分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614C139-8845-4A5B-B1A9-C4D94F482EFA}"/>
              </a:ext>
            </a:extLst>
          </p:cNvPr>
          <p:cNvSpPr>
            <a:spLocks noGrp="1"/>
          </p:cNvSpPr>
          <p:nvPr/>
        </p:nvSpPr>
        <p:spPr>
          <a:xfrm>
            <a:off x="9499406" y="6950126"/>
            <a:ext cx="7805890" cy="10920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基本画面・画面遷移・メニュー・カート操作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UI調整（ボタン・文言・配色）</a:t>
            </a:r>
          </a:p>
        </p:txBody>
      </p:sp>
    </p:spTree>
    <p:extLst>
      <p:ext uri="{BB962C8B-B14F-4D97-AF65-F5344CB8AC3E}">
        <p14:creationId xmlns:p14="http://schemas.microsoft.com/office/powerpoint/2010/main" val="1797130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FE9194B-6455-484F-A9C2-0B5AD57FB0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31435A4-427D-4F58-BAB8-7E8217D7B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17E473E-9DA9-4243-AD9B-311FB15EE619}"/>
              </a:ext>
            </a:extLst>
          </p:cNvPr>
          <p:cNvSpPr>
            <a:spLocks noGrp="1"/>
          </p:cNvSpPr>
          <p:nvPr/>
        </p:nvSpPr>
        <p:spPr>
          <a:xfrm>
            <a:off x="992219" y="742950"/>
            <a:ext cx="16303562" cy="91459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実機説明</a:t>
            </a:r>
          </a:p>
        </p:txBody>
      </p:sp>
      <p:sp>
        <p:nvSpPr>
          <p:cNvPr id="7" name="demo-caption-1">
            <a:extLst>
              <a:ext uri="{FF2B5EF4-FFF2-40B4-BE49-F238E27FC236}">
                <a16:creationId xmlns:a16="http://schemas.microsoft.com/office/drawing/2014/main" id="{59D36BD1-DABE-4ECB-B7C6-E3D3521FA161}"/>
              </a:ext>
            </a:extLst>
          </p:cNvPr>
          <p:cNvSpPr>
            <a:spLocks noGrp="1"/>
          </p:cNvSpPr>
          <p:nvPr/>
        </p:nvSpPr>
        <p:spPr>
          <a:xfrm>
            <a:off x="95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</a:t>
            </a:r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" y="2383036"/>
            <a:ext cx="4953000" cy="3482578"/>
          </a:xfrm>
          <a:prstGeom prst="rect">
            <a:avLst/>
          </a:prstGeom>
        </p:spPr>
      </p:pic>
      <p:sp>
        <p:nvSpPr>
          <p:cNvPr id="9" name="demo-caption-2">
            <a:extLst>
              <a:ext uri="{FF2B5EF4-FFF2-40B4-BE49-F238E27FC236}">
                <a16:creationId xmlns:a16="http://schemas.microsoft.com/office/drawing/2014/main" id="{037FD925-2028-4CAD-95C4-17F28AEB2340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商品選択・飲酒ペース</a:t>
            </a:r>
          </a:p>
        </p:txBody>
      </p:sp>
      <p:pic>
        <p:nvPicPr>
          <p:cNvPr id="20" name="図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67500" y="2383036"/>
            <a:ext cx="4953000" cy="3482578"/>
          </a:xfrm>
          <a:prstGeom prst="rect">
            <a:avLst/>
          </a:prstGeom>
        </p:spPr>
      </p:pic>
      <p:sp>
        <p:nvSpPr>
          <p:cNvPr id="11" name="demo-caption-3">
            <a:extLst>
              <a:ext uri="{FF2B5EF4-FFF2-40B4-BE49-F238E27FC236}">
                <a16:creationId xmlns:a16="http://schemas.microsoft.com/office/drawing/2014/main" id="{43A12F1D-6AB0-4819-A8DE-380B84D5FD53}"/>
              </a:ext>
            </a:extLst>
          </p:cNvPr>
          <p:cNvSpPr>
            <a:spLocks noGrp="1"/>
          </p:cNvSpPr>
          <p:nvPr/>
        </p:nvSpPr>
        <p:spPr>
          <a:xfrm>
            <a:off x="1238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注文履歴</a:t>
            </a:r>
          </a:p>
        </p:txBody>
      </p:sp>
      <p:pic>
        <p:nvPicPr>
          <p:cNvPr id="22" name="図 2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2382500" y="2383036"/>
            <a:ext cx="4953000" cy="3482578"/>
          </a:xfrm>
          <a:prstGeom prst="rect">
            <a:avLst/>
          </a:prstGeom>
        </p:spPr>
      </p:pic>
      <p:sp>
        <p:nvSpPr>
          <p:cNvPr id="13" name="demo-flow">
            <a:extLst>
              <a:ext uri="{FF2B5EF4-FFF2-40B4-BE49-F238E27FC236}">
                <a16:creationId xmlns:a16="http://schemas.microsoft.com/office/drawing/2014/main" id="{C62F982A-EC20-40F9-B8C1-508A437FBF80}"/>
              </a:ext>
            </a:extLst>
          </p:cNvPr>
          <p:cNvSpPr>
            <a:spLocks noGrp="1"/>
          </p:cNvSpPr>
          <p:nvPr/>
        </p:nvSpPr>
        <p:spPr>
          <a:xfrm>
            <a:off x="2095500" y="7239000"/>
            <a:ext cx="1409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　→　商品選択・注文確定　→　履歴へ保存</a:t>
            </a:r>
          </a:p>
        </p:txBody>
      </p:sp>
    </p:spTree>
    <p:extLst>
      <p:ext uri="{BB962C8B-B14F-4D97-AF65-F5344CB8AC3E}">
        <p14:creationId xmlns:p14="http://schemas.microsoft.com/office/powerpoint/2010/main" val="1604772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85EAD273-DE2E-469C-8263-BD1CF49DAB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542227E-BCF7-4FA5-B2ED-4D75F51C06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269B4DD-86F9-41E0-9A98-FAC4509D60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E281218-CB59-4617-9D5E-93D159012C42}"/>
              </a:ext>
            </a:extLst>
          </p:cNvPr>
          <p:cNvSpPr>
            <a:spLocks noGrp="1"/>
          </p:cNvSpPr>
          <p:nvPr/>
        </p:nvSpPr>
        <p:spPr>
          <a:xfrm>
            <a:off x="7850238" y="1360284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今後の展望</a:t>
            </a:r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9C483D6-576D-4776-B670-423F9310D314}"/>
              </a:ext>
            </a:extLst>
          </p:cNvPr>
          <p:cNvSpPr>
            <a:spLocks noGrp="1"/>
          </p:cNvSpPr>
          <p:nvPr/>
        </p:nvSpPr>
        <p:spPr>
          <a:xfrm>
            <a:off x="7956499" y="2708824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D32C9E2-0686-4AE8-B9AE-59DB439657F3}"/>
              </a:ext>
            </a:extLst>
          </p:cNvPr>
          <p:cNvSpPr>
            <a:spLocks noGrp="1"/>
          </p:cNvSpPr>
          <p:nvPr/>
        </p:nvSpPr>
        <p:spPr>
          <a:xfrm>
            <a:off x="8771630" y="268099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店舗向け機能の追加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58EDFC8-1A55-4BF1-9E23-815429D6D35E}"/>
              </a:ext>
            </a:extLst>
          </p:cNvPr>
          <p:cNvSpPr>
            <a:spLocks noGrp="1"/>
          </p:cNvSpPr>
          <p:nvPr/>
        </p:nvSpPr>
        <p:spPr>
          <a:xfrm>
            <a:off x="8771630" y="322733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受注画面・会計連携・メニュー管理</a:t>
            </a:r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9EF85AB0-3BD5-4081-9C04-70BCF3816BFB}"/>
              </a:ext>
            </a:extLst>
          </p:cNvPr>
          <p:cNvSpPr>
            <a:spLocks noGrp="1"/>
          </p:cNvSpPr>
          <p:nvPr/>
        </p:nvSpPr>
        <p:spPr>
          <a:xfrm>
            <a:off x="7956499" y="434250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585CDCF-E7DF-4BDB-8F52-18A965A4DC67}"/>
              </a:ext>
            </a:extLst>
          </p:cNvPr>
          <p:cNvSpPr>
            <a:spLocks noGrp="1"/>
          </p:cNvSpPr>
          <p:nvPr/>
        </p:nvSpPr>
        <p:spPr>
          <a:xfrm>
            <a:off x="8771630" y="4314673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セキュリティ強化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B938FE-4516-4E8F-87D8-D789D0B413EB}"/>
              </a:ext>
            </a:extLst>
          </p:cNvPr>
          <p:cNvSpPr>
            <a:spLocks noGrp="1"/>
          </p:cNvSpPr>
          <p:nvPr/>
        </p:nvSpPr>
        <p:spPr>
          <a:xfrm>
            <a:off x="8771630" y="486102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利用者認証・Firebaseセキュリティルール</a:t>
            </a:r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A4B9A7FC-1240-482E-ABF2-58D0AB2FD0DF}"/>
              </a:ext>
            </a:extLst>
          </p:cNvPr>
          <p:cNvSpPr>
            <a:spLocks noGrp="1"/>
          </p:cNvSpPr>
          <p:nvPr/>
        </p:nvSpPr>
        <p:spPr>
          <a:xfrm>
            <a:off x="7956499" y="597619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1ABAADF-B678-4A1E-ACC4-D238B96E4E4D}"/>
              </a:ext>
            </a:extLst>
          </p:cNvPr>
          <p:cNvSpPr>
            <a:spLocks noGrp="1"/>
          </p:cNvSpPr>
          <p:nvPr/>
        </p:nvSpPr>
        <p:spPr>
          <a:xfrm>
            <a:off x="8771630" y="594836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実店舗での検証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99E1ACE-3E9D-4D13-8DCE-92209A3F0004}"/>
              </a:ext>
            </a:extLst>
          </p:cNvPr>
          <p:cNvSpPr>
            <a:spLocks noGrp="1"/>
          </p:cNvSpPr>
          <p:nvPr/>
        </p:nvSpPr>
        <p:spPr>
          <a:xfrm>
            <a:off x="8771630" y="649470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実際の操作性を確認し、UIを改善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8F8BB3CF-C331-4990-B956-DCDDA400E6E0}"/>
              </a:ext>
            </a:extLst>
          </p:cNvPr>
          <p:cNvSpPr>
            <a:spLocks noGrp="1"/>
          </p:cNvSpPr>
          <p:nvPr/>
        </p:nvSpPr>
        <p:spPr>
          <a:xfrm>
            <a:off x="7850238" y="7353005"/>
            <a:ext cx="38100" cy="1545145"/>
          </a:xfrm>
          <a:custGeom>
            <a:avLst/>
            <a:gdLst/>
            <a:ahLst/>
            <a:cxnLst/>
            <a:rect l="l" t="t" r="r" b="b"/>
            <a:pathLst>
              <a:path w="50800" h="2060194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cubicBezTo>
                  <a:pt x="39370" y="0"/>
                  <a:pt x="50800" y="11430"/>
                  <a:pt x="50800" y="25400"/>
                </a:cubicBezTo>
                <a:lnTo>
                  <a:pt x="50800" y="2034794"/>
                </a:lnTo>
                <a:cubicBezTo>
                  <a:pt x="50800" y="2048764"/>
                  <a:pt x="39370" y="2060194"/>
                  <a:pt x="25400" y="2060194"/>
                </a:cubicBezTo>
                <a:cubicBezTo>
                  <a:pt x="11430" y="2060194"/>
                  <a:pt x="0" y="2048764"/>
                  <a:pt x="0" y="2034794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E4A5412-BCC3-40CF-9D43-22BC57983349}"/>
              </a:ext>
            </a:extLst>
          </p:cNvPr>
          <p:cNvSpPr>
            <a:spLocks noGrp="1"/>
          </p:cNvSpPr>
          <p:nvPr/>
        </p:nvSpPr>
        <p:spPr>
          <a:xfrm>
            <a:off x="8275444" y="7586215"/>
            <a:ext cx="9020327" cy="8701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SakeStopは、注文体験を邪魔せずに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、</a:t>
            </a:r>
          </a:p>
          <a:p>
            <a:pPr algn="l">
              <a:lnSpc>
                <a:spcPts val="3511"/>
              </a:lnSpc>
              <a:buNone/>
            </a:pP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自分の飲酒ペースを振り返れるアプリです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。</a:t>
            </a:r>
          </a:p>
        </p:txBody>
      </p:sp>
      <p:sp>
        <p:nvSpPr>
          <p:cNvPr id="23" name="gamma-badge-cover">
            <a:extLst>
              <a:ext uri="{FF2B5EF4-FFF2-40B4-BE49-F238E27FC236}">
                <a16:creationId xmlns:a16="http://schemas.microsoft.com/office/drawing/2014/main" id="{0837A109-41AB-4813-819F-8EFB748616D7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672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</Words>
  <Application>Microsoft Office PowerPoint</Application>
  <DocSecurity>0</DocSecurity>
  <PresentationFormat>ユーザー設定</PresentationFormat>
  <Paragraphs>134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Overpass Light</vt:lpstr>
      <vt:lpstr>Calibri</vt:lpstr>
      <vt:lpstr>Syne Bold</vt:lpstr>
      <vt:lpstr>Overpass Bold</vt:lpstr>
      <vt:lpstr>Yu Gothic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木村 耀丸(zeal23410142)</cp:lastModifiedBy>
  <cp:revision>1</cp:revision>
  <dcterms:created xsi:type="dcterms:W3CDTF">2026-07-14T03:42:20Z</dcterms:created>
  <dcterms:modified xsi:type="dcterms:W3CDTF">2026-07-14T06:15:58Z</dcterms:modified>
</cp:coreProperties>
</file>