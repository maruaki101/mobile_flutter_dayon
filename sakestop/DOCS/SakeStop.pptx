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56" r:id="rId2"/>
    <p:sldId id="257" r:id="rId3"/>
    <p:sldId id="267" r:id="rId4"/>
    <p:sldId id="258" r:id="rId5"/>
    <p:sldId id="259" r:id="rId6"/>
    <p:sldId id="260" r:id="rId7"/>
    <p:sldId id="261" r:id="rId8"/>
    <p:sldId id="262" r:id="rId9"/>
    <p:sldId id="263" r:id="rId10"/>
    <p:sldId id="264" r:id="rId11"/>
    <p:sldId id="265" r:id="rId12"/>
    <p:sldId id="266" r:id="rId13"/>
  </p:sldIdLst>
  <p:sldSz cx="18288000" cy="10287000"/>
  <p:notesSz cx="6858000" cy="9144000"/>
  <p:embeddedFontLst>
    <p:embeddedFont>
      <p:font typeface="Yu Gothic" panose="020B0400000000000000" pitchFamily="50" charset="-128"/>
      <p:regular r:id="rId15"/>
      <p:bold r:id="rId16"/>
    </p:embeddedFont>
    <p:embeddedFont>
      <p:font typeface="Overpass Bold" panose="020B0600070205080204" charset="0"/>
      <p:regular r:id="rId17"/>
    </p:embeddedFont>
    <p:embeddedFont>
      <p:font typeface="Overpass Light" panose="020B0600070205080204" charset="0"/>
      <p:regular r:id="rId18"/>
    </p:embeddedFont>
    <p:embeddedFont>
      <p:font typeface="Syne Bold" panose="020B0600070205080204" charset="0"/>
      <p:regular r:id="rId19"/>
    </p:embeddedFont>
  </p:embeddedFontLst>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7407" autoAdjust="0"/>
  </p:normalViewPr>
  <p:slideViewPr>
    <p:cSldViewPr snapToGrid="0">
      <p:cViewPr varScale="1">
        <p:scale>
          <a:sx n="45" d="100"/>
          <a:sy n="45" d="100"/>
        </p:scale>
        <p:origin x="221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t>
            </a:r>
            <a:r>
              <a:rPr dirty="0" err="1"/>
              <a:t>目安</a:t>
            </a:r>
            <a:r>
              <a:rPr dirty="0"/>
              <a:t> 20秒】</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私の作ったアプリは酒ストップというアル中を防止する注文アプリです。なぜ作ったかなんですが、半年前くらいにアル中で運ばれた人が友人にいまして、その子が点滴代金で結構持ってかれていて皮層だなと思ったことがきっかけです。</a:t>
            </a:r>
          </a:p>
          <a:p>
            <a:endParaRPr lang="en-US" altLang="ja-JP"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t>
            </a:r>
            <a:r>
              <a:rPr dirty="0" err="1"/>
              <a:t>目安</a:t>
            </a:r>
            <a:r>
              <a:rPr dirty="0"/>
              <a:t> 40秒】</a:t>
            </a:r>
            <a:endParaRPr lang="en-US" dirty="0"/>
          </a:p>
          <a:p>
            <a:endParaRPr lang="en-US" dirty="0"/>
          </a:p>
          <a:p>
            <a:r>
              <a:rPr dirty="0" err="1"/>
              <a:t>このアプリは飲酒を強制的に止めるものではなく、自分のペースに気づくきっかけを作るものです</a:t>
            </a:r>
            <a:r>
              <a:rPr dirty="0"/>
              <a:t>。</a:t>
            </a:r>
          </a:p>
          <a:p>
            <a:r>
              <a:rPr dirty="0"/>
              <a:t>注文を禁止すると店舗では使いにくいため、通常の注文操作の中で純アルコール量と直近30分の量を確認できる形にしました。</a:t>
            </a:r>
          </a:p>
          <a:p>
            <a:r>
              <a:rPr dirty="0" err="1"/>
              <a:t>表示は医療的な判断ではなく、振り返りの目安です</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58498-BF57-F8B6-6635-73BBD68612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6CEE29-3A67-3285-F29C-2F068DD1D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18EA1-7A4F-7961-E627-93A14D9A4006}"/>
              </a:ext>
            </a:extLst>
          </p:cNvPr>
          <p:cNvSpPr>
            <a:spLocks noGrp="1"/>
          </p:cNvSpPr>
          <p:nvPr>
            <p:ph type="body" idx="1"/>
          </p:nvPr>
        </p:nvSpPr>
        <p:spPr/>
        <p:txBody>
          <a:bodyPr/>
          <a:lstStyle/>
          <a:p>
            <a:r>
              <a:rPr lang="en-US" altLang="ja-JP" dirty="0"/>
              <a:t>【</a:t>
            </a:r>
            <a:r>
              <a:rPr lang="ja-JP" altLang="en-US" dirty="0"/>
              <a:t>目安 </a:t>
            </a:r>
            <a:r>
              <a:rPr lang="en-US" altLang="ja-JP" dirty="0"/>
              <a:t>40</a:t>
            </a:r>
            <a:r>
              <a:rPr lang="ja-JP" altLang="en-US" dirty="0"/>
              <a:t>秒</a:t>
            </a:r>
            <a:r>
              <a:rPr lang="en-US" altLang="ja-JP" dirty="0"/>
              <a:t>】</a:t>
            </a:r>
          </a:p>
          <a:p>
            <a:r>
              <a:rPr lang="ja-JP" altLang="en-US" dirty="0"/>
              <a:t>利用の流れは四つです。</a:t>
            </a:r>
          </a:p>
          <a:p>
            <a:r>
              <a:rPr lang="ja-JP" altLang="en-US" dirty="0"/>
              <a:t>テーブル</a:t>
            </a:r>
            <a:r>
              <a:rPr lang="en-US" altLang="ja-JP" dirty="0"/>
              <a:t>ID</a:t>
            </a:r>
            <a:r>
              <a:rPr lang="ja-JP" altLang="en-US" dirty="0"/>
              <a:t>とニックネームで開始し、商品を選び、カートで注文を確定します。</a:t>
            </a:r>
          </a:p>
          <a:p>
            <a:r>
              <a:rPr lang="ja-JP" altLang="en-US" dirty="0"/>
              <a:t>確定した注文は</a:t>
            </a:r>
            <a:r>
              <a:rPr lang="en-US" altLang="ja-JP" dirty="0"/>
              <a:t>Firebase</a:t>
            </a:r>
            <a:r>
              <a:rPr lang="ja-JP" altLang="en-US" dirty="0"/>
              <a:t>へ保存され、注文履歴と飲酒量へ反映されます。</a:t>
            </a:r>
          </a:p>
          <a:p>
            <a:r>
              <a:rPr lang="ja-JP" altLang="en-US" dirty="0"/>
              <a:t>注文と記録が一つの流れで完結する点が特徴です</a:t>
            </a:r>
            <a:endParaRPr dirty="0"/>
          </a:p>
        </p:txBody>
      </p:sp>
      <p:sp>
        <p:nvSpPr>
          <p:cNvPr id="4" name="Slide Number Placeholder 3">
            <a:extLst>
              <a:ext uri="{FF2B5EF4-FFF2-40B4-BE49-F238E27FC236}">
                <a16:creationId xmlns:a16="http://schemas.microsoft.com/office/drawing/2014/main" id="{DA2BEFCE-BDD5-9E3B-D297-97A9B1E27AE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93131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t>
            </a:r>
            <a:r>
              <a:rPr dirty="0" err="1"/>
              <a:t>目安</a:t>
            </a:r>
            <a:r>
              <a:rPr dirty="0"/>
              <a:t> 40秒】</a:t>
            </a:r>
          </a:p>
          <a:p>
            <a:r>
              <a:rPr dirty="0" err="1"/>
              <a:t>利用の流れは四つです</a:t>
            </a:r>
            <a:r>
              <a:rPr dirty="0"/>
              <a:t>。</a:t>
            </a:r>
          </a:p>
          <a:p>
            <a:r>
              <a:rPr dirty="0" err="1"/>
              <a:t>テーブルIDとニックネームで開始し、商品を選び、カートで注文を確定します</a:t>
            </a:r>
            <a:r>
              <a:rPr dirty="0"/>
              <a:t>。</a:t>
            </a:r>
          </a:p>
          <a:p>
            <a:r>
              <a:rPr dirty="0" err="1"/>
              <a:t>確定した注文はFirebaseへ保存され、注文履歴と飲酒量へ反映されます</a:t>
            </a:r>
            <a:r>
              <a:rPr dirty="0"/>
              <a:t>。</a:t>
            </a:r>
          </a:p>
          <a:p>
            <a:r>
              <a:rPr dirty="0" err="1"/>
              <a:t>注文と記録が一つの流れで完結する点が特徴です</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 50秒】</a:t>
            </a:r>
          </a:p>
          <a:p>
            <a:r>
              <a:t>当初は飲んだ杯数を自分で入力するタップカウント型でした。</a:t>
            </a:r>
          </a:p>
          <a:p>
            <a:r>
              <a:t>しかし毎回アプリを開く必要があり、入力忘れが起きやすいと考えました。</a:t>
            </a:r>
          </a:p>
          <a:p>
            <a:r>
              <a:t>そこで5月に方向転換し、注文確定をそのまま記録として使う方式に変更しました。</a:t>
            </a:r>
          </a:p>
          <a:p>
            <a:r>
              <a:t>追加の記録操作が不要なので、実際の利用場面に合いやすくなりました。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dirty="0"/>
              <a:t>主に実装した機能は3つあります。</a:t>
            </a:r>
            <a:br>
              <a:rPr lang="ja-JP" altLang="ja-JP" dirty="0"/>
            </a:br>
            <a:r>
              <a:rPr lang="ja-JP" altLang="ja-JP" dirty="0"/>
              <a:t>1つ目は注文機能で、商品の追加や数量変更、削除、注文確定ができます。</a:t>
            </a:r>
            <a:br>
              <a:rPr lang="ja-JP" altLang="ja-JP" dirty="0"/>
            </a:br>
            <a:r>
              <a:rPr lang="ja-JP" altLang="ja-JP" dirty="0"/>
              <a:t>2つ目はデータベース保存で、確定した注文内容をFirebaseへリアルタイムに保存します。</a:t>
            </a:r>
            <a:br>
              <a:rPr lang="ja-JP" altLang="ja-JP" dirty="0"/>
            </a:br>
            <a:r>
              <a:rPr lang="ja-JP" altLang="ja-JP" dirty="0"/>
              <a:t>3つ目はペース記録通知で、注文履歴から飲酒ペースを記録し、飲み過ぎを防ぐための通知を行います。</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 40秒】</a:t>
            </a:r>
          </a:p>
          <a:p>
            <a:r>
              <a:t>純アルコール量は、容量かける度数かける0.8、割る100で計算します。</a:t>
            </a:r>
          </a:p>
          <a:p>
            <a:r>
              <a:t>500ミリリットル、5パーセントのビールでは20グラムです。</a:t>
            </a:r>
          </a:p>
          <a:p>
            <a:r>
              <a:t>商品ごとに容量と度数を持たせ、結果を履歴と飲酒ペース表示に使っています。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 45秒】</a:t>
            </a:r>
          </a:p>
          <a:p>
            <a:r>
              <a:t>直近30分の純アルコール量が60グラム以上になると注意を表示します。</a:t>
            </a:r>
          </a:p>
          <a:p>
            <a:r>
              <a:t>同じ注意が続かないよう、通知後30分の間隔も設定しました。</a:t>
            </a:r>
          </a:p>
          <a:p>
            <a:r>
              <a:t>これは安全性や飲酒可否を判断する機能ではなく、自分のペースを振り返るための目安です。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 45秒】</a:t>
            </a:r>
          </a:p>
          <a:p>
            <a:r>
              <a:t>開発環境はFlutter 3.35.7、Dart 3.9.2で、Firebase Realtime DatabaseとGitを使いました。</a:t>
            </a:r>
          </a:p>
          <a:p>
            <a:r>
              <a:t>5月に仕様を見直し、6月にFirebase、カート、履歴、ペース判定を実装しました。</a:t>
            </a:r>
          </a:p>
          <a:p>
            <a:r>
              <a:t>7月はUI調整と不要機能の削除を行い、変更過程をコミット履歴へ残しました。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 55秒】</a:t>
            </a:r>
          </a:p>
          <a:p>
            <a:r>
              <a:t>静的解析、単体テスト、Widgetテストを実施し、現在11件すべて成功しています。</a:t>
            </a:r>
          </a:p>
          <a:p>
            <a:r>
              <a:t>計算、30分集計、60グラムの境界、通知間隔、テーブルID検証、画面遷移を確認しました。</a:t>
            </a:r>
          </a:p>
          <a:p>
            <a:r>
              <a:t>AIはFirebaseの非同期処理、集計処理、エラー調査、仕様書と発表メモの文章整理に使い、最終的な内容と動作は自分で確認しました。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 90秒／実機操作】</a:t>
            </a:r>
          </a:p>
          <a:p>
            <a:r>
              <a:t>1. テーブルID「T01」で開始し、入力規則を説明します。</a:t>
            </a:r>
          </a:p>
          <a:p>
            <a:r>
              <a:t>2. ニックネームを入力します。空欄はゲストになります。</a:t>
            </a:r>
          </a:p>
          <a:p>
            <a:r>
              <a:t>3. 生ビールと料理をカートへ追加します。</a:t>
            </a:r>
          </a:p>
          <a:p>
            <a:r>
              <a:t>4. 数量変更を示して注文を確定します。ここでFirebaseへ保存されます。</a:t>
            </a:r>
          </a:p>
          <a:p>
            <a:r>
              <a:t>5. 注文履歴を開き、商品名、時刻、純アルコール量を確認します。</a:t>
            </a:r>
          </a:p>
          <a:p>
            <a:r>
              <a:t>時間があればビール3杯分で60グラム以上の注意表示を示します。</a:t>
            </a:r>
          </a:p>
          <a:p>
            <a:r>
              <a:t>通信に失敗した場合は、このページの3画面を使って同じ流れを説明します。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 35秒】</a:t>
            </a:r>
          </a:p>
          <a:p>
            <a:r>
              <a:t>SakeStopでは、テーブル登録から商品選択、注文確定、履歴保存までの流れを一つのアプリにまとめました。</a:t>
            </a:r>
          </a:p>
          <a:p>
            <a:r>
              <a:t>注文時に純アルコール量を計算し、直近30分の合計を表示することで、自分の飲酒ペースを振り返れるようにしました。</a:t>
            </a:r>
          </a:p>
          <a:p>
            <a:r>
              <a:t>FlutterとFirebaseを使い、実装・テスト・資料作成まで完成させました。</a:t>
            </a:r>
          </a:p>
          <a:p>
            <a:r>
              <a:t>以上で発表を終わります。ありがとうございました。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68C29-C276-4DB6-B83E-8D4FEC91E2A4}"/>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636B67A0-9C4A-4551-973F-25D82059DC1E}"/>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2BD18C67-BF08-4968-87CC-C5B0B218FD8C}"/>
              </a:ext>
            </a:extLst>
          </p:cNvPr>
          <p:cNvSpPr>
            <a:spLocks noGrp="1"/>
          </p:cNvSpPr>
          <p:nvPr>
            <p:ph type="dt" idx="10"/>
          </p:nvPr>
        </p:nvSpPr>
        <p:spPr/>
        <p:txBody>
          <a:bodyPr/>
          <a:lstStyle/>
          <a:p>
            <a:fld id="{1D8BD707-D9CF-40AE-B4C6-C98DA3205C09}" type="datetimeFigureOut">
              <a:t>2026/7/15</a:t>
            </a:fld>
            <a:endParaRPr/>
          </a:p>
        </p:txBody>
      </p:sp>
      <p:sp>
        <p:nvSpPr>
          <p:cNvPr id="5" name="Footer Placeholder 4">
            <a:extLst>
              <a:ext uri="{FF2B5EF4-FFF2-40B4-BE49-F238E27FC236}">
                <a16:creationId xmlns:a16="http://schemas.microsoft.com/office/drawing/2014/main" id="{1596F0B0-335B-4E2A-B76F-BBCB5A63C22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C9D65AB-BCF5-49C9-88F4-F12791C12CCB}"/>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9EAE2-EF41-4ABD-9C69-DBCBFAC88E91}"/>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54574D3-3E01-465D-A071-2CD0992D2490}"/>
              </a:ext>
            </a:extLst>
          </p:cNvPr>
          <p:cNvSpPr>
            <a:spLocks noGrp="1"/>
          </p:cNvSpPr>
          <p:nvPr>
            <p:ph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7C0EB537-33DB-4F34-9403-D2CBD52A499A}"/>
              </a:ext>
            </a:extLst>
          </p:cNvPr>
          <p:cNvSpPr>
            <a:spLocks noGrp="1"/>
          </p:cNvSpPr>
          <p:nvPr>
            <p:ph type="dt" idx="10"/>
          </p:nvPr>
        </p:nvSpPr>
        <p:spPr/>
        <p:txBody>
          <a:bodyPr/>
          <a:lstStyle/>
          <a:p>
            <a:fld id="{1D8BD707-D9CF-40AE-B4C6-C98DA3205C09}" type="datetimeFigureOut">
              <a:t>2026/7/15</a:t>
            </a:fld>
            <a:endParaRPr/>
          </a:p>
        </p:txBody>
      </p:sp>
      <p:sp>
        <p:nvSpPr>
          <p:cNvPr id="5" name="Footer Placeholder 4">
            <a:extLst>
              <a:ext uri="{FF2B5EF4-FFF2-40B4-BE49-F238E27FC236}">
                <a16:creationId xmlns:a16="http://schemas.microsoft.com/office/drawing/2014/main" id="{506013E9-322F-40EC-B4A6-220A0D9776E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A03BC11-586E-42FE-9252-679F0A247C1D}"/>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EF588-E59A-49E8-AF20-C74CA611A880}"/>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3E07C56-9610-4211-813A-8CC793611349}"/>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a:buNone/>
            </a:pPr>
            <a:r>
              <a:t>Click to edit Master text styles</a:t>
            </a:r>
          </a:p>
        </p:txBody>
      </p:sp>
      <p:sp>
        <p:nvSpPr>
          <p:cNvPr id="4" name="Date Placeholder 3">
            <a:extLst>
              <a:ext uri="{FF2B5EF4-FFF2-40B4-BE49-F238E27FC236}">
                <a16:creationId xmlns:a16="http://schemas.microsoft.com/office/drawing/2014/main" id="{534826BA-9B51-4A5B-BC00-E447FC5F2DC4}"/>
              </a:ext>
            </a:extLst>
          </p:cNvPr>
          <p:cNvSpPr>
            <a:spLocks noGrp="1"/>
          </p:cNvSpPr>
          <p:nvPr>
            <p:ph type="dt" idx="10"/>
          </p:nvPr>
        </p:nvSpPr>
        <p:spPr/>
        <p:txBody>
          <a:bodyPr/>
          <a:lstStyle/>
          <a:p>
            <a:fld id="{1D8BD707-D9CF-40AE-B4C6-C98DA3205C09}" type="datetimeFigureOut">
              <a:t>2026/7/15</a:t>
            </a:fld>
            <a:endParaRPr/>
          </a:p>
        </p:txBody>
      </p:sp>
      <p:sp>
        <p:nvSpPr>
          <p:cNvPr id="5" name="Footer Placeholder 4">
            <a:extLst>
              <a:ext uri="{FF2B5EF4-FFF2-40B4-BE49-F238E27FC236}">
                <a16:creationId xmlns:a16="http://schemas.microsoft.com/office/drawing/2014/main" id="{42C52003-F6E4-4F33-8F52-85D8821AF3F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3CC663B-507C-4401-9767-C1D40D1E58BB}"/>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A1717-7D60-4D8A-A96E-DA13031B64D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ED1E287F-AD5F-4D26-A2F5-0AEB39DA9FE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id="{D7DD2310-7DBA-43AA-AEE4-A1326059D648}"/>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a16="http://schemas.microsoft.com/office/drawing/2014/main" id="{EC3F609B-E296-46D3-A822-F011D2C7D810}"/>
              </a:ext>
            </a:extLst>
          </p:cNvPr>
          <p:cNvSpPr>
            <a:spLocks noGrp="1"/>
          </p:cNvSpPr>
          <p:nvPr>
            <p:ph type="dt" idx="10"/>
          </p:nvPr>
        </p:nvSpPr>
        <p:spPr/>
        <p:txBody>
          <a:bodyPr/>
          <a:lstStyle/>
          <a:p>
            <a:fld id="{1D8BD707-D9CF-40AE-B4C6-C98DA3205C09}" type="datetimeFigureOut">
              <a:t>2026/7/15</a:t>
            </a:fld>
            <a:endParaRPr/>
          </a:p>
        </p:txBody>
      </p:sp>
      <p:sp>
        <p:nvSpPr>
          <p:cNvPr id="6" name="Footer Placeholder 5">
            <a:extLst>
              <a:ext uri="{FF2B5EF4-FFF2-40B4-BE49-F238E27FC236}">
                <a16:creationId xmlns:a16="http://schemas.microsoft.com/office/drawing/2014/main" id="{92C83FDD-654D-415D-8F67-1CB7D5DE4B6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481D460-7158-44B6-B8F6-E62C614AA82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EE16B-A237-4E7F-AC57-236B17C2C055}"/>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A950E8A7-90CD-4140-A2A1-C49712C6B52A}"/>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4" name="Content Placeholder 3">
            <a:extLst>
              <a:ext uri="{FF2B5EF4-FFF2-40B4-BE49-F238E27FC236}">
                <a16:creationId xmlns:a16="http://schemas.microsoft.com/office/drawing/2014/main" id="{CA84143C-F0B0-42A3-993A-51DAD8B1DBC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C8C08A66-586A-4361-805E-FA6727F43696}"/>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6" name="Content Placeholder 5">
            <a:extLst>
              <a:ext uri="{FF2B5EF4-FFF2-40B4-BE49-F238E27FC236}">
                <a16:creationId xmlns:a16="http://schemas.microsoft.com/office/drawing/2014/main" id="{C03CC53F-DFB2-4B01-A694-03BC85FE295B}"/>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832F8F6A-06AD-49D5-96DD-C89D408CD5C5}"/>
              </a:ext>
            </a:extLst>
          </p:cNvPr>
          <p:cNvSpPr>
            <a:spLocks noGrp="1"/>
          </p:cNvSpPr>
          <p:nvPr>
            <p:ph type="dt" idx="10"/>
          </p:nvPr>
        </p:nvSpPr>
        <p:spPr/>
        <p:txBody>
          <a:bodyPr/>
          <a:lstStyle/>
          <a:p>
            <a:fld id="{1D8BD707-D9CF-40AE-B4C6-C98DA3205C09}" type="datetimeFigureOut">
              <a:t>2026/7/15</a:t>
            </a:fld>
            <a:endParaRPr/>
          </a:p>
        </p:txBody>
      </p:sp>
      <p:sp>
        <p:nvSpPr>
          <p:cNvPr id="8" name="Footer Placeholder 7">
            <a:extLst>
              <a:ext uri="{FF2B5EF4-FFF2-40B4-BE49-F238E27FC236}">
                <a16:creationId xmlns:a16="http://schemas.microsoft.com/office/drawing/2014/main" id="{3BD205FB-3A0B-46D9-A9D1-AE8DC22569AF}"/>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441F4B1-4AFA-4E64-90D8-5DF21F1BE92E}"/>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1ADEB-BAED-4911-BB7B-A12B853203D7}"/>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02C05DAC-2F88-4741-9597-94D140F0B47D}"/>
              </a:ext>
            </a:extLst>
          </p:cNvPr>
          <p:cNvSpPr>
            <a:spLocks noGrp="1"/>
          </p:cNvSpPr>
          <p:nvPr>
            <p:ph type="dt" idx="10"/>
          </p:nvPr>
        </p:nvSpPr>
        <p:spPr/>
        <p:txBody>
          <a:bodyPr/>
          <a:lstStyle/>
          <a:p>
            <a:fld id="{1D8BD707-D9CF-40AE-B4C6-C98DA3205C09}" type="datetimeFigureOut">
              <a:t>2026/7/15</a:t>
            </a:fld>
            <a:endParaRPr/>
          </a:p>
        </p:txBody>
      </p:sp>
      <p:sp>
        <p:nvSpPr>
          <p:cNvPr id="4" name="Footer Placeholder 3">
            <a:extLst>
              <a:ext uri="{FF2B5EF4-FFF2-40B4-BE49-F238E27FC236}">
                <a16:creationId xmlns:a16="http://schemas.microsoft.com/office/drawing/2014/main" id="{17D4982B-20E5-42A1-B397-6AA989996DFF}"/>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1E9B44D-4763-4B96-9257-F8BDE193E422}"/>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6599A0-4C4F-4D22-9554-8CD992CB0044}"/>
              </a:ext>
            </a:extLst>
          </p:cNvPr>
          <p:cNvSpPr>
            <a:spLocks noGrp="1"/>
          </p:cNvSpPr>
          <p:nvPr>
            <p:ph type="dt" idx="10"/>
          </p:nvPr>
        </p:nvSpPr>
        <p:spPr/>
        <p:txBody>
          <a:bodyPr/>
          <a:lstStyle/>
          <a:p>
            <a:fld id="{1D8BD707-D9CF-40AE-B4C6-C98DA3205C09}" type="datetimeFigureOut">
              <a:t>2026/7/15</a:t>
            </a:fld>
            <a:endParaRPr/>
          </a:p>
        </p:txBody>
      </p:sp>
      <p:sp>
        <p:nvSpPr>
          <p:cNvPr id="3" name="Footer Placeholder 2">
            <a:extLst>
              <a:ext uri="{FF2B5EF4-FFF2-40B4-BE49-F238E27FC236}">
                <a16:creationId xmlns:a16="http://schemas.microsoft.com/office/drawing/2014/main" id="{7E93D3A3-F711-43AB-AADC-CCC9C3C90750}"/>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CA7765E8-4180-4012-A6F4-F67F6B7DF8CC}"/>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EB3D1-991C-416F-917D-E70408B4D4E9}"/>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4F065201-07A1-43B4-8A77-6EA582CA116F}"/>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a16="http://schemas.microsoft.com/office/drawing/2014/main" id="{4613390C-69C4-41B0-9136-401E721167DD}"/>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a16="http://schemas.microsoft.com/office/drawing/2014/main" id="{E35B18CF-83AD-40CC-82C4-6B87AC128DCF}"/>
              </a:ext>
            </a:extLst>
          </p:cNvPr>
          <p:cNvSpPr>
            <a:spLocks noGrp="1"/>
          </p:cNvSpPr>
          <p:nvPr>
            <p:ph type="dt" idx="10"/>
          </p:nvPr>
        </p:nvSpPr>
        <p:spPr/>
        <p:txBody>
          <a:bodyPr/>
          <a:lstStyle/>
          <a:p>
            <a:fld id="{1D8BD707-D9CF-40AE-B4C6-C98DA3205C09}" type="datetimeFigureOut">
              <a:t>2026/7/15</a:t>
            </a:fld>
            <a:endParaRPr/>
          </a:p>
        </p:txBody>
      </p:sp>
      <p:sp>
        <p:nvSpPr>
          <p:cNvPr id="6" name="Footer Placeholder 5">
            <a:extLst>
              <a:ext uri="{FF2B5EF4-FFF2-40B4-BE49-F238E27FC236}">
                <a16:creationId xmlns:a16="http://schemas.microsoft.com/office/drawing/2014/main" id="{0478B97E-8877-47BA-A1F9-7CA80FB339E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09DE474-F460-43C1-94C7-A17547C7D90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CA0D1-513B-45A1-96BC-FCA6122AF038}"/>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7D867D5D-9EF6-4F30-BA05-20670F0A6E1C}"/>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5032F2C-4A2B-4A15-94CE-E74E968ED800}"/>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a16="http://schemas.microsoft.com/office/drawing/2014/main" id="{6F75BDEF-641C-4B7A-A5E9-1497C9A41813}"/>
              </a:ext>
            </a:extLst>
          </p:cNvPr>
          <p:cNvSpPr>
            <a:spLocks noGrp="1"/>
          </p:cNvSpPr>
          <p:nvPr>
            <p:ph type="dt" idx="10"/>
          </p:nvPr>
        </p:nvSpPr>
        <p:spPr/>
        <p:txBody>
          <a:bodyPr/>
          <a:lstStyle/>
          <a:p>
            <a:fld id="{1D8BD707-D9CF-40AE-B4C6-C98DA3205C09}" type="datetimeFigureOut">
              <a:t>2026/7/15</a:t>
            </a:fld>
            <a:endParaRPr/>
          </a:p>
        </p:txBody>
      </p:sp>
      <p:sp>
        <p:nvSpPr>
          <p:cNvPr id="6" name="Footer Placeholder 5">
            <a:extLst>
              <a:ext uri="{FF2B5EF4-FFF2-40B4-BE49-F238E27FC236}">
                <a16:creationId xmlns:a16="http://schemas.microsoft.com/office/drawing/2014/main" id="{E9698502-E2E5-4A1B-9B15-EEED5E2436D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70034F5-966D-40BC-B784-FA09E6EA085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9BA31-19C9-4805-898F-63A7D0BED3A2}"/>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F40FC478-D52A-4F73-90F0-46A910779B48}"/>
              </a:ext>
            </a:extLst>
          </p:cNvPr>
          <p:cNvSpPr>
            <a:spLocks noGrp="1"/>
          </p:cNvSpPr>
          <p:nvPr>
            <p:ph type="body" idx="1"/>
          </p:nvPr>
        </p:nvSpPr>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C26CEAB3-F976-4317-9C33-3C72183EBAF5}"/>
              </a:ext>
            </a:extLst>
          </p:cNvPr>
          <p:cNvSpPr>
            <a:spLocks noGrp="1"/>
          </p:cNvSpPr>
          <p:nvPr>
            <p:ph type="dt" idx="10"/>
          </p:nvPr>
        </p:nvSpPr>
        <p:spPr/>
        <p:txBody>
          <a:bodyPr/>
          <a:lstStyle/>
          <a:p>
            <a:fld id="{1D8BD707-D9CF-40AE-B4C6-C98DA3205C09}" type="datetimeFigureOut">
              <a:t>2026/7/15</a:t>
            </a:fld>
            <a:endParaRPr/>
          </a:p>
        </p:txBody>
      </p:sp>
      <p:sp>
        <p:nvSpPr>
          <p:cNvPr id="5" name="Footer Placeholder 4">
            <a:extLst>
              <a:ext uri="{FF2B5EF4-FFF2-40B4-BE49-F238E27FC236}">
                <a16:creationId xmlns:a16="http://schemas.microsoft.com/office/drawing/2014/main" id="{25A66739-4B95-4A57-989F-A73733F85AC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734E71D-EE7A-413E-9BC3-B4BA763F51E7}"/>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F37FF9-5C62-47DB-906F-860C4AF3C0F6}"/>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A93CDD55-AF52-4F56-B9EF-97917BA0F6A0}"/>
              </a:ext>
            </a:extLst>
          </p:cNvPr>
          <p:cNvSpPr>
            <a:spLocks noGrp="1"/>
          </p:cNvSpPr>
          <p:nvPr>
            <p:ph type="body" idx="1"/>
          </p:nvPr>
        </p:nvSpPr>
        <p:spPr>
          <a:xfrm>
            <a:off x="457200" y="274638"/>
            <a:ext cx="6019800" cy="5851525"/>
          </a:xfr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77645DAE-1FE2-4860-A595-83E1BCDCCDAD}"/>
              </a:ext>
            </a:extLst>
          </p:cNvPr>
          <p:cNvSpPr>
            <a:spLocks noGrp="1"/>
          </p:cNvSpPr>
          <p:nvPr>
            <p:ph type="dt" idx="10"/>
          </p:nvPr>
        </p:nvSpPr>
        <p:spPr/>
        <p:txBody>
          <a:bodyPr/>
          <a:lstStyle/>
          <a:p>
            <a:fld id="{1D8BD707-D9CF-40AE-B4C6-C98DA3205C09}" type="datetimeFigureOut">
              <a:t>2026/7/15</a:t>
            </a:fld>
            <a:endParaRPr/>
          </a:p>
        </p:txBody>
      </p:sp>
      <p:sp>
        <p:nvSpPr>
          <p:cNvPr id="5" name="Footer Placeholder 4">
            <a:extLst>
              <a:ext uri="{FF2B5EF4-FFF2-40B4-BE49-F238E27FC236}">
                <a16:creationId xmlns:a16="http://schemas.microsoft.com/office/drawing/2014/main" id="{F541DE04-7444-49B8-A86E-3E3EA5F799B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A3209C3-BBC8-452E-96E5-3AF849188FF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B46436-3BFF-4C01-80CC-2931DA72EDA9}"/>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32DC9566-FCC6-4227-B701-B66AFA33B009}"/>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19B59B1B-54D4-46B3-8E59-312B6B2AA96D}"/>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t>2026/7/15</a:t>
            </a:fld>
            <a:endParaRPr/>
          </a:p>
        </p:txBody>
      </p:sp>
      <p:sp>
        <p:nvSpPr>
          <p:cNvPr id="5" name="Footer Placeholder 4">
            <a:extLst>
              <a:ext uri="{FF2B5EF4-FFF2-40B4-BE49-F238E27FC236}">
                <a16:creationId xmlns:a16="http://schemas.microsoft.com/office/drawing/2014/main" id="{22FF217B-5F81-47E3-8F9B-3C4BC35A4D9E}"/>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DB6EA99D-E7AE-4A43-9247-99B8DDDC9F64}"/>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a:buNone/>
        <a:defRPr sz="4400">
          <a:solidFill>
            <a:schemeClr val="tx1"/>
          </a:solidFill>
          <a:latin typeface="+mj-lt"/>
          <a:ea typeface="+mj-lt"/>
          <a:cs typeface="+mj-lt"/>
        </a:defRPr>
      </a:lvl1pPr>
    </p:titleStyle>
    <p:bodyStyle>
      <a:lvl1pPr marL="342900" indent="-342900" algn="l">
        <a:buChar char="•"/>
        <a:defRPr sz="3200">
          <a:solidFill>
            <a:schemeClr val="tx1"/>
          </a:solidFill>
          <a:latin typeface="+mn-lt"/>
          <a:ea typeface="+mn-lt"/>
          <a:cs typeface="+mn-lt"/>
        </a:defRPr>
      </a:lvl1pPr>
      <a:lvl2pPr marL="742950" indent="-285750" algn="l">
        <a:buChar char="–"/>
        <a:defRPr sz="2800">
          <a:solidFill>
            <a:schemeClr val="tx1"/>
          </a:solidFill>
          <a:latin typeface="+mn-lt"/>
          <a:ea typeface="+mn-lt"/>
          <a:cs typeface="+mn-lt"/>
        </a:defRPr>
      </a:lvl2pPr>
      <a:lvl3pPr marL="1143000" indent="-228600" algn="l">
        <a:buChar char="•"/>
        <a:defRPr sz="2400">
          <a:solidFill>
            <a:schemeClr val="tx1"/>
          </a:solidFill>
          <a:latin typeface="+mn-lt"/>
          <a:ea typeface="+mn-lt"/>
          <a:cs typeface="+mn-lt"/>
        </a:defRPr>
      </a:lvl3pPr>
      <a:lvl4pPr marL="1600200" indent="-228600" algn="l">
        <a:buChar char="–"/>
        <a:defRPr sz="2000">
          <a:solidFill>
            <a:schemeClr val="tx1"/>
          </a:solidFill>
          <a:latin typeface="+mn-lt"/>
          <a:ea typeface="+mn-lt"/>
          <a:cs typeface="+mn-lt"/>
        </a:defRPr>
      </a:lvl4pPr>
      <a:lvl5pPr marL="2057400" indent="-228600" algn="l">
        <a:buChar char="»"/>
        <a:defRPr sz="2000">
          <a:solidFill>
            <a:schemeClr val="tx1"/>
          </a:solidFill>
          <a:latin typeface="+mn-lt"/>
          <a:ea typeface="+mn-lt"/>
          <a:cs typeface="+mn-l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58E2AB53-0560-42B7-B9CC-6314D2DD2FDF}"/>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txBody>
          <a:bodyPr/>
          <a:lstStyle/>
          <a:p>
            <a:endParaRPr/>
          </a:p>
        </p:txBody>
      </p:sp>
      <p:sp>
        <p:nvSpPr>
          <p:cNvPr id="5" name="Freeform 5">
            <a:extLst>
              <a:ext uri="{FF2B5EF4-FFF2-40B4-BE49-F238E27FC236}">
                <a16:creationId xmlns:a16="http://schemas.microsoft.com/office/drawing/2014/main" id="{9CC0063B-079E-4EB7-B0E4-0C0F03A7B244}"/>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txBody>
          <a:bodyPr/>
          <a:lstStyle/>
          <a:p>
            <a:endParaRPr/>
          </a:p>
        </p:txBody>
      </p:sp>
      <p:sp>
        <p:nvSpPr>
          <p:cNvPr id="9" name="Freeform 9">
            <a:extLst>
              <a:ext uri="{FF2B5EF4-FFF2-40B4-BE49-F238E27FC236}">
                <a16:creationId xmlns:a16="http://schemas.microsoft.com/office/drawing/2014/main" id="{5F40831B-3D1E-470B-8D10-21B67DEF4412}"/>
              </a:ext>
            </a:extLst>
          </p:cNvPr>
          <p:cNvSpPr>
            <a:spLocks noGrp="1"/>
          </p:cNvSpPr>
          <p:nvPr/>
        </p:nvSpPr>
        <p:spPr>
          <a:xfrm>
            <a:off x="11430000" y="0"/>
            <a:ext cx="6858000" cy="10287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txBody>
          <a:bodyPr/>
          <a:lstStyle/>
          <a:p>
            <a:endParaRPr/>
          </a:p>
        </p:txBody>
      </p:sp>
      <p:sp>
        <p:nvSpPr>
          <p:cNvPr id="10" name="TextBox 10">
            <a:extLst>
              <a:ext uri="{FF2B5EF4-FFF2-40B4-BE49-F238E27FC236}">
                <a16:creationId xmlns:a16="http://schemas.microsoft.com/office/drawing/2014/main" id="{CCF020D6-4CAC-4FE0-A629-639B78BC928A}"/>
              </a:ext>
            </a:extLst>
          </p:cNvPr>
          <p:cNvSpPr>
            <a:spLocks noGrp="1"/>
          </p:cNvSpPr>
          <p:nvPr/>
        </p:nvSpPr>
        <p:spPr>
          <a:xfrm>
            <a:off x="992238" y="4005710"/>
            <a:ext cx="9445523" cy="914552"/>
          </a:xfrm>
          <a:prstGeom prst="rect">
            <a:avLst/>
          </a:prstGeom>
        </p:spPr>
        <p:txBody>
          <a:bodyPr lIns="0" tIns="0" rIns="0" bIns="0" anchor="t">
            <a:spAutoFit/>
          </a:bodyPr>
          <a:lstStyle/>
          <a:p>
            <a:pPr algn="l">
              <a:lnSpc>
                <a:spcPts val="6864"/>
              </a:lnSpc>
              <a:buNone/>
            </a:pPr>
            <a:r>
              <a:rPr sz="5500" b="1">
                <a:solidFill>
                  <a:srgbClr val="233939"/>
                </a:solidFill>
                <a:latin typeface="Syne Bold"/>
                <a:ea typeface="Syne Bold"/>
                <a:cs typeface="Syne Bold"/>
              </a:rPr>
              <a:t>SakeStop</a:t>
            </a:r>
          </a:p>
        </p:txBody>
      </p:sp>
      <p:sp>
        <p:nvSpPr>
          <p:cNvPr id="11" name="TextBox 11">
            <a:extLst>
              <a:ext uri="{FF2B5EF4-FFF2-40B4-BE49-F238E27FC236}">
                <a16:creationId xmlns:a16="http://schemas.microsoft.com/office/drawing/2014/main" id="{B274696D-BD78-4A6A-B6D0-346803FE209A}"/>
              </a:ext>
            </a:extLst>
          </p:cNvPr>
          <p:cNvSpPr>
            <a:spLocks noGrp="1"/>
          </p:cNvSpPr>
          <p:nvPr/>
        </p:nvSpPr>
        <p:spPr>
          <a:xfrm>
            <a:off x="992238" y="5259734"/>
            <a:ext cx="9445523" cy="421269"/>
          </a:xfrm>
          <a:prstGeom prst="rect">
            <a:avLst/>
          </a:prstGeom>
        </p:spPr>
        <p:txBody>
          <a:bodyPr lIns="0" tIns="0" rIns="0" bIns="0" anchor="t">
            <a:spAutoFit/>
          </a:bodyPr>
          <a:lstStyle/>
          <a:p>
            <a:pPr algn="l">
              <a:lnSpc>
                <a:spcPts val="3511"/>
              </a:lnSpc>
              <a:buNone/>
            </a:pPr>
            <a:r>
              <a:rPr sz="2200" dirty="0" err="1">
                <a:solidFill>
                  <a:srgbClr val="3B4E4E"/>
                </a:solidFill>
                <a:latin typeface="Overpass Light"/>
                <a:ea typeface="Overpass Light"/>
                <a:cs typeface="Overpass Light"/>
              </a:rPr>
              <a:t>居酒屋の注文と飲酒ペースを記録</a:t>
            </a:r>
            <a:endParaRPr sz="2200" dirty="0">
              <a:solidFill>
                <a:srgbClr val="3B4E4E"/>
              </a:solidFill>
              <a:latin typeface="Overpass Light"/>
              <a:ea typeface="Overpass Light"/>
              <a:cs typeface="Overpass Light"/>
            </a:endParaRPr>
          </a:p>
        </p:txBody>
      </p:sp>
    </p:spTree>
    <p:extLst>
      <p:ext uri="{BB962C8B-B14F-4D97-AF65-F5344CB8AC3E}">
        <p14:creationId xmlns:p14="http://schemas.microsoft.com/office/powerpoint/2010/main" val="591177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CDA0FB0A-E389-42E9-95A4-D910700FEDB8}"/>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txBody>
          <a:bodyPr/>
          <a:lstStyle/>
          <a:p>
            <a:endParaRPr/>
          </a:p>
        </p:txBody>
      </p:sp>
      <p:sp>
        <p:nvSpPr>
          <p:cNvPr id="5" name="Freeform 5">
            <a:extLst>
              <a:ext uri="{FF2B5EF4-FFF2-40B4-BE49-F238E27FC236}">
                <a16:creationId xmlns:a16="http://schemas.microsoft.com/office/drawing/2014/main" id="{66D4717E-A514-4710-88F6-3E823AD38FB9}"/>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txBody>
          <a:bodyPr/>
          <a:lstStyle/>
          <a:p>
            <a:endParaRPr/>
          </a:p>
        </p:txBody>
      </p:sp>
      <p:sp>
        <p:nvSpPr>
          <p:cNvPr id="9" name="Freeform 9">
            <a:extLst>
              <a:ext uri="{FF2B5EF4-FFF2-40B4-BE49-F238E27FC236}">
                <a16:creationId xmlns:a16="http://schemas.microsoft.com/office/drawing/2014/main" id="{88D03FF9-5DE5-4167-AA48-F2327521468F}"/>
              </a:ext>
            </a:extLst>
          </p:cNvPr>
          <p:cNvSpPr>
            <a:spLocks noGrp="1"/>
          </p:cNvSpPr>
          <p:nvPr/>
        </p:nvSpPr>
        <p:spPr>
          <a:xfrm>
            <a:off x="11430000" y="0"/>
            <a:ext cx="6858000" cy="10287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l="-62" r="-62"/>
            </a:stretch>
          </a:blipFill>
        </p:spPr>
        <p:txBody>
          <a:bodyPr/>
          <a:lstStyle/>
          <a:p>
            <a:endParaRPr/>
          </a:p>
        </p:txBody>
      </p:sp>
      <p:sp>
        <p:nvSpPr>
          <p:cNvPr id="11" name="Freeform 11">
            <a:extLst>
              <a:ext uri="{FF2B5EF4-FFF2-40B4-BE49-F238E27FC236}">
                <a16:creationId xmlns:a16="http://schemas.microsoft.com/office/drawing/2014/main" id="{EA1415BC-0C49-4AFE-8B9A-E5478A506078}"/>
              </a:ext>
            </a:extLst>
          </p:cNvPr>
          <p:cNvSpPr>
            <a:spLocks noGrp="1"/>
          </p:cNvSpPr>
          <p:nvPr/>
        </p:nvSpPr>
        <p:spPr>
          <a:xfrm>
            <a:off x="987476" y="4527794"/>
            <a:ext cx="9455086" cy="3314985"/>
          </a:xfrm>
          <a:custGeom>
            <a:avLst/>
            <a:gdLst/>
            <a:ahLst/>
            <a:cxnLst/>
            <a:rect l="l" t="t" r="r" b="b"/>
            <a:pathLst>
              <a:path w="12606782" h="4419981">
                <a:moveTo>
                  <a:pt x="0" y="159258"/>
                </a:moveTo>
                <a:cubicBezTo>
                  <a:pt x="0" y="71247"/>
                  <a:pt x="71247" y="0"/>
                  <a:pt x="159258" y="0"/>
                </a:cubicBezTo>
                <a:lnTo>
                  <a:pt x="12447524" y="0"/>
                </a:lnTo>
                <a:cubicBezTo>
                  <a:pt x="12535535" y="0"/>
                  <a:pt x="12606782" y="71247"/>
                  <a:pt x="12606782" y="159258"/>
                </a:cubicBezTo>
                <a:lnTo>
                  <a:pt x="12606782" y="4260723"/>
                </a:lnTo>
                <a:cubicBezTo>
                  <a:pt x="12606782" y="4348734"/>
                  <a:pt x="12535535" y="4419981"/>
                  <a:pt x="12447524" y="4419981"/>
                </a:cubicBezTo>
                <a:lnTo>
                  <a:pt x="159258" y="4419981"/>
                </a:lnTo>
                <a:cubicBezTo>
                  <a:pt x="71247" y="4419981"/>
                  <a:pt x="0" y="4348734"/>
                  <a:pt x="0" y="4260723"/>
                </a:cubicBezTo>
                <a:close/>
              </a:path>
            </a:pathLst>
          </a:custGeom>
          <a:solidFill>
            <a:srgbClr val="DDEEE6"/>
          </a:solidFill>
          <a:ln w="9526">
            <a:solidFill>
              <a:srgbClr val="C3D4CC"/>
            </a:solidFill>
            <a:prstDash val="solid"/>
          </a:ln>
        </p:spPr>
        <p:txBody>
          <a:bodyPr/>
          <a:lstStyle/>
          <a:p>
            <a:endParaRPr/>
          </a:p>
        </p:txBody>
      </p:sp>
      <p:sp>
        <p:nvSpPr>
          <p:cNvPr id="13" name="Freeform 13">
            <a:extLst>
              <a:ext uri="{FF2B5EF4-FFF2-40B4-BE49-F238E27FC236}">
                <a16:creationId xmlns:a16="http://schemas.microsoft.com/office/drawing/2014/main" id="{ED100BD9-1FAB-4953-BB0F-099B2C1356FA}"/>
              </a:ext>
            </a:extLst>
          </p:cNvPr>
          <p:cNvSpPr>
            <a:spLocks noGrp="1"/>
          </p:cNvSpPr>
          <p:nvPr/>
        </p:nvSpPr>
        <p:spPr>
          <a:xfrm>
            <a:off x="1001763" y="4542082"/>
            <a:ext cx="9426511" cy="1643253"/>
          </a:xfrm>
          <a:custGeom>
            <a:avLst/>
            <a:gdLst/>
            <a:ahLst/>
            <a:cxnLst/>
            <a:rect l="l" t="t" r="r" b="b"/>
            <a:pathLst>
              <a:path w="12568682" h="2191004">
                <a:moveTo>
                  <a:pt x="0" y="0"/>
                </a:moveTo>
                <a:lnTo>
                  <a:pt x="12568682" y="0"/>
                </a:lnTo>
                <a:lnTo>
                  <a:pt x="12568682" y="2191004"/>
                </a:lnTo>
                <a:lnTo>
                  <a:pt x="0" y="2191004"/>
                </a:lnTo>
                <a:close/>
              </a:path>
            </a:pathLst>
          </a:custGeom>
          <a:solidFill>
            <a:srgbClr val="DDEEE6"/>
          </a:solidFill>
        </p:spPr>
        <p:txBody>
          <a:bodyPr/>
          <a:lstStyle/>
          <a:p>
            <a:endParaRPr/>
          </a:p>
        </p:txBody>
      </p:sp>
      <p:sp>
        <p:nvSpPr>
          <p:cNvPr id="15" name="Freeform 15">
            <a:extLst>
              <a:ext uri="{FF2B5EF4-FFF2-40B4-BE49-F238E27FC236}">
                <a16:creationId xmlns:a16="http://schemas.microsoft.com/office/drawing/2014/main" id="{76CF3778-337A-4018-A5B3-7E21D904AC35}"/>
              </a:ext>
            </a:extLst>
          </p:cNvPr>
          <p:cNvSpPr>
            <a:spLocks noGrp="1"/>
          </p:cNvSpPr>
          <p:nvPr/>
        </p:nvSpPr>
        <p:spPr>
          <a:xfrm>
            <a:off x="1001763" y="6185297"/>
            <a:ext cx="9426511" cy="1643253"/>
          </a:xfrm>
          <a:custGeom>
            <a:avLst/>
            <a:gdLst/>
            <a:ahLst/>
            <a:cxnLst/>
            <a:rect l="l" t="t" r="r" b="b"/>
            <a:pathLst>
              <a:path w="12568682" h="2191004">
                <a:moveTo>
                  <a:pt x="0" y="0"/>
                </a:moveTo>
                <a:lnTo>
                  <a:pt x="12568682" y="0"/>
                </a:lnTo>
                <a:lnTo>
                  <a:pt x="12568682" y="2191004"/>
                </a:lnTo>
                <a:lnTo>
                  <a:pt x="0" y="2191004"/>
                </a:lnTo>
                <a:close/>
              </a:path>
            </a:pathLst>
          </a:custGeom>
          <a:solidFill>
            <a:srgbClr val="DDEEE6"/>
          </a:solidFill>
        </p:spPr>
        <p:txBody>
          <a:bodyPr/>
          <a:lstStyle/>
          <a:p>
            <a:endParaRPr/>
          </a:p>
        </p:txBody>
      </p:sp>
      <p:sp>
        <p:nvSpPr>
          <p:cNvPr id="17" name="Freeform 17">
            <a:extLst>
              <a:ext uri="{FF2B5EF4-FFF2-40B4-BE49-F238E27FC236}">
                <a16:creationId xmlns:a16="http://schemas.microsoft.com/office/drawing/2014/main" id="{85ECDDEB-1B86-429A-A48D-3793663134FF}"/>
              </a:ext>
            </a:extLst>
          </p:cNvPr>
          <p:cNvSpPr>
            <a:spLocks noGrp="1"/>
          </p:cNvSpPr>
          <p:nvPr/>
        </p:nvSpPr>
        <p:spPr>
          <a:xfrm>
            <a:off x="1001763" y="6185297"/>
            <a:ext cx="9426511" cy="38100"/>
          </a:xfrm>
          <a:custGeom>
            <a:avLst/>
            <a:gdLst/>
            <a:ahLst/>
            <a:cxnLst/>
            <a:rect l="l" t="t" r="r" b="b"/>
            <a:pathLst>
              <a:path w="12568682" h="50800">
                <a:moveTo>
                  <a:pt x="0" y="25400"/>
                </a:moveTo>
                <a:cubicBezTo>
                  <a:pt x="0" y="11430"/>
                  <a:pt x="11430" y="0"/>
                  <a:pt x="25400" y="0"/>
                </a:cubicBezTo>
                <a:lnTo>
                  <a:pt x="12543282" y="0"/>
                </a:lnTo>
                <a:cubicBezTo>
                  <a:pt x="12557251" y="0"/>
                  <a:pt x="12568682" y="11430"/>
                  <a:pt x="12568682" y="25400"/>
                </a:cubicBezTo>
                <a:cubicBezTo>
                  <a:pt x="12568682" y="39370"/>
                  <a:pt x="12557251" y="50800"/>
                  <a:pt x="12543282" y="50800"/>
                </a:cubicBezTo>
                <a:lnTo>
                  <a:pt x="25400" y="50800"/>
                </a:lnTo>
                <a:cubicBezTo>
                  <a:pt x="11430" y="50800"/>
                  <a:pt x="0" y="39370"/>
                  <a:pt x="0" y="25400"/>
                </a:cubicBezTo>
                <a:close/>
              </a:path>
            </a:pathLst>
          </a:custGeom>
          <a:solidFill>
            <a:srgbClr val="C3D4CC"/>
          </a:solidFill>
        </p:spPr>
        <p:txBody>
          <a:bodyPr/>
          <a:lstStyle/>
          <a:p>
            <a:endParaRPr/>
          </a:p>
        </p:txBody>
      </p:sp>
      <p:sp>
        <p:nvSpPr>
          <p:cNvPr id="18" name="TextBox 18">
            <a:extLst>
              <a:ext uri="{FF2B5EF4-FFF2-40B4-BE49-F238E27FC236}">
                <a16:creationId xmlns:a16="http://schemas.microsoft.com/office/drawing/2014/main" id="{F688FE79-FF58-40B1-967A-025F78B22DCD}"/>
              </a:ext>
            </a:extLst>
          </p:cNvPr>
          <p:cNvSpPr>
            <a:spLocks noGrp="1"/>
          </p:cNvSpPr>
          <p:nvPr/>
        </p:nvSpPr>
        <p:spPr>
          <a:xfrm>
            <a:off x="992238" y="2420245"/>
            <a:ext cx="9445523" cy="914552"/>
          </a:xfrm>
          <a:prstGeom prst="rect">
            <a:avLst/>
          </a:prstGeom>
        </p:spPr>
        <p:txBody>
          <a:bodyPr lIns="0" tIns="0" rIns="0" bIns="0" anchor="t">
            <a:spAutoFit/>
          </a:bodyPr>
          <a:lstStyle/>
          <a:p>
            <a:pPr algn="l">
              <a:lnSpc>
                <a:spcPts val="6864"/>
              </a:lnSpc>
              <a:buNone/>
            </a:pPr>
            <a:r>
              <a:rPr sz="5500" b="1">
                <a:solidFill>
                  <a:srgbClr val="233939"/>
                </a:solidFill>
                <a:latin typeface="Syne Bold"/>
                <a:ea typeface="Syne Bold"/>
                <a:cs typeface="Syne Bold"/>
              </a:rPr>
              <a:t>アプリの目的</a:t>
            </a:r>
          </a:p>
        </p:txBody>
      </p:sp>
      <p:sp>
        <p:nvSpPr>
          <p:cNvPr id="19" name="TextBox 19">
            <a:extLst>
              <a:ext uri="{FF2B5EF4-FFF2-40B4-BE49-F238E27FC236}">
                <a16:creationId xmlns:a16="http://schemas.microsoft.com/office/drawing/2014/main" id="{C6B6A3A4-1531-4835-B71D-9DD11B1A2D11}"/>
              </a:ext>
            </a:extLst>
          </p:cNvPr>
          <p:cNvSpPr>
            <a:spLocks noGrp="1"/>
          </p:cNvSpPr>
          <p:nvPr/>
        </p:nvSpPr>
        <p:spPr>
          <a:xfrm>
            <a:off x="992238" y="3674269"/>
            <a:ext cx="10359923" cy="539353"/>
          </a:xfrm>
          <a:prstGeom prst="rect">
            <a:avLst/>
          </a:prstGeom>
        </p:spPr>
        <p:txBody>
          <a:bodyPr lIns="0" tIns="0" rIns="0" bIns="0" anchor="t">
            <a:spAutoFit/>
          </a:bodyPr>
          <a:lstStyle/>
          <a:p>
            <a:pPr algn="l">
              <a:lnSpc>
                <a:spcPts val="3511"/>
              </a:lnSpc>
              <a:buNone/>
            </a:pPr>
            <a:r>
              <a:rPr sz="2200">
                <a:solidFill>
                  <a:srgbClr val="3B4E4E"/>
                </a:solidFill>
                <a:latin typeface="Overpass Light"/>
                <a:ea typeface="Overpass Light"/>
                <a:cs typeface="Overpass Light"/>
              </a:rPr>
              <a:t>飲酒を</a:t>
            </a:r>
            <a:r>
              <a:rPr sz="2200" b="1">
                <a:solidFill>
                  <a:srgbClr val="3B4E4E"/>
                </a:solidFill>
                <a:latin typeface="Overpass Bold"/>
                <a:ea typeface="Overpass Bold"/>
                <a:cs typeface="Overpass Bold"/>
              </a:rPr>
              <a:t>強制的に止める</a:t>
            </a:r>
            <a:r>
              <a:rPr sz="2200">
                <a:solidFill>
                  <a:srgbClr val="3B4E4E"/>
                </a:solidFill>
                <a:latin typeface="Overpass Light"/>
                <a:ea typeface="Overpass Light"/>
                <a:cs typeface="Overpass Light"/>
              </a:rPr>
              <a:t>アプリではありません</a:t>
            </a:r>
          </a:p>
        </p:txBody>
      </p:sp>
      <p:sp>
        <p:nvSpPr>
          <p:cNvPr id="20" name="TextBox 20">
            <a:extLst>
              <a:ext uri="{FF2B5EF4-FFF2-40B4-BE49-F238E27FC236}">
                <a16:creationId xmlns:a16="http://schemas.microsoft.com/office/drawing/2014/main" id="{F50B5CE4-309B-4BAB-9871-B1996538D280}"/>
              </a:ext>
            </a:extLst>
          </p:cNvPr>
          <p:cNvSpPr>
            <a:spLocks noGrp="1"/>
          </p:cNvSpPr>
          <p:nvPr/>
        </p:nvSpPr>
        <p:spPr>
          <a:xfrm>
            <a:off x="1285284" y="4806553"/>
            <a:ext cx="8859441" cy="471488"/>
          </a:xfrm>
          <a:prstGeom prst="rect">
            <a:avLst/>
          </a:prstGeom>
        </p:spPr>
        <p:txBody>
          <a:bodyPr lIns="0" tIns="0" rIns="0" bIns="0" anchor="t">
            <a:spAutoFit/>
          </a:bodyPr>
          <a:lstStyle/>
          <a:p>
            <a:pPr algn="l">
              <a:lnSpc>
                <a:spcPts val="3369"/>
              </a:lnSpc>
              <a:buNone/>
            </a:pPr>
            <a:r>
              <a:rPr sz="2700" b="1">
                <a:solidFill>
                  <a:srgbClr val="000000"/>
                </a:solidFill>
                <a:latin typeface="Syne Bold"/>
                <a:ea typeface="Syne Bold"/>
                <a:cs typeface="Syne Bold"/>
              </a:rPr>
              <a:t>❌</a:t>
            </a:r>
            <a:r>
              <a:rPr sz="2700" b="1">
                <a:solidFill>
                  <a:srgbClr val="3B4E4E"/>
                </a:solidFill>
                <a:latin typeface="Syne Bold"/>
                <a:ea typeface="Syne Bold"/>
                <a:cs typeface="Syne Bold"/>
              </a:rPr>
              <a:t> 強制ストップ</a:t>
            </a:r>
          </a:p>
        </p:txBody>
      </p:sp>
      <p:sp>
        <p:nvSpPr>
          <p:cNvPr id="21" name="TextBox 21">
            <a:extLst>
              <a:ext uri="{FF2B5EF4-FFF2-40B4-BE49-F238E27FC236}">
                <a16:creationId xmlns:a16="http://schemas.microsoft.com/office/drawing/2014/main" id="{B05BE07B-12E1-4E93-A68D-76A76582EFB5}"/>
              </a:ext>
            </a:extLst>
          </p:cNvPr>
          <p:cNvSpPr>
            <a:spLocks noGrp="1"/>
          </p:cNvSpPr>
          <p:nvPr/>
        </p:nvSpPr>
        <p:spPr>
          <a:xfrm>
            <a:off x="1285284" y="5362423"/>
            <a:ext cx="8859441" cy="539353"/>
          </a:xfrm>
          <a:prstGeom prst="rect">
            <a:avLst/>
          </a:prstGeom>
        </p:spPr>
        <p:txBody>
          <a:bodyPr lIns="0" tIns="0" rIns="0" bIns="0" anchor="t">
            <a:spAutoFit/>
          </a:bodyPr>
          <a:lstStyle/>
          <a:p>
            <a:pPr algn="l">
              <a:lnSpc>
                <a:spcPts val="3511"/>
              </a:lnSpc>
              <a:buNone/>
            </a:pPr>
            <a:r>
              <a:rPr sz="2200">
                <a:solidFill>
                  <a:srgbClr val="3B4E4E"/>
                </a:solidFill>
                <a:latin typeface="Overpass Light"/>
                <a:ea typeface="Overpass Light"/>
                <a:cs typeface="Overpass Light"/>
              </a:rPr>
              <a:t>飲酒を制限する機能はありません</a:t>
            </a:r>
          </a:p>
        </p:txBody>
      </p:sp>
      <p:sp>
        <p:nvSpPr>
          <p:cNvPr id="22" name="TextBox 22">
            <a:extLst>
              <a:ext uri="{FF2B5EF4-FFF2-40B4-BE49-F238E27FC236}">
                <a16:creationId xmlns:a16="http://schemas.microsoft.com/office/drawing/2014/main" id="{F095EE85-FF58-4825-85A4-FF523EF2A699}"/>
              </a:ext>
            </a:extLst>
          </p:cNvPr>
          <p:cNvSpPr>
            <a:spLocks noGrp="1"/>
          </p:cNvSpPr>
          <p:nvPr/>
        </p:nvSpPr>
        <p:spPr>
          <a:xfrm>
            <a:off x="1285284" y="6449768"/>
            <a:ext cx="8859441" cy="471488"/>
          </a:xfrm>
          <a:prstGeom prst="rect">
            <a:avLst/>
          </a:prstGeom>
        </p:spPr>
        <p:txBody>
          <a:bodyPr lIns="0" tIns="0" rIns="0" bIns="0" anchor="t">
            <a:spAutoFit/>
          </a:bodyPr>
          <a:lstStyle/>
          <a:p>
            <a:pPr algn="l">
              <a:lnSpc>
                <a:spcPts val="3369"/>
              </a:lnSpc>
              <a:buNone/>
            </a:pPr>
            <a:r>
              <a:rPr sz="2700" b="1">
                <a:solidFill>
                  <a:srgbClr val="000000"/>
                </a:solidFill>
                <a:latin typeface="Syne Bold"/>
                <a:ea typeface="Syne Bold"/>
                <a:cs typeface="Syne Bold"/>
              </a:rPr>
              <a:t>✅</a:t>
            </a:r>
            <a:r>
              <a:rPr sz="2700" b="1">
                <a:solidFill>
                  <a:srgbClr val="3B4E4E"/>
                </a:solidFill>
                <a:latin typeface="Syne Bold"/>
                <a:ea typeface="Syne Bold"/>
                <a:cs typeface="Syne Bold"/>
              </a:rPr>
              <a:t> 気づきを促す</a:t>
            </a:r>
          </a:p>
        </p:txBody>
      </p:sp>
      <p:sp>
        <p:nvSpPr>
          <p:cNvPr id="23" name="TextBox 23">
            <a:extLst>
              <a:ext uri="{FF2B5EF4-FFF2-40B4-BE49-F238E27FC236}">
                <a16:creationId xmlns:a16="http://schemas.microsoft.com/office/drawing/2014/main" id="{66E04541-2F11-4CED-A691-5C7F181F2079}"/>
              </a:ext>
            </a:extLst>
          </p:cNvPr>
          <p:cNvSpPr>
            <a:spLocks noGrp="1"/>
          </p:cNvSpPr>
          <p:nvPr/>
        </p:nvSpPr>
        <p:spPr>
          <a:xfrm>
            <a:off x="1285284" y="7005637"/>
            <a:ext cx="8859441" cy="539353"/>
          </a:xfrm>
          <a:prstGeom prst="rect">
            <a:avLst/>
          </a:prstGeom>
        </p:spPr>
        <p:txBody>
          <a:bodyPr lIns="0" tIns="0" rIns="0" bIns="0" anchor="t">
            <a:spAutoFit/>
          </a:bodyPr>
          <a:lstStyle/>
          <a:p>
            <a:pPr algn="l">
              <a:lnSpc>
                <a:spcPts val="3511"/>
              </a:lnSpc>
              <a:buNone/>
            </a:pPr>
            <a:r>
              <a:rPr sz="2200">
                <a:solidFill>
                  <a:srgbClr val="3B4E4E"/>
                </a:solidFill>
                <a:latin typeface="Overpass Light"/>
                <a:ea typeface="Overpass Light"/>
                <a:cs typeface="Overpass Light"/>
              </a:rPr>
              <a:t>注文のついでに、自分の飲酒ペースを確認できます</a:t>
            </a:r>
          </a:p>
        </p:txBody>
      </p:sp>
    </p:spTree>
    <p:extLst>
      <p:ext uri="{BB962C8B-B14F-4D97-AF65-F5344CB8AC3E}">
        <p14:creationId xmlns:p14="http://schemas.microsoft.com/office/powerpoint/2010/main" val="1246569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589F0-62E8-9ADB-06C3-7CABE4625A24}"/>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20FDE7B8-8A60-76AE-6824-CFB03A6EDFA6}"/>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txBody>
          <a:bodyPr/>
          <a:lstStyle/>
          <a:p>
            <a:endParaRPr/>
          </a:p>
        </p:txBody>
      </p:sp>
      <p:sp>
        <p:nvSpPr>
          <p:cNvPr id="5" name="Freeform 5">
            <a:extLst>
              <a:ext uri="{FF2B5EF4-FFF2-40B4-BE49-F238E27FC236}">
                <a16:creationId xmlns:a16="http://schemas.microsoft.com/office/drawing/2014/main" id="{C2D1B578-C73E-6730-EEAF-E48C4E8DE0D2}"/>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txBody>
          <a:bodyPr/>
          <a:lstStyle/>
          <a:p>
            <a:endParaRPr/>
          </a:p>
        </p:txBody>
      </p:sp>
      <p:sp>
        <p:nvSpPr>
          <p:cNvPr id="6" name="TextBox 6">
            <a:extLst>
              <a:ext uri="{FF2B5EF4-FFF2-40B4-BE49-F238E27FC236}">
                <a16:creationId xmlns:a16="http://schemas.microsoft.com/office/drawing/2014/main" id="{CEE5C97F-225E-179A-B9E2-6AE0FD78CBA7}"/>
              </a:ext>
            </a:extLst>
          </p:cNvPr>
          <p:cNvSpPr>
            <a:spLocks noGrp="1"/>
          </p:cNvSpPr>
          <p:nvPr/>
        </p:nvSpPr>
        <p:spPr>
          <a:xfrm>
            <a:off x="992238" y="1686220"/>
            <a:ext cx="16303523" cy="857607"/>
          </a:xfrm>
          <a:prstGeom prst="rect">
            <a:avLst/>
          </a:prstGeom>
        </p:spPr>
        <p:txBody>
          <a:bodyPr lIns="0" tIns="0" rIns="0" bIns="0" anchor="t">
            <a:spAutoFit/>
          </a:bodyPr>
          <a:lstStyle/>
          <a:p>
            <a:pPr algn="l">
              <a:lnSpc>
                <a:spcPts val="6864"/>
              </a:lnSpc>
              <a:buNone/>
            </a:pPr>
            <a:r>
              <a:rPr lang="ja-JP" altLang="en-US" sz="5500" b="1" dirty="0">
                <a:solidFill>
                  <a:srgbClr val="233939"/>
                </a:solidFill>
                <a:latin typeface="Syne Bold"/>
                <a:ea typeface="Syne Bold"/>
                <a:cs typeface="Syne Bold"/>
              </a:rPr>
              <a:t>利用フロー</a:t>
            </a:r>
            <a:endParaRPr sz="5500" b="1" dirty="0">
              <a:solidFill>
                <a:srgbClr val="233939"/>
              </a:solidFill>
              <a:latin typeface="Syne Bold"/>
              <a:ea typeface="Syne Bold"/>
              <a:cs typeface="Syne Bold"/>
            </a:endParaRPr>
          </a:p>
        </p:txBody>
      </p:sp>
      <p:sp>
        <p:nvSpPr>
          <p:cNvPr id="7" name="Freeform 7">
            <a:extLst>
              <a:ext uri="{FF2B5EF4-FFF2-40B4-BE49-F238E27FC236}">
                <a16:creationId xmlns:a16="http://schemas.microsoft.com/office/drawing/2014/main" id="{47F82510-2B76-E0B2-E04D-7D5DC7575544}"/>
              </a:ext>
            </a:extLst>
          </p:cNvPr>
          <p:cNvSpPr>
            <a:spLocks noGrp="1"/>
          </p:cNvSpPr>
          <p:nvPr/>
        </p:nvSpPr>
        <p:spPr>
          <a:xfrm>
            <a:off x="992238" y="3167805"/>
            <a:ext cx="8009934" cy="2560444"/>
          </a:xfrm>
          <a:custGeom>
            <a:avLst/>
            <a:gdLst/>
            <a:ahLst/>
            <a:cxnLst/>
            <a:rect l="l" t="t" r="r" b="b"/>
            <a:pathLst>
              <a:path w="8009934" h="2560444">
                <a:moveTo>
                  <a:pt x="0" y="0"/>
                </a:moveTo>
                <a:lnTo>
                  <a:pt x="8009935" y="0"/>
                </a:lnTo>
                <a:lnTo>
                  <a:pt x="8009935" y="2560444"/>
                </a:lnTo>
                <a:lnTo>
                  <a:pt x="0" y="2560444"/>
                </a:lnTo>
                <a:lnTo>
                  <a:pt x="0" y="0"/>
                </a:lnTo>
                <a:close/>
              </a:path>
            </a:pathLst>
          </a:custGeom>
          <a:blipFill>
            <a:blip>
              <a:extLst>
                <a:ext uri="{96DAC541-7B7A-43D3-8B79-37D633B846F1}">
                  <asvg:svgBlip xmlns:asvg="http://schemas.microsoft.com/office/drawing/2016/SVG/main" r:embed="rId3"/>
                </a:ext>
              </a:extLst>
            </a:blip>
            <a:stretch>
              <a:fillRect t="-31" b="-30"/>
            </a:stretch>
          </a:blipFill>
        </p:spPr>
        <p:txBody>
          <a:bodyPr/>
          <a:lstStyle/>
          <a:p>
            <a:endParaRPr/>
          </a:p>
        </p:txBody>
      </p:sp>
      <p:sp>
        <p:nvSpPr>
          <p:cNvPr id="9" name="Freeform 9">
            <a:extLst>
              <a:ext uri="{FF2B5EF4-FFF2-40B4-BE49-F238E27FC236}">
                <a16:creationId xmlns:a16="http://schemas.microsoft.com/office/drawing/2014/main" id="{1BBD9EE7-9C1C-4F8C-C57C-584F283DE69A}"/>
              </a:ext>
            </a:extLst>
          </p:cNvPr>
          <p:cNvSpPr>
            <a:spLocks noGrp="1"/>
          </p:cNvSpPr>
          <p:nvPr/>
        </p:nvSpPr>
        <p:spPr>
          <a:xfrm>
            <a:off x="4784522" y="3360544"/>
            <a:ext cx="425202" cy="531614"/>
          </a:xfrm>
          <a:custGeom>
            <a:avLst/>
            <a:gdLst/>
            <a:ahLst/>
            <a:cxnLst/>
            <a:rect l="l" t="t" r="r" b="b"/>
            <a:pathLst>
              <a:path w="566936" h="708819">
                <a:moveTo>
                  <a:pt x="0" y="0"/>
                </a:moveTo>
                <a:lnTo>
                  <a:pt x="566936" y="0"/>
                </a:lnTo>
                <a:lnTo>
                  <a:pt x="566936" y="708819"/>
                </a:lnTo>
                <a:lnTo>
                  <a:pt x="0" y="708819"/>
                </a:lnTo>
                <a:close/>
              </a:path>
            </a:pathLst>
          </a:custGeom>
          <a:blipFill>
            <a:blip r:embed="rId4">
              <a:alphaModFix amt="0"/>
            </a:blip>
            <a:stretch>
              <a:fillRect l="-110411" r="-110412"/>
            </a:stretch>
          </a:blipFill>
        </p:spPr>
        <p:txBody>
          <a:bodyPr/>
          <a:lstStyle/>
          <a:p>
            <a:endParaRPr/>
          </a:p>
        </p:txBody>
      </p:sp>
      <p:sp>
        <p:nvSpPr>
          <p:cNvPr id="10" name="TextBox 10">
            <a:extLst>
              <a:ext uri="{FF2B5EF4-FFF2-40B4-BE49-F238E27FC236}">
                <a16:creationId xmlns:a16="http://schemas.microsoft.com/office/drawing/2014/main" id="{4C08FD4F-B19E-0B93-C24B-11B9DC58F380}"/>
              </a:ext>
            </a:extLst>
          </p:cNvPr>
          <p:cNvSpPr>
            <a:spLocks noGrp="1"/>
          </p:cNvSpPr>
          <p:nvPr/>
        </p:nvSpPr>
        <p:spPr>
          <a:xfrm>
            <a:off x="4784522" y="3360544"/>
            <a:ext cx="425206" cy="531609"/>
          </a:xfrm>
          <a:prstGeom prst="rect">
            <a:avLst/>
          </a:prstGeom>
        </p:spPr>
        <p:txBody>
          <a:bodyPr lIns="0" tIns="0" rIns="0" bIns="0" anchor="ctr"/>
          <a:lstStyle/>
          <a:p>
            <a:pPr algn="ctr">
              <a:lnSpc>
                <a:spcPts val="3960"/>
              </a:lnSpc>
              <a:buNone/>
            </a:pPr>
            <a:r>
              <a:rPr sz="3300" b="1">
                <a:solidFill>
                  <a:srgbClr val="3B4E4E"/>
                </a:solidFill>
                <a:latin typeface="Syne Bold"/>
                <a:ea typeface="Syne Bold"/>
                <a:cs typeface="Syne Bold"/>
              </a:rPr>
              <a:t>1</a:t>
            </a:r>
          </a:p>
        </p:txBody>
      </p:sp>
      <p:sp>
        <p:nvSpPr>
          <p:cNvPr id="11" name="TextBox 11">
            <a:extLst>
              <a:ext uri="{FF2B5EF4-FFF2-40B4-BE49-F238E27FC236}">
                <a16:creationId xmlns:a16="http://schemas.microsoft.com/office/drawing/2014/main" id="{29ED20C7-5CF7-15F7-EB0C-665D0790E2CD}"/>
              </a:ext>
            </a:extLst>
          </p:cNvPr>
          <p:cNvSpPr>
            <a:spLocks noGrp="1"/>
          </p:cNvSpPr>
          <p:nvPr/>
        </p:nvSpPr>
        <p:spPr>
          <a:xfrm>
            <a:off x="1313850" y="4320931"/>
            <a:ext cx="7366692" cy="461962"/>
          </a:xfrm>
          <a:prstGeom prst="rect">
            <a:avLst/>
          </a:prstGeom>
        </p:spPr>
        <p:txBody>
          <a:bodyPr lIns="0" tIns="0" rIns="0" bIns="0" anchor="t">
            <a:spAutoFit/>
          </a:bodyPr>
          <a:lstStyle/>
          <a:p>
            <a:pPr algn="l">
              <a:lnSpc>
                <a:spcPts val="3369"/>
              </a:lnSpc>
              <a:buNone/>
            </a:pPr>
            <a:r>
              <a:rPr sz="2700" b="1">
                <a:solidFill>
                  <a:srgbClr val="3B4E4E"/>
                </a:solidFill>
                <a:latin typeface="Syne Bold"/>
                <a:ea typeface="Syne Bold"/>
                <a:cs typeface="Syne Bold"/>
              </a:rPr>
              <a:t>セッション開始</a:t>
            </a:r>
          </a:p>
        </p:txBody>
      </p:sp>
      <p:sp>
        <p:nvSpPr>
          <p:cNvPr id="12" name="TextBox 12">
            <a:extLst>
              <a:ext uri="{FF2B5EF4-FFF2-40B4-BE49-F238E27FC236}">
                <a16:creationId xmlns:a16="http://schemas.microsoft.com/office/drawing/2014/main" id="{476FDFDF-979B-F217-26D7-A44CA5D9C735}"/>
              </a:ext>
            </a:extLst>
          </p:cNvPr>
          <p:cNvSpPr>
            <a:spLocks noGrp="1"/>
          </p:cNvSpPr>
          <p:nvPr/>
        </p:nvSpPr>
        <p:spPr>
          <a:xfrm>
            <a:off x="1313850" y="4867275"/>
            <a:ext cx="7366692" cy="539353"/>
          </a:xfrm>
          <a:prstGeom prst="rect">
            <a:avLst/>
          </a:prstGeom>
        </p:spPr>
        <p:txBody>
          <a:bodyPr lIns="0" tIns="0" rIns="0" bIns="0" anchor="t">
            <a:spAutoFit/>
          </a:bodyPr>
          <a:lstStyle/>
          <a:p>
            <a:pPr algn="l">
              <a:lnSpc>
                <a:spcPts val="3511"/>
              </a:lnSpc>
              <a:buNone/>
            </a:pPr>
            <a:r>
              <a:rPr sz="2200">
                <a:solidFill>
                  <a:srgbClr val="3B4E4E"/>
                </a:solidFill>
                <a:latin typeface="Overpass Light"/>
                <a:ea typeface="Overpass Light"/>
                <a:cs typeface="Overpass Light"/>
              </a:rPr>
              <a:t>テーブルIDとニックネームで入室</a:t>
            </a:r>
          </a:p>
        </p:txBody>
      </p:sp>
      <p:sp>
        <p:nvSpPr>
          <p:cNvPr id="13" name="Freeform 13">
            <a:extLst>
              <a:ext uri="{FF2B5EF4-FFF2-40B4-BE49-F238E27FC236}">
                <a16:creationId xmlns:a16="http://schemas.microsoft.com/office/drawing/2014/main" id="{551D8E8D-F8CA-D11F-BE07-51269229E2F1}"/>
              </a:ext>
            </a:extLst>
          </p:cNvPr>
          <p:cNvSpPr>
            <a:spLocks noGrp="1"/>
          </p:cNvSpPr>
          <p:nvPr/>
        </p:nvSpPr>
        <p:spPr>
          <a:xfrm>
            <a:off x="9285684" y="3167805"/>
            <a:ext cx="8010077" cy="2560444"/>
          </a:xfrm>
          <a:custGeom>
            <a:avLst/>
            <a:gdLst/>
            <a:ahLst/>
            <a:cxnLst/>
            <a:rect l="l" t="t" r="r" b="b"/>
            <a:pathLst>
              <a:path w="8010077" h="2560444">
                <a:moveTo>
                  <a:pt x="0" y="0"/>
                </a:moveTo>
                <a:lnTo>
                  <a:pt x="8010078" y="0"/>
                </a:lnTo>
                <a:lnTo>
                  <a:pt x="8010078" y="2560444"/>
                </a:lnTo>
                <a:lnTo>
                  <a:pt x="0" y="2560444"/>
                </a:lnTo>
                <a:lnTo>
                  <a:pt x="0" y="0"/>
                </a:lnTo>
                <a:close/>
              </a:path>
            </a:pathLst>
          </a:custGeom>
          <a:blipFill>
            <a:blip>
              <a:extLst>
                <a:ext uri="{96DAC541-7B7A-43D3-8B79-37D633B846F1}">
                  <asvg:svgBlip xmlns:asvg="http://schemas.microsoft.com/office/drawing/2016/SVG/main" r:embed="rId3"/>
                </a:ext>
              </a:extLst>
            </a:blip>
            <a:stretch>
              <a:fillRect t="-31" b="-31"/>
            </a:stretch>
          </a:blipFill>
        </p:spPr>
        <p:txBody>
          <a:bodyPr/>
          <a:lstStyle/>
          <a:p>
            <a:endParaRPr/>
          </a:p>
        </p:txBody>
      </p:sp>
      <p:sp>
        <p:nvSpPr>
          <p:cNvPr id="15" name="Freeform 15">
            <a:extLst>
              <a:ext uri="{FF2B5EF4-FFF2-40B4-BE49-F238E27FC236}">
                <a16:creationId xmlns:a16="http://schemas.microsoft.com/office/drawing/2014/main" id="{7FE27D9E-1256-37ED-3D33-2DE00E5166D2}"/>
              </a:ext>
            </a:extLst>
          </p:cNvPr>
          <p:cNvSpPr>
            <a:spLocks noGrp="1"/>
          </p:cNvSpPr>
          <p:nvPr/>
        </p:nvSpPr>
        <p:spPr>
          <a:xfrm>
            <a:off x="13078120" y="3360544"/>
            <a:ext cx="425202" cy="531614"/>
          </a:xfrm>
          <a:custGeom>
            <a:avLst/>
            <a:gdLst/>
            <a:ahLst/>
            <a:cxnLst/>
            <a:rect l="l" t="t" r="r" b="b"/>
            <a:pathLst>
              <a:path w="566936" h="708819">
                <a:moveTo>
                  <a:pt x="0" y="0"/>
                </a:moveTo>
                <a:lnTo>
                  <a:pt x="566936" y="0"/>
                </a:lnTo>
                <a:lnTo>
                  <a:pt x="566936" y="708819"/>
                </a:lnTo>
                <a:lnTo>
                  <a:pt x="0" y="708819"/>
                </a:lnTo>
                <a:close/>
              </a:path>
            </a:pathLst>
          </a:custGeom>
          <a:blipFill>
            <a:blip r:embed="rId4">
              <a:alphaModFix amt="0"/>
            </a:blip>
            <a:stretch>
              <a:fillRect l="-110411" r="-110412"/>
            </a:stretch>
          </a:blipFill>
        </p:spPr>
        <p:txBody>
          <a:bodyPr/>
          <a:lstStyle/>
          <a:p>
            <a:endParaRPr/>
          </a:p>
        </p:txBody>
      </p:sp>
      <p:sp>
        <p:nvSpPr>
          <p:cNvPr id="16" name="TextBox 16">
            <a:extLst>
              <a:ext uri="{FF2B5EF4-FFF2-40B4-BE49-F238E27FC236}">
                <a16:creationId xmlns:a16="http://schemas.microsoft.com/office/drawing/2014/main" id="{83D04B10-35BF-442A-92CF-B5986020B176}"/>
              </a:ext>
            </a:extLst>
          </p:cNvPr>
          <p:cNvSpPr>
            <a:spLocks noGrp="1"/>
          </p:cNvSpPr>
          <p:nvPr/>
        </p:nvSpPr>
        <p:spPr>
          <a:xfrm>
            <a:off x="13078120" y="3360544"/>
            <a:ext cx="425206" cy="531609"/>
          </a:xfrm>
          <a:prstGeom prst="rect">
            <a:avLst/>
          </a:prstGeom>
        </p:spPr>
        <p:txBody>
          <a:bodyPr lIns="0" tIns="0" rIns="0" bIns="0" anchor="ctr"/>
          <a:lstStyle/>
          <a:p>
            <a:pPr algn="ctr">
              <a:lnSpc>
                <a:spcPts val="3960"/>
              </a:lnSpc>
              <a:buNone/>
            </a:pPr>
            <a:r>
              <a:rPr sz="3300" b="1">
                <a:solidFill>
                  <a:srgbClr val="3B4E4E"/>
                </a:solidFill>
                <a:latin typeface="Syne Bold"/>
                <a:ea typeface="Syne Bold"/>
                <a:cs typeface="Syne Bold"/>
              </a:rPr>
              <a:t>2</a:t>
            </a:r>
          </a:p>
        </p:txBody>
      </p:sp>
      <p:sp>
        <p:nvSpPr>
          <p:cNvPr id="17" name="TextBox 17">
            <a:extLst>
              <a:ext uri="{FF2B5EF4-FFF2-40B4-BE49-F238E27FC236}">
                <a16:creationId xmlns:a16="http://schemas.microsoft.com/office/drawing/2014/main" id="{5BB43B77-889D-CB92-76DC-6DB047B45FED}"/>
              </a:ext>
            </a:extLst>
          </p:cNvPr>
          <p:cNvSpPr>
            <a:spLocks noGrp="1"/>
          </p:cNvSpPr>
          <p:nvPr/>
        </p:nvSpPr>
        <p:spPr>
          <a:xfrm>
            <a:off x="9607306" y="4320931"/>
            <a:ext cx="7366845" cy="461962"/>
          </a:xfrm>
          <a:prstGeom prst="rect">
            <a:avLst/>
          </a:prstGeom>
        </p:spPr>
        <p:txBody>
          <a:bodyPr lIns="0" tIns="0" rIns="0" bIns="0" anchor="t">
            <a:spAutoFit/>
          </a:bodyPr>
          <a:lstStyle/>
          <a:p>
            <a:pPr algn="l">
              <a:lnSpc>
                <a:spcPts val="3369"/>
              </a:lnSpc>
              <a:buNone/>
            </a:pPr>
            <a:r>
              <a:rPr sz="2700" b="1">
                <a:solidFill>
                  <a:srgbClr val="3B4E4E"/>
                </a:solidFill>
                <a:latin typeface="Syne Bold"/>
                <a:ea typeface="Syne Bold"/>
                <a:cs typeface="Syne Bold"/>
              </a:rPr>
              <a:t>メニュー＆カート</a:t>
            </a:r>
          </a:p>
        </p:txBody>
      </p:sp>
      <p:sp>
        <p:nvSpPr>
          <p:cNvPr id="18" name="TextBox 18">
            <a:extLst>
              <a:ext uri="{FF2B5EF4-FFF2-40B4-BE49-F238E27FC236}">
                <a16:creationId xmlns:a16="http://schemas.microsoft.com/office/drawing/2014/main" id="{E3EEE133-7764-216D-4E5A-0575513CEBBA}"/>
              </a:ext>
            </a:extLst>
          </p:cNvPr>
          <p:cNvSpPr>
            <a:spLocks noGrp="1"/>
          </p:cNvSpPr>
          <p:nvPr/>
        </p:nvSpPr>
        <p:spPr>
          <a:xfrm>
            <a:off x="9607306" y="4867275"/>
            <a:ext cx="7366845" cy="539353"/>
          </a:xfrm>
          <a:prstGeom prst="rect">
            <a:avLst/>
          </a:prstGeom>
        </p:spPr>
        <p:txBody>
          <a:bodyPr lIns="0" tIns="0" rIns="0" bIns="0" anchor="t">
            <a:spAutoFit/>
          </a:bodyPr>
          <a:lstStyle/>
          <a:p>
            <a:pPr algn="l">
              <a:lnSpc>
                <a:spcPts val="3511"/>
              </a:lnSpc>
              <a:buNone/>
            </a:pPr>
            <a:r>
              <a:rPr sz="2200">
                <a:solidFill>
                  <a:srgbClr val="3B4E4E"/>
                </a:solidFill>
                <a:latin typeface="Overpass Light"/>
                <a:ea typeface="Overpass Light"/>
                <a:cs typeface="Overpass Light"/>
              </a:rPr>
              <a:t>商品追加・数量変更・削除・注文確定</a:t>
            </a:r>
          </a:p>
        </p:txBody>
      </p:sp>
      <p:sp>
        <p:nvSpPr>
          <p:cNvPr id="19" name="Freeform 19">
            <a:extLst>
              <a:ext uri="{FF2B5EF4-FFF2-40B4-BE49-F238E27FC236}">
                <a16:creationId xmlns:a16="http://schemas.microsoft.com/office/drawing/2014/main" id="{B9A5E855-9B9D-4518-1677-BEFDD0F39372}"/>
              </a:ext>
            </a:extLst>
          </p:cNvPr>
          <p:cNvSpPr>
            <a:spLocks noGrp="1"/>
          </p:cNvSpPr>
          <p:nvPr/>
        </p:nvSpPr>
        <p:spPr>
          <a:xfrm>
            <a:off x="992238" y="6011761"/>
            <a:ext cx="8009934" cy="2560444"/>
          </a:xfrm>
          <a:custGeom>
            <a:avLst/>
            <a:gdLst/>
            <a:ahLst/>
            <a:cxnLst/>
            <a:rect l="l" t="t" r="r" b="b"/>
            <a:pathLst>
              <a:path w="8009934" h="2560444">
                <a:moveTo>
                  <a:pt x="0" y="0"/>
                </a:moveTo>
                <a:lnTo>
                  <a:pt x="8009935" y="0"/>
                </a:lnTo>
                <a:lnTo>
                  <a:pt x="8009935" y="2560444"/>
                </a:lnTo>
                <a:lnTo>
                  <a:pt x="0" y="2560444"/>
                </a:lnTo>
                <a:lnTo>
                  <a:pt x="0" y="0"/>
                </a:lnTo>
                <a:close/>
              </a:path>
            </a:pathLst>
          </a:custGeom>
          <a:blipFill>
            <a:blip>
              <a:extLst>
                <a:ext uri="{96DAC541-7B7A-43D3-8B79-37D633B846F1}">
                  <asvg:svgBlip xmlns:asvg="http://schemas.microsoft.com/office/drawing/2016/SVG/main" r:embed="rId3"/>
                </a:ext>
              </a:extLst>
            </a:blip>
            <a:stretch>
              <a:fillRect t="-31" b="-30"/>
            </a:stretch>
          </a:blipFill>
        </p:spPr>
        <p:txBody>
          <a:bodyPr/>
          <a:lstStyle/>
          <a:p>
            <a:endParaRPr/>
          </a:p>
        </p:txBody>
      </p:sp>
      <p:sp>
        <p:nvSpPr>
          <p:cNvPr id="21" name="Freeform 21">
            <a:extLst>
              <a:ext uri="{FF2B5EF4-FFF2-40B4-BE49-F238E27FC236}">
                <a16:creationId xmlns:a16="http://schemas.microsoft.com/office/drawing/2014/main" id="{A4242ACA-3957-05C2-5ACA-24043B9DF25D}"/>
              </a:ext>
            </a:extLst>
          </p:cNvPr>
          <p:cNvSpPr>
            <a:spLocks noGrp="1"/>
          </p:cNvSpPr>
          <p:nvPr/>
        </p:nvSpPr>
        <p:spPr>
          <a:xfrm>
            <a:off x="4784522" y="6204499"/>
            <a:ext cx="425202" cy="531614"/>
          </a:xfrm>
          <a:custGeom>
            <a:avLst/>
            <a:gdLst/>
            <a:ahLst/>
            <a:cxnLst/>
            <a:rect l="l" t="t" r="r" b="b"/>
            <a:pathLst>
              <a:path w="566936" h="708819">
                <a:moveTo>
                  <a:pt x="0" y="0"/>
                </a:moveTo>
                <a:lnTo>
                  <a:pt x="566936" y="0"/>
                </a:lnTo>
                <a:lnTo>
                  <a:pt x="566936" y="708819"/>
                </a:lnTo>
                <a:lnTo>
                  <a:pt x="0" y="708819"/>
                </a:lnTo>
                <a:close/>
              </a:path>
            </a:pathLst>
          </a:custGeom>
          <a:blipFill>
            <a:blip r:embed="rId4">
              <a:alphaModFix amt="0"/>
            </a:blip>
            <a:stretch>
              <a:fillRect l="-110411" r="-110412"/>
            </a:stretch>
          </a:blipFill>
        </p:spPr>
        <p:txBody>
          <a:bodyPr/>
          <a:lstStyle/>
          <a:p>
            <a:endParaRPr/>
          </a:p>
        </p:txBody>
      </p:sp>
      <p:sp>
        <p:nvSpPr>
          <p:cNvPr id="22" name="TextBox 22">
            <a:extLst>
              <a:ext uri="{FF2B5EF4-FFF2-40B4-BE49-F238E27FC236}">
                <a16:creationId xmlns:a16="http://schemas.microsoft.com/office/drawing/2014/main" id="{B493FC1D-23F4-A8FC-F03E-8080D75E17DF}"/>
              </a:ext>
            </a:extLst>
          </p:cNvPr>
          <p:cNvSpPr>
            <a:spLocks noGrp="1"/>
          </p:cNvSpPr>
          <p:nvPr/>
        </p:nvSpPr>
        <p:spPr>
          <a:xfrm>
            <a:off x="4784522" y="6204499"/>
            <a:ext cx="425206" cy="531609"/>
          </a:xfrm>
          <a:prstGeom prst="rect">
            <a:avLst/>
          </a:prstGeom>
        </p:spPr>
        <p:txBody>
          <a:bodyPr lIns="0" tIns="0" rIns="0" bIns="0" anchor="ctr"/>
          <a:lstStyle/>
          <a:p>
            <a:pPr algn="ctr">
              <a:lnSpc>
                <a:spcPts val="3960"/>
              </a:lnSpc>
              <a:buNone/>
            </a:pPr>
            <a:r>
              <a:rPr sz="3300" b="1">
                <a:solidFill>
                  <a:srgbClr val="3B4E4E"/>
                </a:solidFill>
                <a:latin typeface="Syne Bold"/>
                <a:ea typeface="Syne Bold"/>
                <a:cs typeface="Syne Bold"/>
              </a:rPr>
              <a:t>3</a:t>
            </a:r>
          </a:p>
        </p:txBody>
      </p:sp>
      <p:sp>
        <p:nvSpPr>
          <p:cNvPr id="23" name="TextBox 23">
            <a:extLst>
              <a:ext uri="{FF2B5EF4-FFF2-40B4-BE49-F238E27FC236}">
                <a16:creationId xmlns:a16="http://schemas.microsoft.com/office/drawing/2014/main" id="{9A22AF57-0E02-B038-FCBC-52638A2A7E5C}"/>
              </a:ext>
            </a:extLst>
          </p:cNvPr>
          <p:cNvSpPr>
            <a:spLocks noGrp="1"/>
          </p:cNvSpPr>
          <p:nvPr/>
        </p:nvSpPr>
        <p:spPr>
          <a:xfrm>
            <a:off x="1313850" y="7164886"/>
            <a:ext cx="7366692" cy="461962"/>
          </a:xfrm>
          <a:prstGeom prst="rect">
            <a:avLst/>
          </a:prstGeom>
        </p:spPr>
        <p:txBody>
          <a:bodyPr lIns="0" tIns="0" rIns="0" bIns="0" anchor="t">
            <a:spAutoFit/>
          </a:bodyPr>
          <a:lstStyle/>
          <a:p>
            <a:pPr algn="l">
              <a:lnSpc>
                <a:spcPts val="3369"/>
              </a:lnSpc>
              <a:buNone/>
            </a:pPr>
            <a:r>
              <a:rPr sz="2700" b="1">
                <a:solidFill>
                  <a:srgbClr val="3B4E4E"/>
                </a:solidFill>
                <a:latin typeface="Syne Bold"/>
                <a:ea typeface="Syne Bold"/>
                <a:cs typeface="Syne Bold"/>
              </a:rPr>
              <a:t>Firebase履歴保存</a:t>
            </a:r>
          </a:p>
        </p:txBody>
      </p:sp>
      <p:sp>
        <p:nvSpPr>
          <p:cNvPr id="24" name="TextBox 24">
            <a:extLst>
              <a:ext uri="{FF2B5EF4-FFF2-40B4-BE49-F238E27FC236}">
                <a16:creationId xmlns:a16="http://schemas.microsoft.com/office/drawing/2014/main" id="{2C465754-871D-F3E6-D0E9-E1EE65838F19}"/>
              </a:ext>
            </a:extLst>
          </p:cNvPr>
          <p:cNvSpPr>
            <a:spLocks noGrp="1"/>
          </p:cNvSpPr>
          <p:nvPr/>
        </p:nvSpPr>
        <p:spPr>
          <a:xfrm>
            <a:off x="1313850" y="7711230"/>
            <a:ext cx="7366692" cy="539353"/>
          </a:xfrm>
          <a:prstGeom prst="rect">
            <a:avLst/>
          </a:prstGeom>
        </p:spPr>
        <p:txBody>
          <a:bodyPr lIns="0" tIns="0" rIns="0" bIns="0" anchor="t">
            <a:spAutoFit/>
          </a:bodyPr>
          <a:lstStyle/>
          <a:p>
            <a:pPr algn="l">
              <a:lnSpc>
                <a:spcPts val="3511"/>
              </a:lnSpc>
              <a:buNone/>
            </a:pPr>
            <a:r>
              <a:rPr sz="2200">
                <a:solidFill>
                  <a:srgbClr val="3B4E4E"/>
                </a:solidFill>
                <a:latin typeface="Overpass Light"/>
                <a:ea typeface="Overpass Light"/>
                <a:cs typeface="Overpass Light"/>
              </a:rPr>
              <a:t>注文確定でリアルタイムDBへ保存・反映</a:t>
            </a:r>
          </a:p>
        </p:txBody>
      </p:sp>
      <p:sp>
        <p:nvSpPr>
          <p:cNvPr id="25" name="Freeform 25">
            <a:extLst>
              <a:ext uri="{FF2B5EF4-FFF2-40B4-BE49-F238E27FC236}">
                <a16:creationId xmlns:a16="http://schemas.microsoft.com/office/drawing/2014/main" id="{D8F9C466-C090-B03D-3559-6A28865F9AF8}"/>
              </a:ext>
            </a:extLst>
          </p:cNvPr>
          <p:cNvSpPr>
            <a:spLocks noGrp="1"/>
          </p:cNvSpPr>
          <p:nvPr/>
        </p:nvSpPr>
        <p:spPr>
          <a:xfrm>
            <a:off x="9285684" y="6011761"/>
            <a:ext cx="8010077" cy="2560444"/>
          </a:xfrm>
          <a:custGeom>
            <a:avLst/>
            <a:gdLst/>
            <a:ahLst/>
            <a:cxnLst/>
            <a:rect l="l" t="t" r="r" b="b"/>
            <a:pathLst>
              <a:path w="8010077" h="2560444">
                <a:moveTo>
                  <a:pt x="0" y="0"/>
                </a:moveTo>
                <a:lnTo>
                  <a:pt x="8010078" y="0"/>
                </a:lnTo>
                <a:lnTo>
                  <a:pt x="8010078" y="2560444"/>
                </a:lnTo>
                <a:lnTo>
                  <a:pt x="0" y="2560444"/>
                </a:lnTo>
                <a:lnTo>
                  <a:pt x="0" y="0"/>
                </a:lnTo>
                <a:close/>
              </a:path>
            </a:pathLst>
          </a:custGeom>
          <a:blipFill>
            <a:blip>
              <a:extLst>
                <a:ext uri="{96DAC541-7B7A-43D3-8B79-37D633B846F1}">
                  <asvg:svgBlip xmlns:asvg="http://schemas.microsoft.com/office/drawing/2016/SVG/main" r:embed="rId3"/>
                </a:ext>
              </a:extLst>
            </a:blip>
            <a:stretch>
              <a:fillRect t="-31" b="-31"/>
            </a:stretch>
          </a:blipFill>
        </p:spPr>
        <p:txBody>
          <a:bodyPr/>
          <a:lstStyle/>
          <a:p>
            <a:endParaRPr/>
          </a:p>
        </p:txBody>
      </p:sp>
      <p:sp>
        <p:nvSpPr>
          <p:cNvPr id="27" name="Freeform 27">
            <a:extLst>
              <a:ext uri="{FF2B5EF4-FFF2-40B4-BE49-F238E27FC236}">
                <a16:creationId xmlns:a16="http://schemas.microsoft.com/office/drawing/2014/main" id="{675BEF01-01BA-B59F-2ECC-172AE549AB8F}"/>
              </a:ext>
            </a:extLst>
          </p:cNvPr>
          <p:cNvSpPr>
            <a:spLocks noGrp="1"/>
          </p:cNvSpPr>
          <p:nvPr/>
        </p:nvSpPr>
        <p:spPr>
          <a:xfrm>
            <a:off x="13078120" y="6204499"/>
            <a:ext cx="425202" cy="531614"/>
          </a:xfrm>
          <a:custGeom>
            <a:avLst/>
            <a:gdLst/>
            <a:ahLst/>
            <a:cxnLst/>
            <a:rect l="l" t="t" r="r" b="b"/>
            <a:pathLst>
              <a:path w="566936" h="708819">
                <a:moveTo>
                  <a:pt x="0" y="0"/>
                </a:moveTo>
                <a:lnTo>
                  <a:pt x="566936" y="0"/>
                </a:lnTo>
                <a:lnTo>
                  <a:pt x="566936" y="708819"/>
                </a:lnTo>
                <a:lnTo>
                  <a:pt x="0" y="708819"/>
                </a:lnTo>
                <a:close/>
              </a:path>
            </a:pathLst>
          </a:custGeom>
          <a:blipFill>
            <a:blip r:embed="rId4">
              <a:alphaModFix amt="0"/>
            </a:blip>
            <a:stretch>
              <a:fillRect l="-110411" r="-110412"/>
            </a:stretch>
          </a:blipFill>
        </p:spPr>
        <p:txBody>
          <a:bodyPr/>
          <a:lstStyle/>
          <a:p>
            <a:endParaRPr/>
          </a:p>
        </p:txBody>
      </p:sp>
      <p:sp>
        <p:nvSpPr>
          <p:cNvPr id="28" name="TextBox 28">
            <a:extLst>
              <a:ext uri="{FF2B5EF4-FFF2-40B4-BE49-F238E27FC236}">
                <a16:creationId xmlns:a16="http://schemas.microsoft.com/office/drawing/2014/main" id="{682AD33C-9D94-B62F-EB8B-8C063298C9F7}"/>
              </a:ext>
            </a:extLst>
          </p:cNvPr>
          <p:cNvSpPr>
            <a:spLocks noGrp="1"/>
          </p:cNvSpPr>
          <p:nvPr/>
        </p:nvSpPr>
        <p:spPr>
          <a:xfrm>
            <a:off x="13078120" y="6204499"/>
            <a:ext cx="425206" cy="531609"/>
          </a:xfrm>
          <a:prstGeom prst="rect">
            <a:avLst/>
          </a:prstGeom>
        </p:spPr>
        <p:txBody>
          <a:bodyPr lIns="0" tIns="0" rIns="0" bIns="0" anchor="ctr"/>
          <a:lstStyle/>
          <a:p>
            <a:pPr algn="ctr">
              <a:lnSpc>
                <a:spcPts val="3960"/>
              </a:lnSpc>
              <a:buNone/>
            </a:pPr>
            <a:r>
              <a:rPr sz="3300" b="1">
                <a:solidFill>
                  <a:srgbClr val="3B4E4E"/>
                </a:solidFill>
                <a:latin typeface="Syne Bold"/>
                <a:ea typeface="Syne Bold"/>
                <a:cs typeface="Syne Bold"/>
              </a:rPr>
              <a:t>4</a:t>
            </a:r>
          </a:p>
        </p:txBody>
      </p:sp>
      <p:sp>
        <p:nvSpPr>
          <p:cNvPr id="29" name="TextBox 29">
            <a:extLst>
              <a:ext uri="{FF2B5EF4-FFF2-40B4-BE49-F238E27FC236}">
                <a16:creationId xmlns:a16="http://schemas.microsoft.com/office/drawing/2014/main" id="{1E427EFB-69C0-2EEA-C15F-9888C86D7F5C}"/>
              </a:ext>
            </a:extLst>
          </p:cNvPr>
          <p:cNvSpPr>
            <a:spLocks noGrp="1"/>
          </p:cNvSpPr>
          <p:nvPr/>
        </p:nvSpPr>
        <p:spPr>
          <a:xfrm>
            <a:off x="9607306" y="7164886"/>
            <a:ext cx="7366845" cy="461962"/>
          </a:xfrm>
          <a:prstGeom prst="rect">
            <a:avLst/>
          </a:prstGeom>
        </p:spPr>
        <p:txBody>
          <a:bodyPr lIns="0" tIns="0" rIns="0" bIns="0" anchor="t">
            <a:spAutoFit/>
          </a:bodyPr>
          <a:lstStyle/>
          <a:p>
            <a:pPr algn="l">
              <a:lnSpc>
                <a:spcPts val="3369"/>
              </a:lnSpc>
              <a:buNone/>
            </a:pPr>
            <a:r>
              <a:rPr sz="2700" b="1">
                <a:solidFill>
                  <a:srgbClr val="3B4E4E"/>
                </a:solidFill>
                <a:latin typeface="Syne Bold"/>
                <a:ea typeface="Syne Bold"/>
                <a:cs typeface="Syne Bold"/>
              </a:rPr>
              <a:t>飲酒ペース表示</a:t>
            </a:r>
          </a:p>
        </p:txBody>
      </p:sp>
      <p:sp>
        <p:nvSpPr>
          <p:cNvPr id="30" name="TextBox 30">
            <a:extLst>
              <a:ext uri="{FF2B5EF4-FFF2-40B4-BE49-F238E27FC236}">
                <a16:creationId xmlns:a16="http://schemas.microsoft.com/office/drawing/2014/main" id="{E01DCBB3-21FA-AA41-2A34-B53F50E392A5}"/>
              </a:ext>
            </a:extLst>
          </p:cNvPr>
          <p:cNvSpPr>
            <a:spLocks noGrp="1"/>
          </p:cNvSpPr>
          <p:nvPr/>
        </p:nvSpPr>
        <p:spPr>
          <a:xfrm>
            <a:off x="9607306" y="7711230"/>
            <a:ext cx="7366845" cy="539353"/>
          </a:xfrm>
          <a:prstGeom prst="rect">
            <a:avLst/>
          </a:prstGeom>
        </p:spPr>
        <p:txBody>
          <a:bodyPr lIns="0" tIns="0" rIns="0" bIns="0" anchor="t">
            <a:spAutoFit/>
          </a:bodyPr>
          <a:lstStyle/>
          <a:p>
            <a:pPr algn="l">
              <a:lnSpc>
                <a:spcPts val="3511"/>
              </a:lnSpc>
              <a:buNone/>
            </a:pPr>
            <a:r>
              <a:rPr sz="2200">
                <a:solidFill>
                  <a:srgbClr val="3B4E4E"/>
                </a:solidFill>
                <a:latin typeface="Overpass Light"/>
                <a:ea typeface="Overpass Light"/>
                <a:cs typeface="Overpass Light"/>
              </a:rPr>
              <a:t>直近30分の純アルコール量を表示</a:t>
            </a:r>
          </a:p>
        </p:txBody>
      </p:sp>
    </p:spTree>
    <p:extLst>
      <p:ext uri="{BB962C8B-B14F-4D97-AF65-F5344CB8AC3E}">
        <p14:creationId xmlns:p14="http://schemas.microsoft.com/office/powerpoint/2010/main" val="698814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92090EA2-E2C6-4245-BC39-CA1EF16AF383}"/>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txBody>
          <a:bodyPr/>
          <a:lstStyle/>
          <a:p>
            <a:endParaRPr/>
          </a:p>
        </p:txBody>
      </p:sp>
      <p:sp>
        <p:nvSpPr>
          <p:cNvPr id="5" name="Freeform 5">
            <a:extLst>
              <a:ext uri="{FF2B5EF4-FFF2-40B4-BE49-F238E27FC236}">
                <a16:creationId xmlns:a16="http://schemas.microsoft.com/office/drawing/2014/main" id="{F33280C7-3589-430E-8CFC-450C6FCC9A93}"/>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txBody>
          <a:bodyPr/>
          <a:lstStyle/>
          <a:p>
            <a:endParaRPr/>
          </a:p>
        </p:txBody>
      </p:sp>
      <p:sp>
        <p:nvSpPr>
          <p:cNvPr id="8" name="TextBox 8">
            <a:extLst>
              <a:ext uri="{FF2B5EF4-FFF2-40B4-BE49-F238E27FC236}">
                <a16:creationId xmlns:a16="http://schemas.microsoft.com/office/drawing/2014/main" id="{FA107382-506A-439C-8733-0755C4B3725A}"/>
              </a:ext>
            </a:extLst>
          </p:cNvPr>
          <p:cNvSpPr>
            <a:spLocks noGrp="1"/>
          </p:cNvSpPr>
          <p:nvPr/>
        </p:nvSpPr>
        <p:spPr>
          <a:xfrm>
            <a:off x="992238" y="771373"/>
            <a:ext cx="16303523" cy="531171"/>
          </a:xfrm>
          <a:prstGeom prst="rect">
            <a:avLst/>
          </a:prstGeom>
        </p:spPr>
        <p:txBody>
          <a:bodyPr lIns="0" tIns="0" rIns="0" bIns="0" anchor="t">
            <a:spAutoFit/>
          </a:bodyPr>
          <a:lstStyle/>
          <a:p>
            <a:pPr algn="l">
              <a:lnSpc>
                <a:spcPts val="3993"/>
              </a:lnSpc>
              <a:buNone/>
            </a:pPr>
            <a:r>
              <a:rPr sz="3200" b="1">
                <a:solidFill>
                  <a:srgbClr val="233939"/>
                </a:solidFill>
                <a:latin typeface="Syne Bold"/>
                <a:ea typeface="Syne Bold"/>
                <a:cs typeface="Syne Bold"/>
              </a:rPr>
              <a:t>アプリの利用フロー</a:t>
            </a:r>
          </a:p>
        </p:txBody>
      </p:sp>
      <p:sp>
        <p:nvSpPr>
          <p:cNvPr id="10" name="Freeform 10">
            <a:extLst>
              <a:ext uri="{FF2B5EF4-FFF2-40B4-BE49-F238E27FC236}">
                <a16:creationId xmlns:a16="http://schemas.microsoft.com/office/drawing/2014/main" id="{C966523F-E024-479A-A030-5B598021C869}"/>
              </a:ext>
            </a:extLst>
          </p:cNvPr>
          <p:cNvSpPr>
            <a:spLocks noGrp="1"/>
          </p:cNvSpPr>
          <p:nvPr/>
        </p:nvSpPr>
        <p:spPr>
          <a:xfrm>
            <a:off x="1276645" y="1492006"/>
            <a:ext cx="15734727" cy="7691151"/>
          </a:xfrm>
          <a:custGeom>
            <a:avLst/>
            <a:gdLst/>
            <a:ahLst/>
            <a:cxnLst/>
            <a:rect l="l" t="t" r="r" b="b"/>
            <a:pathLst>
              <a:path w="20979637" h="10254869">
                <a:moveTo>
                  <a:pt x="0" y="0"/>
                </a:moveTo>
                <a:lnTo>
                  <a:pt x="20979637" y="0"/>
                </a:lnTo>
                <a:lnTo>
                  <a:pt x="20979637" y="10254869"/>
                </a:lnTo>
                <a:lnTo>
                  <a:pt x="0" y="10254869"/>
                </a:lnTo>
                <a:lnTo>
                  <a:pt x="0" y="0"/>
                </a:lnTo>
                <a:close/>
              </a:path>
            </a:pathLst>
          </a:custGeom>
          <a:blipFill>
            <a:blip r:embed="rId3"/>
            <a:stretch>
              <a:fillRect t="-30" b="-30"/>
            </a:stretch>
          </a:blipFill>
        </p:spPr>
        <p:txBody>
          <a:bodyPr/>
          <a:lstStyle/>
          <a:p>
            <a:endParaRPr/>
          </a:p>
        </p:txBody>
      </p:sp>
      <p:sp>
        <p:nvSpPr>
          <p:cNvPr id="11" name="TextBox 11">
            <a:extLst>
              <a:ext uri="{FF2B5EF4-FFF2-40B4-BE49-F238E27FC236}">
                <a16:creationId xmlns:a16="http://schemas.microsoft.com/office/drawing/2014/main" id="{C815E761-E9EA-44B5-8BD1-EC71B518AD16}"/>
              </a:ext>
            </a:extLst>
          </p:cNvPr>
          <p:cNvSpPr>
            <a:spLocks noGrp="1"/>
          </p:cNvSpPr>
          <p:nvPr/>
        </p:nvSpPr>
        <p:spPr>
          <a:xfrm>
            <a:off x="2467880" y="4119210"/>
            <a:ext cx="3668211" cy="477574"/>
          </a:xfrm>
          <a:prstGeom prst="rect">
            <a:avLst/>
          </a:prstGeom>
        </p:spPr>
        <p:txBody>
          <a:bodyPr lIns="0" tIns="0" rIns="0" bIns="0" anchor="t">
            <a:spAutoFit/>
          </a:bodyPr>
          <a:lstStyle/>
          <a:p>
            <a:pPr algn="ctr">
              <a:lnSpc>
                <a:spcPts val="3494"/>
              </a:lnSpc>
              <a:buNone/>
            </a:pPr>
            <a:r>
              <a:rPr sz="2799" b="1">
                <a:solidFill>
                  <a:srgbClr val="3B4E4E"/>
                </a:solidFill>
                <a:latin typeface="Syne Bold"/>
                <a:ea typeface="Syne Bold"/>
                <a:cs typeface="Syne Bold"/>
              </a:rPr>
              <a:t>テーブル登録</a:t>
            </a:r>
          </a:p>
        </p:txBody>
      </p:sp>
      <p:sp>
        <p:nvSpPr>
          <p:cNvPr id="12" name="TextBox 12">
            <a:extLst>
              <a:ext uri="{FF2B5EF4-FFF2-40B4-BE49-F238E27FC236}">
                <a16:creationId xmlns:a16="http://schemas.microsoft.com/office/drawing/2014/main" id="{4F152C45-2208-4D0F-A642-E00E14D009B8}"/>
              </a:ext>
            </a:extLst>
          </p:cNvPr>
          <p:cNvSpPr>
            <a:spLocks noGrp="1"/>
          </p:cNvSpPr>
          <p:nvPr/>
        </p:nvSpPr>
        <p:spPr>
          <a:xfrm>
            <a:off x="10342312" y="2358476"/>
            <a:ext cx="3668211" cy="477574"/>
          </a:xfrm>
          <a:prstGeom prst="rect">
            <a:avLst/>
          </a:prstGeom>
        </p:spPr>
        <p:txBody>
          <a:bodyPr lIns="0" tIns="0" rIns="0" bIns="0" anchor="t">
            <a:spAutoFit/>
          </a:bodyPr>
          <a:lstStyle/>
          <a:p>
            <a:pPr algn="ctr">
              <a:lnSpc>
                <a:spcPts val="3494"/>
              </a:lnSpc>
              <a:buNone/>
            </a:pPr>
            <a:r>
              <a:rPr sz="2799" b="1">
                <a:solidFill>
                  <a:srgbClr val="3B4E4E"/>
                </a:solidFill>
                <a:latin typeface="Syne Bold"/>
                <a:ea typeface="Syne Bold"/>
                <a:cs typeface="Syne Bold"/>
              </a:rPr>
              <a:t>商品を選択</a:t>
            </a:r>
          </a:p>
        </p:txBody>
      </p:sp>
      <p:sp>
        <p:nvSpPr>
          <p:cNvPr id="13" name="TextBox 13">
            <a:extLst>
              <a:ext uri="{FF2B5EF4-FFF2-40B4-BE49-F238E27FC236}">
                <a16:creationId xmlns:a16="http://schemas.microsoft.com/office/drawing/2014/main" id="{5DBA422E-4686-4570-8EEA-51F31B62D002}"/>
              </a:ext>
            </a:extLst>
          </p:cNvPr>
          <p:cNvSpPr>
            <a:spLocks noGrp="1"/>
          </p:cNvSpPr>
          <p:nvPr/>
        </p:nvSpPr>
        <p:spPr>
          <a:xfrm>
            <a:off x="12151709" y="5977776"/>
            <a:ext cx="3668211" cy="477574"/>
          </a:xfrm>
          <a:prstGeom prst="rect">
            <a:avLst/>
          </a:prstGeom>
        </p:spPr>
        <p:txBody>
          <a:bodyPr lIns="0" tIns="0" rIns="0" bIns="0" anchor="t">
            <a:spAutoFit/>
          </a:bodyPr>
          <a:lstStyle/>
          <a:p>
            <a:pPr algn="ctr">
              <a:lnSpc>
                <a:spcPts val="3494"/>
              </a:lnSpc>
              <a:buNone/>
            </a:pPr>
            <a:r>
              <a:rPr sz="2799" b="1">
                <a:solidFill>
                  <a:srgbClr val="3B4E4E"/>
                </a:solidFill>
                <a:latin typeface="Syne Bold"/>
                <a:ea typeface="Syne Bold"/>
                <a:cs typeface="Syne Bold"/>
              </a:rPr>
              <a:t>注文確定</a:t>
            </a:r>
          </a:p>
        </p:txBody>
      </p:sp>
      <p:sp>
        <p:nvSpPr>
          <p:cNvPr id="14" name="TextBox 14">
            <a:extLst>
              <a:ext uri="{FF2B5EF4-FFF2-40B4-BE49-F238E27FC236}">
                <a16:creationId xmlns:a16="http://schemas.microsoft.com/office/drawing/2014/main" id="{DDD9276F-BAA1-4611-A3C2-B2029DABE837}"/>
              </a:ext>
            </a:extLst>
          </p:cNvPr>
          <p:cNvSpPr>
            <a:spLocks noGrp="1"/>
          </p:cNvSpPr>
          <p:nvPr/>
        </p:nvSpPr>
        <p:spPr>
          <a:xfrm>
            <a:off x="4261228" y="7771124"/>
            <a:ext cx="3668211" cy="477574"/>
          </a:xfrm>
          <a:prstGeom prst="rect">
            <a:avLst/>
          </a:prstGeom>
        </p:spPr>
        <p:txBody>
          <a:bodyPr lIns="0" tIns="0" rIns="0" bIns="0" anchor="t">
            <a:spAutoFit/>
          </a:bodyPr>
          <a:lstStyle/>
          <a:p>
            <a:pPr algn="ctr">
              <a:lnSpc>
                <a:spcPts val="3494"/>
              </a:lnSpc>
              <a:buNone/>
            </a:pPr>
            <a:r>
              <a:rPr sz="2799" b="1">
                <a:solidFill>
                  <a:srgbClr val="3B4E4E"/>
                </a:solidFill>
                <a:latin typeface="Syne Bold"/>
                <a:ea typeface="Syne Bold"/>
                <a:cs typeface="Syne Bold"/>
              </a:rPr>
              <a:t>履歴に保存</a:t>
            </a:r>
          </a:p>
        </p:txBody>
      </p:sp>
      <p:sp>
        <p:nvSpPr>
          <p:cNvPr id="15" name="TextBox 15">
            <a:extLst>
              <a:ext uri="{FF2B5EF4-FFF2-40B4-BE49-F238E27FC236}">
                <a16:creationId xmlns:a16="http://schemas.microsoft.com/office/drawing/2014/main" id="{A80376B2-851F-45A3-BDFB-F0E3450BA37E}"/>
              </a:ext>
            </a:extLst>
          </p:cNvPr>
          <p:cNvSpPr>
            <a:spLocks noGrp="1"/>
          </p:cNvSpPr>
          <p:nvPr/>
        </p:nvSpPr>
        <p:spPr>
          <a:xfrm>
            <a:off x="992238" y="9280179"/>
            <a:ext cx="17217923" cy="216398"/>
          </a:xfrm>
          <a:prstGeom prst="rect">
            <a:avLst/>
          </a:prstGeom>
        </p:spPr>
        <p:txBody>
          <a:bodyPr lIns="0" tIns="0" rIns="0" bIns="0" anchor="t">
            <a:spAutoFit/>
          </a:bodyPr>
          <a:lstStyle/>
          <a:p>
            <a:pPr algn="l">
              <a:lnSpc>
                <a:spcPts val="1512"/>
              </a:lnSpc>
              <a:buNone/>
            </a:pPr>
            <a:r>
              <a:rPr sz="1200">
                <a:solidFill>
                  <a:srgbClr val="3B4E4E"/>
                </a:solidFill>
                <a:latin typeface="Overpass Light"/>
                <a:ea typeface="Overpass Light"/>
                <a:cs typeface="Overpass Light"/>
              </a:rPr>
              <a:t>注文操作と飲酒ペースの記録が、一つのフローで完結します</a:t>
            </a:r>
          </a:p>
        </p:txBody>
      </p:sp>
      <p:sp>
        <p:nvSpPr>
          <p:cNvPr id="16" name="gamma-badge-cover">
            <a:extLst>
              <a:ext uri="{FF2B5EF4-FFF2-40B4-BE49-F238E27FC236}">
                <a16:creationId xmlns:a16="http://schemas.microsoft.com/office/drawing/2014/main" id="{5CB7A983-3953-44A2-AE7F-3888A2E183BD}"/>
              </a:ext>
            </a:extLst>
          </p:cNvPr>
          <p:cNvSpPr>
            <a:spLocks noGrp="1"/>
          </p:cNvSpPr>
          <p:nvPr/>
        </p:nvSpPr>
        <p:spPr>
          <a:xfrm>
            <a:off x="15982950" y="9601200"/>
            <a:ext cx="2305050" cy="685800"/>
          </a:xfrm>
          <a:prstGeom prst="rect">
            <a:avLst/>
          </a:prstGeom>
          <a:solidFill>
            <a:srgbClr val="FFFDE6"/>
          </a:solidFill>
          <a:ln w="0">
            <a:noFill/>
            <a:prstDash val="solid"/>
          </a:ln>
        </p:spPr>
        <p:txBody>
          <a:bodyPr/>
          <a:lstStyle/>
          <a:p>
            <a:endParaRPr lang="ja-JP" altLang="en-US"/>
          </a:p>
        </p:txBody>
      </p:sp>
    </p:spTree>
    <p:extLst>
      <p:ext uri="{BB962C8B-B14F-4D97-AF65-F5344CB8AC3E}">
        <p14:creationId xmlns:p14="http://schemas.microsoft.com/office/powerpoint/2010/main" val="1215106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FC29BE29-653A-4E3F-9976-208009A621C4}"/>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txBody>
          <a:bodyPr/>
          <a:lstStyle/>
          <a:p>
            <a:endParaRPr/>
          </a:p>
        </p:txBody>
      </p:sp>
      <p:sp>
        <p:nvSpPr>
          <p:cNvPr id="5" name="Freeform 5">
            <a:extLst>
              <a:ext uri="{FF2B5EF4-FFF2-40B4-BE49-F238E27FC236}">
                <a16:creationId xmlns:a16="http://schemas.microsoft.com/office/drawing/2014/main" id="{DE15627B-BC9B-4F53-8E44-1AC29EDD773B}"/>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txBody>
          <a:bodyPr/>
          <a:lstStyle/>
          <a:p>
            <a:endParaRPr/>
          </a:p>
        </p:txBody>
      </p:sp>
      <p:sp>
        <p:nvSpPr>
          <p:cNvPr id="6" name="TextBox 6">
            <a:extLst>
              <a:ext uri="{FF2B5EF4-FFF2-40B4-BE49-F238E27FC236}">
                <a16:creationId xmlns:a16="http://schemas.microsoft.com/office/drawing/2014/main" id="{6EFC17DF-DDBD-4481-94E8-1DC3F258DF2E}"/>
              </a:ext>
            </a:extLst>
          </p:cNvPr>
          <p:cNvSpPr>
            <a:spLocks noGrp="1"/>
          </p:cNvSpPr>
          <p:nvPr/>
        </p:nvSpPr>
        <p:spPr>
          <a:xfrm>
            <a:off x="992238" y="2770880"/>
            <a:ext cx="16303523" cy="914552"/>
          </a:xfrm>
          <a:prstGeom prst="rect">
            <a:avLst/>
          </a:prstGeom>
        </p:spPr>
        <p:txBody>
          <a:bodyPr lIns="0" tIns="0" rIns="0" bIns="0" anchor="t">
            <a:spAutoFit/>
          </a:bodyPr>
          <a:lstStyle/>
          <a:p>
            <a:pPr algn="l">
              <a:lnSpc>
                <a:spcPts val="6864"/>
              </a:lnSpc>
              <a:buNone/>
            </a:pPr>
            <a:r>
              <a:rPr sz="5500" b="1">
                <a:solidFill>
                  <a:srgbClr val="233939"/>
                </a:solidFill>
                <a:latin typeface="Syne Bold"/>
                <a:ea typeface="Syne Bold"/>
                <a:cs typeface="Syne Bold"/>
              </a:rPr>
              <a:t>なぜ「注文記録」方式にしたのか</a:t>
            </a:r>
          </a:p>
        </p:txBody>
      </p:sp>
      <p:sp>
        <p:nvSpPr>
          <p:cNvPr id="8" name="Freeform 8">
            <a:extLst>
              <a:ext uri="{FF2B5EF4-FFF2-40B4-BE49-F238E27FC236}">
                <a16:creationId xmlns:a16="http://schemas.microsoft.com/office/drawing/2014/main" id="{ED07ED28-13E0-405B-84EB-EA407A92CE32}"/>
              </a:ext>
            </a:extLst>
          </p:cNvPr>
          <p:cNvSpPr>
            <a:spLocks noGrp="1"/>
          </p:cNvSpPr>
          <p:nvPr/>
        </p:nvSpPr>
        <p:spPr>
          <a:xfrm>
            <a:off x="788041" y="4110628"/>
            <a:ext cx="8214264" cy="3376898"/>
          </a:xfrm>
          <a:custGeom>
            <a:avLst/>
            <a:gdLst/>
            <a:ahLst/>
            <a:cxnLst/>
            <a:rect l="l" t="t" r="r" b="b"/>
            <a:pathLst>
              <a:path w="10952353" h="4502531">
                <a:moveTo>
                  <a:pt x="0" y="272161"/>
                </a:moveTo>
                <a:cubicBezTo>
                  <a:pt x="0" y="121920"/>
                  <a:pt x="121920" y="0"/>
                  <a:pt x="272161" y="0"/>
                </a:cubicBezTo>
                <a:lnTo>
                  <a:pt x="10680192" y="0"/>
                </a:lnTo>
                <a:cubicBezTo>
                  <a:pt x="10830561" y="0"/>
                  <a:pt x="10952353" y="121920"/>
                  <a:pt x="10952353" y="272161"/>
                </a:cubicBezTo>
                <a:lnTo>
                  <a:pt x="10952353" y="4230370"/>
                </a:lnTo>
                <a:cubicBezTo>
                  <a:pt x="10952353" y="4380738"/>
                  <a:pt x="10830433" y="4502531"/>
                  <a:pt x="10680192" y="4502531"/>
                </a:cubicBezTo>
                <a:lnTo>
                  <a:pt x="272161" y="4502531"/>
                </a:lnTo>
                <a:cubicBezTo>
                  <a:pt x="121920" y="4502531"/>
                  <a:pt x="0" y="4380738"/>
                  <a:pt x="0" y="4230370"/>
                </a:cubicBezTo>
                <a:close/>
              </a:path>
            </a:pathLst>
          </a:custGeom>
          <a:solidFill>
            <a:srgbClr val="224435"/>
          </a:solidFill>
        </p:spPr>
        <p:txBody>
          <a:bodyPr/>
          <a:lstStyle/>
          <a:p>
            <a:endParaRPr/>
          </a:p>
        </p:txBody>
      </p:sp>
      <p:sp>
        <p:nvSpPr>
          <p:cNvPr id="9" name="TextBox 9">
            <a:extLst>
              <a:ext uri="{FF2B5EF4-FFF2-40B4-BE49-F238E27FC236}">
                <a16:creationId xmlns:a16="http://schemas.microsoft.com/office/drawing/2014/main" id="{30DF6B1F-AF15-4C16-B032-0509A13464A3}"/>
              </a:ext>
            </a:extLst>
          </p:cNvPr>
          <p:cNvSpPr>
            <a:spLocks noGrp="1"/>
          </p:cNvSpPr>
          <p:nvPr/>
        </p:nvSpPr>
        <p:spPr>
          <a:xfrm>
            <a:off x="1071562" y="4375099"/>
            <a:ext cx="7647232" cy="461962"/>
          </a:xfrm>
          <a:prstGeom prst="rect">
            <a:avLst/>
          </a:prstGeom>
        </p:spPr>
        <p:txBody>
          <a:bodyPr lIns="0" tIns="0" rIns="0" bIns="0" anchor="t">
            <a:spAutoFit/>
          </a:bodyPr>
          <a:lstStyle/>
          <a:p>
            <a:pPr algn="l">
              <a:lnSpc>
                <a:spcPts val="3369"/>
              </a:lnSpc>
              <a:buNone/>
            </a:pPr>
            <a:r>
              <a:rPr sz="2700" b="1">
                <a:solidFill>
                  <a:srgbClr val="FFFFFF"/>
                </a:solidFill>
                <a:latin typeface="Syne Bold"/>
                <a:ea typeface="Syne Bold"/>
                <a:cs typeface="Syne Bold"/>
              </a:rPr>
              <a:t>当初の案：タップカウント型</a:t>
            </a:r>
          </a:p>
        </p:txBody>
      </p:sp>
      <p:sp>
        <p:nvSpPr>
          <p:cNvPr id="10" name="TextBox 10">
            <a:extLst>
              <a:ext uri="{FF2B5EF4-FFF2-40B4-BE49-F238E27FC236}">
                <a16:creationId xmlns:a16="http://schemas.microsoft.com/office/drawing/2014/main" id="{A3D9AF22-AF05-4903-A628-B3150D0459D4}"/>
              </a:ext>
            </a:extLst>
          </p:cNvPr>
          <p:cNvSpPr>
            <a:spLocks noGrp="1"/>
          </p:cNvSpPr>
          <p:nvPr/>
        </p:nvSpPr>
        <p:spPr>
          <a:xfrm>
            <a:off x="1071562" y="5034858"/>
            <a:ext cx="8561632" cy="539353"/>
          </a:xfrm>
          <a:prstGeom prst="rect">
            <a:avLst/>
          </a:prstGeom>
        </p:spPr>
        <p:txBody>
          <a:bodyPr lIns="0" tIns="0" rIns="0" bIns="0" anchor="t">
            <a:spAutoFit/>
          </a:bodyPr>
          <a:lstStyle/>
          <a:p>
            <a:pPr algn="l">
              <a:lnSpc>
                <a:spcPts val="3511"/>
              </a:lnSpc>
              <a:buNone/>
            </a:pPr>
            <a:r>
              <a:rPr sz="2200">
                <a:solidFill>
                  <a:srgbClr val="FFFFFF"/>
                </a:solidFill>
                <a:latin typeface="Overpass Light"/>
                <a:ea typeface="Overpass Light"/>
                <a:cs typeface="Overpass Light"/>
              </a:rPr>
              <a:t>飲んだ杯数を自分で入力する方式</a:t>
            </a:r>
          </a:p>
        </p:txBody>
      </p:sp>
      <p:sp>
        <p:nvSpPr>
          <p:cNvPr id="11" name="TextBox 11">
            <a:extLst>
              <a:ext uri="{FF2B5EF4-FFF2-40B4-BE49-F238E27FC236}">
                <a16:creationId xmlns:a16="http://schemas.microsoft.com/office/drawing/2014/main" id="{D5608236-626D-469C-A2CC-F58641303FC0}"/>
              </a:ext>
            </a:extLst>
          </p:cNvPr>
          <p:cNvSpPr>
            <a:spLocks noGrp="1"/>
          </p:cNvSpPr>
          <p:nvPr/>
        </p:nvSpPr>
        <p:spPr>
          <a:xfrm>
            <a:off x="1071562" y="5743575"/>
            <a:ext cx="7647232" cy="1289533"/>
          </a:xfrm>
          <a:prstGeom prst="rect">
            <a:avLst/>
          </a:prstGeom>
        </p:spPr>
        <p:txBody>
          <a:bodyPr lIns="0" tIns="0" rIns="0" bIns="0" anchor="t">
            <a:spAutoFit/>
          </a:bodyPr>
          <a:lstStyle/>
          <a:p>
            <a:pPr marL="530860" indent="-265430" algn="l">
              <a:lnSpc>
                <a:spcPts val="3511"/>
              </a:lnSpc>
              <a:buChar char="•"/>
            </a:pPr>
            <a:r>
              <a:rPr sz="2200">
                <a:solidFill>
                  <a:srgbClr val="FFFFFF"/>
                </a:solidFill>
                <a:latin typeface="Overpass Light"/>
                <a:ea typeface="Overpass Light"/>
                <a:cs typeface="Overpass Light"/>
              </a:rPr>
              <a:t>毎回アプリを開く必要がある</a:t>
            </a:r>
          </a:p>
          <a:p>
            <a:pPr marL="530860" indent="-265430" algn="l">
              <a:lnSpc>
                <a:spcPts val="3511"/>
              </a:lnSpc>
              <a:buChar char="•"/>
            </a:pPr>
            <a:r>
              <a:rPr sz="2200">
                <a:solidFill>
                  <a:srgbClr val="FFFFFF"/>
                </a:solidFill>
                <a:latin typeface="Overpass Light"/>
                <a:ea typeface="Overpass Light"/>
                <a:cs typeface="Overpass Light"/>
              </a:rPr>
              <a:t>入力を忘れる可能性</a:t>
            </a:r>
          </a:p>
          <a:p>
            <a:pPr marL="530860" indent="-265430" algn="l">
              <a:lnSpc>
                <a:spcPts val="3511"/>
              </a:lnSpc>
              <a:buChar char="•"/>
            </a:pPr>
            <a:r>
              <a:rPr sz="2200">
                <a:solidFill>
                  <a:srgbClr val="FFFFFF"/>
                </a:solidFill>
                <a:latin typeface="Overpass Light"/>
                <a:ea typeface="Overpass Light"/>
                <a:cs typeface="Overpass Light"/>
              </a:rPr>
              <a:t>実際の利用場面には合わない</a:t>
            </a:r>
          </a:p>
        </p:txBody>
      </p:sp>
      <p:sp>
        <p:nvSpPr>
          <p:cNvPr id="12" name="TextBox 12">
            <a:extLst>
              <a:ext uri="{FF2B5EF4-FFF2-40B4-BE49-F238E27FC236}">
                <a16:creationId xmlns:a16="http://schemas.microsoft.com/office/drawing/2014/main" id="{E6D6516D-59A7-44D9-8DDE-AE1D7929B6B4}"/>
              </a:ext>
            </a:extLst>
          </p:cNvPr>
          <p:cNvSpPr>
            <a:spLocks noGrp="1"/>
          </p:cNvSpPr>
          <p:nvPr/>
        </p:nvSpPr>
        <p:spPr>
          <a:xfrm>
            <a:off x="9499406" y="4375099"/>
            <a:ext cx="4324544" cy="421691"/>
          </a:xfrm>
          <a:prstGeom prst="rect">
            <a:avLst/>
          </a:prstGeom>
        </p:spPr>
        <p:txBody>
          <a:bodyPr wrap="square" lIns="0" tIns="0" rIns="0" bIns="0" anchor="t">
            <a:spAutoFit/>
          </a:bodyPr>
          <a:lstStyle/>
          <a:p>
            <a:pPr algn="l">
              <a:lnSpc>
                <a:spcPts val="3369"/>
              </a:lnSpc>
              <a:buNone/>
            </a:pPr>
            <a:r>
              <a:rPr sz="2700" b="1" dirty="0" err="1">
                <a:solidFill>
                  <a:srgbClr val="233939"/>
                </a:solidFill>
                <a:latin typeface="Syne Bold"/>
                <a:ea typeface="Syne Bold"/>
                <a:cs typeface="Syne Bold"/>
              </a:rPr>
              <a:t>採用した方式：注文連動型</a:t>
            </a:r>
            <a:endParaRPr sz="2700" b="1" dirty="0">
              <a:solidFill>
                <a:srgbClr val="233939"/>
              </a:solidFill>
              <a:latin typeface="Syne Bold"/>
              <a:ea typeface="Syne Bold"/>
              <a:cs typeface="Syne Bold"/>
            </a:endParaRPr>
          </a:p>
        </p:txBody>
      </p:sp>
      <p:sp>
        <p:nvSpPr>
          <p:cNvPr id="13" name="TextBox 13">
            <a:extLst>
              <a:ext uri="{FF2B5EF4-FFF2-40B4-BE49-F238E27FC236}">
                <a16:creationId xmlns:a16="http://schemas.microsoft.com/office/drawing/2014/main" id="{686569EE-9B82-4DFA-A36D-844EF40EE575}"/>
              </a:ext>
            </a:extLst>
          </p:cNvPr>
          <p:cNvSpPr>
            <a:spLocks noGrp="1"/>
          </p:cNvSpPr>
          <p:nvPr/>
        </p:nvSpPr>
        <p:spPr>
          <a:xfrm>
            <a:off x="9499406" y="5034858"/>
            <a:ext cx="8720290" cy="539353"/>
          </a:xfrm>
          <a:prstGeom prst="rect">
            <a:avLst/>
          </a:prstGeom>
        </p:spPr>
        <p:txBody>
          <a:bodyPr lIns="0" tIns="0" rIns="0" bIns="0" anchor="t">
            <a:spAutoFit/>
          </a:bodyPr>
          <a:lstStyle/>
          <a:p>
            <a:pPr algn="l">
              <a:lnSpc>
                <a:spcPts val="3511"/>
              </a:lnSpc>
              <a:buNone/>
            </a:pPr>
            <a:r>
              <a:rPr sz="2200">
                <a:solidFill>
                  <a:srgbClr val="3B4E4E"/>
                </a:solidFill>
                <a:latin typeface="Overpass Light"/>
                <a:ea typeface="Overpass Light"/>
                <a:cs typeface="Overpass Light"/>
              </a:rPr>
              <a:t>注文操作そのものを記録として利用</a:t>
            </a:r>
          </a:p>
        </p:txBody>
      </p:sp>
      <p:sp>
        <p:nvSpPr>
          <p:cNvPr id="14" name="TextBox 14">
            <a:extLst>
              <a:ext uri="{FF2B5EF4-FFF2-40B4-BE49-F238E27FC236}">
                <a16:creationId xmlns:a16="http://schemas.microsoft.com/office/drawing/2014/main" id="{1610D78B-F15E-41B0-8010-3A328E92E965}"/>
              </a:ext>
            </a:extLst>
          </p:cNvPr>
          <p:cNvSpPr>
            <a:spLocks noGrp="1"/>
          </p:cNvSpPr>
          <p:nvPr/>
        </p:nvSpPr>
        <p:spPr>
          <a:xfrm>
            <a:off x="9499406" y="5743575"/>
            <a:ext cx="7805890" cy="1289533"/>
          </a:xfrm>
          <a:prstGeom prst="rect">
            <a:avLst/>
          </a:prstGeom>
        </p:spPr>
        <p:txBody>
          <a:bodyPr lIns="0" tIns="0" rIns="0" bIns="0" anchor="t">
            <a:spAutoFit/>
          </a:bodyPr>
          <a:lstStyle/>
          <a:p>
            <a:pPr marL="530860" indent="-265430" algn="l">
              <a:lnSpc>
                <a:spcPts val="3511"/>
              </a:lnSpc>
              <a:buChar char="•"/>
            </a:pPr>
            <a:r>
              <a:rPr sz="2200">
                <a:solidFill>
                  <a:srgbClr val="3B4E4E"/>
                </a:solidFill>
                <a:latin typeface="Overpass Light"/>
                <a:ea typeface="Overpass Light"/>
                <a:cs typeface="Overpass Light"/>
              </a:rPr>
              <a:t>カートに追加・注文確定で自動記録</a:t>
            </a:r>
          </a:p>
          <a:p>
            <a:pPr marL="530860" indent="-265430" algn="l">
              <a:lnSpc>
                <a:spcPts val="3511"/>
              </a:lnSpc>
              <a:buChar char="•"/>
            </a:pPr>
            <a:r>
              <a:rPr sz="2200">
                <a:solidFill>
                  <a:srgbClr val="3B4E4E"/>
                </a:solidFill>
                <a:latin typeface="Overpass Light"/>
                <a:ea typeface="Overpass Light"/>
                <a:cs typeface="Overpass Light"/>
              </a:rPr>
              <a:t>追加の入力操作は不要</a:t>
            </a:r>
          </a:p>
          <a:p>
            <a:pPr marL="530860" indent="-265430" algn="l">
              <a:lnSpc>
                <a:spcPts val="3511"/>
              </a:lnSpc>
              <a:buChar char="•"/>
            </a:pPr>
            <a:r>
              <a:rPr sz="2200">
                <a:solidFill>
                  <a:srgbClr val="3B4E4E"/>
                </a:solidFill>
                <a:latin typeface="Overpass Light"/>
                <a:ea typeface="Overpass Light"/>
                <a:cs typeface="Overpass Light"/>
              </a:rPr>
              <a:t>自然な行動と記録がつながる</a:t>
            </a:r>
          </a:p>
        </p:txBody>
      </p:sp>
    </p:spTree>
    <p:extLst>
      <p:ext uri="{BB962C8B-B14F-4D97-AF65-F5344CB8AC3E}">
        <p14:creationId xmlns:p14="http://schemas.microsoft.com/office/powerpoint/2010/main" val="1248408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EE9DD260-800F-4D51-8D50-C7D988A76279}"/>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txBody>
          <a:bodyPr/>
          <a:lstStyle/>
          <a:p>
            <a:endParaRPr/>
          </a:p>
        </p:txBody>
      </p:sp>
      <p:sp>
        <p:nvSpPr>
          <p:cNvPr id="5" name="Freeform 5">
            <a:extLst>
              <a:ext uri="{FF2B5EF4-FFF2-40B4-BE49-F238E27FC236}">
                <a16:creationId xmlns:a16="http://schemas.microsoft.com/office/drawing/2014/main" id="{71700650-F700-42B6-BF37-81AD25F899DC}"/>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txBody>
          <a:bodyPr/>
          <a:lstStyle/>
          <a:p>
            <a:r>
              <a:rPr lang="ja-JP" altLang="en-US" dirty="0"/>
              <a:t>実装した主な</a:t>
            </a:r>
            <a:r>
              <a:rPr lang="en-US" altLang="ja-JP" dirty="0"/>
              <a:t>3</a:t>
            </a:r>
            <a:r>
              <a:rPr lang="ja-JP" altLang="en-US" dirty="0"/>
              <a:t>つの機能</a:t>
            </a:r>
            <a:endParaRPr dirty="0"/>
          </a:p>
        </p:txBody>
      </p:sp>
      <p:sp>
        <p:nvSpPr>
          <p:cNvPr id="6" name="TextBox 6">
            <a:extLst>
              <a:ext uri="{FF2B5EF4-FFF2-40B4-BE49-F238E27FC236}">
                <a16:creationId xmlns:a16="http://schemas.microsoft.com/office/drawing/2014/main" id="{88504E17-82F4-431E-90AC-7D7B45D9458F}"/>
              </a:ext>
            </a:extLst>
          </p:cNvPr>
          <p:cNvSpPr>
            <a:spLocks noGrp="1"/>
          </p:cNvSpPr>
          <p:nvPr/>
        </p:nvSpPr>
        <p:spPr>
          <a:xfrm>
            <a:off x="992238" y="1686220"/>
            <a:ext cx="16303523" cy="841834"/>
          </a:xfrm>
          <a:prstGeom prst="rect">
            <a:avLst/>
          </a:prstGeom>
        </p:spPr>
        <p:txBody>
          <a:bodyPr lIns="0" tIns="0" rIns="0" bIns="0" anchor="t">
            <a:spAutoFit/>
          </a:bodyPr>
          <a:lstStyle/>
          <a:p>
            <a:pPr algn="l">
              <a:lnSpc>
                <a:spcPts val="6864"/>
              </a:lnSpc>
              <a:buNone/>
            </a:pPr>
            <a:r>
              <a:rPr sz="5500" b="1" dirty="0" err="1">
                <a:solidFill>
                  <a:srgbClr val="233939"/>
                </a:solidFill>
                <a:latin typeface="Syne Bold"/>
                <a:ea typeface="Syne Bold"/>
                <a:cs typeface="Syne Bold"/>
              </a:rPr>
              <a:t>実装した主な</a:t>
            </a:r>
            <a:r>
              <a:rPr lang="ja-JP" altLang="en-US" sz="5500" b="1" dirty="0">
                <a:solidFill>
                  <a:srgbClr val="233939"/>
                </a:solidFill>
                <a:latin typeface="Syne Bold"/>
                <a:ea typeface="Syne Bold"/>
                <a:cs typeface="Syne Bold"/>
              </a:rPr>
              <a:t>３</a:t>
            </a:r>
            <a:r>
              <a:rPr sz="5500" b="1" dirty="0" err="1">
                <a:solidFill>
                  <a:srgbClr val="233939"/>
                </a:solidFill>
                <a:latin typeface="Syne Bold"/>
                <a:ea typeface="Syne Bold"/>
                <a:cs typeface="Syne Bold"/>
              </a:rPr>
              <a:t>つの機能</a:t>
            </a:r>
            <a:endParaRPr sz="5500" b="1" dirty="0">
              <a:solidFill>
                <a:srgbClr val="233939"/>
              </a:solidFill>
              <a:latin typeface="Syne Bold"/>
              <a:ea typeface="Syne Bold"/>
              <a:cs typeface="Syne Bold"/>
            </a:endParaRPr>
          </a:p>
        </p:txBody>
      </p:sp>
      <p:sp>
        <p:nvSpPr>
          <p:cNvPr id="14" name="feature-1">
            <a:extLst>
              <a:ext uri="{FF2B5EF4-FFF2-40B4-BE49-F238E27FC236}">
                <a16:creationId xmlns:a16="http://schemas.microsoft.com/office/drawing/2014/main" id="{A5E11D6E-1918-494F-313D-53E8F328121D}"/>
              </a:ext>
            </a:extLst>
          </p:cNvPr>
          <p:cNvSpPr>
            <a:spLocks noGrp="1"/>
          </p:cNvSpPr>
          <p:nvPr/>
        </p:nvSpPr>
        <p:spPr>
          <a:xfrm>
            <a:off x="1157287" y="2892425"/>
            <a:ext cx="5057775" cy="5572125"/>
          </a:xfrm>
          <a:prstGeom prst="roundRect">
            <a:avLst>
              <a:gd name="adj" fmla="val 3390"/>
            </a:avLst>
          </a:prstGeom>
          <a:solidFill>
            <a:srgbClr val="FFFDF4"/>
          </a:solidFill>
          <a:ln w="19050">
            <a:solidFill>
              <a:srgbClr val="C9D7CF"/>
            </a:solidFill>
            <a:prstDash val="solid"/>
          </a:ln>
        </p:spPr>
        <p:txBody>
          <a:bodyPr/>
          <a:lstStyle/>
          <a:p>
            <a:endParaRPr lang="ja-JP" altLang="en-US" sz="2700"/>
          </a:p>
        </p:txBody>
      </p:sp>
      <p:sp>
        <p:nvSpPr>
          <p:cNvPr id="26" name="feature-band-1">
            <a:extLst>
              <a:ext uri="{FF2B5EF4-FFF2-40B4-BE49-F238E27FC236}">
                <a16:creationId xmlns:a16="http://schemas.microsoft.com/office/drawing/2014/main" id="{157D09B4-D35C-4490-A44D-579DA545941C}"/>
              </a:ext>
            </a:extLst>
          </p:cNvPr>
          <p:cNvSpPr>
            <a:spLocks noGrp="1"/>
          </p:cNvSpPr>
          <p:nvPr/>
        </p:nvSpPr>
        <p:spPr>
          <a:xfrm>
            <a:off x="1157287" y="2892425"/>
            <a:ext cx="5057775" cy="1228725"/>
          </a:xfrm>
          <a:prstGeom prst="rect">
            <a:avLst/>
          </a:prstGeom>
          <a:solidFill>
            <a:srgbClr val="DCECE4"/>
          </a:solidFill>
          <a:ln w="0">
            <a:solidFill>
              <a:srgbClr val="DCECE4"/>
            </a:solidFill>
            <a:prstDash val="solid"/>
          </a:ln>
        </p:spPr>
        <p:txBody>
          <a:bodyPr/>
          <a:lstStyle/>
          <a:p>
            <a:endParaRPr lang="ja-JP" altLang="en-US" sz="2700"/>
          </a:p>
        </p:txBody>
      </p:sp>
      <p:sp>
        <p:nvSpPr>
          <p:cNvPr id="32" name="number-1">
            <a:extLst>
              <a:ext uri="{FF2B5EF4-FFF2-40B4-BE49-F238E27FC236}">
                <a16:creationId xmlns:a16="http://schemas.microsoft.com/office/drawing/2014/main" id="{5F3626AF-9B16-CE3A-45BF-2D5C9FE59E88}"/>
              </a:ext>
            </a:extLst>
          </p:cNvPr>
          <p:cNvSpPr>
            <a:spLocks noGrp="1"/>
          </p:cNvSpPr>
          <p:nvPr/>
        </p:nvSpPr>
        <p:spPr>
          <a:xfrm>
            <a:off x="1157287" y="3049588"/>
            <a:ext cx="5057775" cy="771525"/>
          </a:xfrm>
          <a:prstGeom prst="rect">
            <a:avLst/>
          </a:prstGeom>
          <a:noFill/>
          <a:ln w="0">
            <a:noFill/>
            <a:prstDash val="solid"/>
          </a:ln>
        </p:spPr>
        <p:txBody>
          <a:bodyPr anchor="ctr"/>
          <a:lstStyle/>
          <a:p>
            <a:pPr algn="ctr">
              <a:defRPr sz="2250" b="1">
                <a:solidFill>
                  <a:srgbClr val="173D38"/>
                </a:solidFill>
              </a:defRPr>
            </a:pPr>
            <a:r>
              <a:rPr sz="3375" b="1">
                <a:solidFill>
                  <a:srgbClr val="173D38"/>
                </a:solidFill>
              </a:rPr>
              <a:t>1</a:t>
            </a:r>
          </a:p>
        </p:txBody>
      </p:sp>
      <p:sp>
        <p:nvSpPr>
          <p:cNvPr id="34" name="feature-title-1">
            <a:extLst>
              <a:ext uri="{FF2B5EF4-FFF2-40B4-BE49-F238E27FC236}">
                <a16:creationId xmlns:a16="http://schemas.microsoft.com/office/drawing/2014/main" id="{CCF95168-634B-8E81-18CE-2453F40F8FAC}"/>
              </a:ext>
            </a:extLst>
          </p:cNvPr>
          <p:cNvSpPr>
            <a:spLocks noGrp="1"/>
          </p:cNvSpPr>
          <p:nvPr/>
        </p:nvSpPr>
        <p:spPr>
          <a:xfrm>
            <a:off x="1557337" y="4549775"/>
            <a:ext cx="4257675" cy="714375"/>
          </a:xfrm>
          <a:prstGeom prst="rect">
            <a:avLst/>
          </a:prstGeom>
          <a:noFill/>
          <a:ln w="0">
            <a:noFill/>
            <a:prstDash val="solid"/>
          </a:ln>
        </p:spPr>
        <p:txBody>
          <a:bodyPr anchor="ctr"/>
          <a:lstStyle/>
          <a:p>
            <a:pPr algn="l">
              <a:defRPr sz="2025" b="1">
                <a:solidFill>
                  <a:srgbClr val="173D38"/>
                </a:solidFill>
              </a:defRPr>
            </a:pPr>
            <a:r>
              <a:rPr sz="3038" b="1">
                <a:solidFill>
                  <a:srgbClr val="173D38"/>
                </a:solidFill>
              </a:rPr>
              <a:t>注文機能</a:t>
            </a:r>
          </a:p>
        </p:txBody>
      </p:sp>
      <p:sp>
        <p:nvSpPr>
          <p:cNvPr id="36" name="feature-body-1">
            <a:extLst>
              <a:ext uri="{FF2B5EF4-FFF2-40B4-BE49-F238E27FC236}">
                <a16:creationId xmlns:a16="http://schemas.microsoft.com/office/drawing/2014/main" id="{9F05C83C-B137-B213-7A11-6CFC717420E7}"/>
              </a:ext>
            </a:extLst>
          </p:cNvPr>
          <p:cNvSpPr>
            <a:spLocks noGrp="1"/>
          </p:cNvSpPr>
          <p:nvPr/>
        </p:nvSpPr>
        <p:spPr>
          <a:xfrm>
            <a:off x="1557337" y="5578475"/>
            <a:ext cx="4257675" cy="1228725"/>
          </a:xfrm>
          <a:prstGeom prst="rect">
            <a:avLst/>
          </a:prstGeom>
          <a:noFill/>
          <a:ln w="0">
            <a:noFill/>
            <a:prstDash val="solid"/>
          </a:ln>
        </p:spPr>
        <p:txBody>
          <a:bodyPr anchor="ctr"/>
          <a:lstStyle/>
          <a:p>
            <a:pPr algn="l">
              <a:defRPr sz="1425" b="0">
                <a:solidFill>
                  <a:srgbClr val="334B45"/>
                </a:solidFill>
              </a:defRPr>
            </a:pPr>
            <a:r>
              <a:rPr sz="2138">
                <a:solidFill>
                  <a:srgbClr val="334B45"/>
                </a:solidFill>
              </a:rPr>
              <a:t>商品追加・数量変更・削除・注文確定</a:t>
            </a:r>
          </a:p>
        </p:txBody>
      </p:sp>
      <p:sp>
        <p:nvSpPr>
          <p:cNvPr id="38" name="feature-note-1">
            <a:extLst>
              <a:ext uri="{FF2B5EF4-FFF2-40B4-BE49-F238E27FC236}">
                <a16:creationId xmlns:a16="http://schemas.microsoft.com/office/drawing/2014/main" id="{C66B3DD8-C57F-53A9-2FBF-174D03865157}"/>
              </a:ext>
            </a:extLst>
          </p:cNvPr>
          <p:cNvSpPr>
            <a:spLocks noGrp="1"/>
          </p:cNvSpPr>
          <p:nvPr/>
        </p:nvSpPr>
        <p:spPr>
          <a:xfrm>
            <a:off x="1557337" y="7178675"/>
            <a:ext cx="4257675" cy="885825"/>
          </a:xfrm>
          <a:prstGeom prst="rect">
            <a:avLst/>
          </a:prstGeom>
          <a:noFill/>
          <a:ln w="0">
            <a:noFill/>
            <a:prstDash val="solid"/>
          </a:ln>
        </p:spPr>
        <p:txBody>
          <a:bodyPr anchor="ctr"/>
          <a:lstStyle/>
          <a:p>
            <a:pPr algn="l">
              <a:defRPr sz="1200" b="0">
                <a:solidFill>
                  <a:srgbClr val="6B7B75"/>
                </a:solidFill>
              </a:defRPr>
            </a:pPr>
            <a:r>
              <a:rPr>
                <a:solidFill>
                  <a:srgbClr val="6B7B75"/>
                </a:solidFill>
              </a:rPr>
              <a:t>注文操作をそのまま飲酒記録につなげる</a:t>
            </a:r>
          </a:p>
        </p:txBody>
      </p:sp>
      <p:sp>
        <p:nvSpPr>
          <p:cNvPr id="40" name="feature-2">
            <a:extLst>
              <a:ext uri="{FF2B5EF4-FFF2-40B4-BE49-F238E27FC236}">
                <a16:creationId xmlns:a16="http://schemas.microsoft.com/office/drawing/2014/main" id="{D23B66A7-ADA7-9EBB-E415-BEA6E63EBC2A}"/>
              </a:ext>
            </a:extLst>
          </p:cNvPr>
          <p:cNvSpPr>
            <a:spLocks noGrp="1"/>
          </p:cNvSpPr>
          <p:nvPr/>
        </p:nvSpPr>
        <p:spPr>
          <a:xfrm>
            <a:off x="6615112" y="2892425"/>
            <a:ext cx="5057775" cy="5572125"/>
          </a:xfrm>
          <a:prstGeom prst="roundRect">
            <a:avLst>
              <a:gd name="adj" fmla="val 3390"/>
            </a:avLst>
          </a:prstGeom>
          <a:solidFill>
            <a:srgbClr val="FFFDF4"/>
          </a:solidFill>
          <a:ln w="19050">
            <a:solidFill>
              <a:srgbClr val="C9D7CF"/>
            </a:solidFill>
            <a:prstDash val="solid"/>
          </a:ln>
        </p:spPr>
        <p:txBody>
          <a:bodyPr/>
          <a:lstStyle/>
          <a:p>
            <a:endParaRPr lang="ja-JP" altLang="en-US" sz="2700"/>
          </a:p>
        </p:txBody>
      </p:sp>
      <p:sp>
        <p:nvSpPr>
          <p:cNvPr id="42" name="feature-band-2">
            <a:extLst>
              <a:ext uri="{FF2B5EF4-FFF2-40B4-BE49-F238E27FC236}">
                <a16:creationId xmlns:a16="http://schemas.microsoft.com/office/drawing/2014/main" id="{A52328B4-0823-4A68-2C4F-0674DA9868CB}"/>
              </a:ext>
            </a:extLst>
          </p:cNvPr>
          <p:cNvSpPr>
            <a:spLocks noGrp="1"/>
          </p:cNvSpPr>
          <p:nvPr/>
        </p:nvSpPr>
        <p:spPr>
          <a:xfrm>
            <a:off x="6615112" y="2892425"/>
            <a:ext cx="5057775" cy="1228725"/>
          </a:xfrm>
          <a:prstGeom prst="rect">
            <a:avLst/>
          </a:prstGeom>
          <a:solidFill>
            <a:srgbClr val="DCECE4"/>
          </a:solidFill>
          <a:ln w="0">
            <a:solidFill>
              <a:srgbClr val="DCECE4"/>
            </a:solidFill>
            <a:prstDash val="solid"/>
          </a:ln>
        </p:spPr>
        <p:txBody>
          <a:bodyPr/>
          <a:lstStyle/>
          <a:p>
            <a:endParaRPr lang="ja-JP" altLang="en-US" sz="2700"/>
          </a:p>
        </p:txBody>
      </p:sp>
      <p:sp>
        <p:nvSpPr>
          <p:cNvPr id="44" name="number-2">
            <a:extLst>
              <a:ext uri="{FF2B5EF4-FFF2-40B4-BE49-F238E27FC236}">
                <a16:creationId xmlns:a16="http://schemas.microsoft.com/office/drawing/2014/main" id="{B2D83A39-8766-04F7-12DD-01A19DBE55CB}"/>
              </a:ext>
            </a:extLst>
          </p:cNvPr>
          <p:cNvSpPr>
            <a:spLocks noGrp="1"/>
          </p:cNvSpPr>
          <p:nvPr/>
        </p:nvSpPr>
        <p:spPr>
          <a:xfrm>
            <a:off x="6615112" y="3049588"/>
            <a:ext cx="5057775" cy="771525"/>
          </a:xfrm>
          <a:prstGeom prst="rect">
            <a:avLst/>
          </a:prstGeom>
          <a:noFill/>
          <a:ln w="0">
            <a:noFill/>
            <a:prstDash val="solid"/>
          </a:ln>
        </p:spPr>
        <p:txBody>
          <a:bodyPr anchor="ctr"/>
          <a:lstStyle/>
          <a:p>
            <a:pPr algn="ctr">
              <a:defRPr sz="2250" b="1">
                <a:solidFill>
                  <a:srgbClr val="173D38"/>
                </a:solidFill>
              </a:defRPr>
            </a:pPr>
            <a:r>
              <a:rPr sz="3375" b="1">
                <a:solidFill>
                  <a:srgbClr val="173D38"/>
                </a:solidFill>
              </a:rPr>
              <a:t>2</a:t>
            </a:r>
          </a:p>
        </p:txBody>
      </p:sp>
      <p:sp>
        <p:nvSpPr>
          <p:cNvPr id="46" name="feature-title-2">
            <a:extLst>
              <a:ext uri="{FF2B5EF4-FFF2-40B4-BE49-F238E27FC236}">
                <a16:creationId xmlns:a16="http://schemas.microsoft.com/office/drawing/2014/main" id="{E55AAFBB-B6BA-24A5-EE02-97EEE81E900B}"/>
              </a:ext>
            </a:extLst>
          </p:cNvPr>
          <p:cNvSpPr>
            <a:spLocks noGrp="1"/>
          </p:cNvSpPr>
          <p:nvPr/>
        </p:nvSpPr>
        <p:spPr>
          <a:xfrm>
            <a:off x="7015162" y="4549775"/>
            <a:ext cx="4257675" cy="714375"/>
          </a:xfrm>
          <a:prstGeom prst="rect">
            <a:avLst/>
          </a:prstGeom>
          <a:noFill/>
          <a:ln w="0">
            <a:noFill/>
            <a:prstDash val="solid"/>
          </a:ln>
        </p:spPr>
        <p:txBody>
          <a:bodyPr anchor="ctr"/>
          <a:lstStyle/>
          <a:p>
            <a:pPr algn="l">
              <a:defRPr sz="2025" b="1">
                <a:solidFill>
                  <a:srgbClr val="173D38"/>
                </a:solidFill>
              </a:defRPr>
            </a:pPr>
            <a:r>
              <a:rPr sz="3038" b="1">
                <a:solidFill>
                  <a:srgbClr val="173D38"/>
                </a:solidFill>
              </a:rPr>
              <a:t>データベース保存</a:t>
            </a:r>
          </a:p>
        </p:txBody>
      </p:sp>
      <p:sp>
        <p:nvSpPr>
          <p:cNvPr id="48" name="feature-body-2">
            <a:extLst>
              <a:ext uri="{FF2B5EF4-FFF2-40B4-BE49-F238E27FC236}">
                <a16:creationId xmlns:a16="http://schemas.microsoft.com/office/drawing/2014/main" id="{0DC1A4D5-9974-6D14-36AB-6BFEE59DBF55}"/>
              </a:ext>
            </a:extLst>
          </p:cNvPr>
          <p:cNvSpPr>
            <a:spLocks noGrp="1"/>
          </p:cNvSpPr>
          <p:nvPr/>
        </p:nvSpPr>
        <p:spPr>
          <a:xfrm>
            <a:off x="7015162" y="5578475"/>
            <a:ext cx="4257675" cy="1228725"/>
          </a:xfrm>
          <a:prstGeom prst="rect">
            <a:avLst/>
          </a:prstGeom>
          <a:noFill/>
          <a:ln w="0">
            <a:noFill/>
            <a:prstDash val="solid"/>
          </a:ln>
        </p:spPr>
        <p:txBody>
          <a:bodyPr anchor="ctr"/>
          <a:lstStyle/>
          <a:p>
            <a:pPr algn="l">
              <a:defRPr sz="1425" b="0">
                <a:solidFill>
                  <a:srgbClr val="334B45"/>
                </a:solidFill>
              </a:defRPr>
            </a:pPr>
            <a:r>
              <a:rPr sz="2138">
                <a:solidFill>
                  <a:srgbClr val="334B45"/>
                </a:solidFill>
              </a:rPr>
              <a:t>注文確定時にFirebaseへリアルタイム保存</a:t>
            </a:r>
          </a:p>
        </p:txBody>
      </p:sp>
      <p:sp>
        <p:nvSpPr>
          <p:cNvPr id="50" name="feature-note-2">
            <a:extLst>
              <a:ext uri="{FF2B5EF4-FFF2-40B4-BE49-F238E27FC236}">
                <a16:creationId xmlns:a16="http://schemas.microsoft.com/office/drawing/2014/main" id="{34EC9814-34FC-7E67-1C22-F0D5856B24FD}"/>
              </a:ext>
            </a:extLst>
          </p:cNvPr>
          <p:cNvSpPr>
            <a:spLocks noGrp="1"/>
          </p:cNvSpPr>
          <p:nvPr/>
        </p:nvSpPr>
        <p:spPr>
          <a:xfrm>
            <a:off x="7015162" y="7178675"/>
            <a:ext cx="4257675" cy="885825"/>
          </a:xfrm>
          <a:prstGeom prst="rect">
            <a:avLst/>
          </a:prstGeom>
          <a:noFill/>
          <a:ln w="0">
            <a:noFill/>
            <a:prstDash val="solid"/>
          </a:ln>
        </p:spPr>
        <p:txBody>
          <a:bodyPr anchor="ctr"/>
          <a:lstStyle/>
          <a:p>
            <a:pPr algn="l">
              <a:defRPr sz="1200" b="0">
                <a:solidFill>
                  <a:srgbClr val="6B7B75"/>
                </a:solidFill>
              </a:defRPr>
            </a:pPr>
            <a:r>
              <a:rPr>
                <a:solidFill>
                  <a:srgbClr val="6B7B75"/>
                </a:solidFill>
              </a:rPr>
              <a:t>履歴を即時に保存・反映して確認できる</a:t>
            </a:r>
          </a:p>
        </p:txBody>
      </p:sp>
      <p:sp>
        <p:nvSpPr>
          <p:cNvPr id="52" name="feature-3">
            <a:extLst>
              <a:ext uri="{FF2B5EF4-FFF2-40B4-BE49-F238E27FC236}">
                <a16:creationId xmlns:a16="http://schemas.microsoft.com/office/drawing/2014/main" id="{42E9175A-FA58-09B7-3170-F085645E8EA4}"/>
              </a:ext>
            </a:extLst>
          </p:cNvPr>
          <p:cNvSpPr>
            <a:spLocks noGrp="1"/>
          </p:cNvSpPr>
          <p:nvPr/>
        </p:nvSpPr>
        <p:spPr>
          <a:xfrm>
            <a:off x="12072937" y="2892425"/>
            <a:ext cx="5057775" cy="5572125"/>
          </a:xfrm>
          <a:prstGeom prst="roundRect">
            <a:avLst>
              <a:gd name="adj" fmla="val 3390"/>
            </a:avLst>
          </a:prstGeom>
          <a:solidFill>
            <a:srgbClr val="FFFDF4"/>
          </a:solidFill>
          <a:ln w="19050">
            <a:solidFill>
              <a:srgbClr val="C9D7CF"/>
            </a:solidFill>
            <a:prstDash val="solid"/>
          </a:ln>
        </p:spPr>
        <p:txBody>
          <a:bodyPr/>
          <a:lstStyle/>
          <a:p>
            <a:endParaRPr lang="ja-JP" altLang="en-US" sz="2700"/>
          </a:p>
        </p:txBody>
      </p:sp>
      <p:sp>
        <p:nvSpPr>
          <p:cNvPr id="54" name="feature-band-3">
            <a:extLst>
              <a:ext uri="{FF2B5EF4-FFF2-40B4-BE49-F238E27FC236}">
                <a16:creationId xmlns:a16="http://schemas.microsoft.com/office/drawing/2014/main" id="{0A029D3D-5BA4-7A1B-F535-446B63FF80B6}"/>
              </a:ext>
            </a:extLst>
          </p:cNvPr>
          <p:cNvSpPr>
            <a:spLocks noGrp="1"/>
          </p:cNvSpPr>
          <p:nvPr/>
        </p:nvSpPr>
        <p:spPr>
          <a:xfrm>
            <a:off x="12072937" y="2892425"/>
            <a:ext cx="5057775" cy="1228725"/>
          </a:xfrm>
          <a:prstGeom prst="rect">
            <a:avLst/>
          </a:prstGeom>
          <a:solidFill>
            <a:srgbClr val="DCECE4"/>
          </a:solidFill>
          <a:ln w="0">
            <a:solidFill>
              <a:srgbClr val="DCECE4"/>
            </a:solidFill>
            <a:prstDash val="solid"/>
          </a:ln>
        </p:spPr>
        <p:txBody>
          <a:bodyPr/>
          <a:lstStyle/>
          <a:p>
            <a:endParaRPr lang="ja-JP" altLang="en-US" sz="2700"/>
          </a:p>
        </p:txBody>
      </p:sp>
      <p:sp>
        <p:nvSpPr>
          <p:cNvPr id="56" name="number-3">
            <a:extLst>
              <a:ext uri="{FF2B5EF4-FFF2-40B4-BE49-F238E27FC236}">
                <a16:creationId xmlns:a16="http://schemas.microsoft.com/office/drawing/2014/main" id="{7F998F38-7E25-98D7-F62E-4AE788393550}"/>
              </a:ext>
            </a:extLst>
          </p:cNvPr>
          <p:cNvSpPr>
            <a:spLocks noGrp="1"/>
          </p:cNvSpPr>
          <p:nvPr/>
        </p:nvSpPr>
        <p:spPr>
          <a:xfrm>
            <a:off x="12072937" y="3049588"/>
            <a:ext cx="5057775" cy="771525"/>
          </a:xfrm>
          <a:prstGeom prst="rect">
            <a:avLst/>
          </a:prstGeom>
          <a:noFill/>
          <a:ln w="0">
            <a:noFill/>
            <a:prstDash val="solid"/>
          </a:ln>
        </p:spPr>
        <p:txBody>
          <a:bodyPr anchor="ctr"/>
          <a:lstStyle/>
          <a:p>
            <a:pPr algn="ctr">
              <a:defRPr sz="2250" b="1">
                <a:solidFill>
                  <a:srgbClr val="173D38"/>
                </a:solidFill>
              </a:defRPr>
            </a:pPr>
            <a:r>
              <a:rPr sz="3375" b="1">
                <a:solidFill>
                  <a:srgbClr val="173D38"/>
                </a:solidFill>
              </a:rPr>
              <a:t>3</a:t>
            </a:r>
          </a:p>
        </p:txBody>
      </p:sp>
      <p:sp>
        <p:nvSpPr>
          <p:cNvPr id="58" name="feature-title-3">
            <a:extLst>
              <a:ext uri="{FF2B5EF4-FFF2-40B4-BE49-F238E27FC236}">
                <a16:creationId xmlns:a16="http://schemas.microsoft.com/office/drawing/2014/main" id="{ECC147B9-F3D0-73EC-D93F-933032DAD988}"/>
              </a:ext>
            </a:extLst>
          </p:cNvPr>
          <p:cNvSpPr>
            <a:spLocks noGrp="1"/>
          </p:cNvSpPr>
          <p:nvPr/>
        </p:nvSpPr>
        <p:spPr>
          <a:xfrm>
            <a:off x="12472987" y="4549775"/>
            <a:ext cx="4257675" cy="714375"/>
          </a:xfrm>
          <a:prstGeom prst="rect">
            <a:avLst/>
          </a:prstGeom>
          <a:noFill/>
          <a:ln w="0">
            <a:noFill/>
            <a:prstDash val="solid"/>
          </a:ln>
        </p:spPr>
        <p:txBody>
          <a:bodyPr anchor="ctr"/>
          <a:lstStyle/>
          <a:p>
            <a:pPr algn="l">
              <a:defRPr sz="2025" b="1">
                <a:solidFill>
                  <a:srgbClr val="173D38"/>
                </a:solidFill>
              </a:defRPr>
            </a:pPr>
            <a:r>
              <a:rPr sz="3038" b="1">
                <a:solidFill>
                  <a:srgbClr val="173D38"/>
                </a:solidFill>
              </a:rPr>
              <a:t>ペース記録通知</a:t>
            </a:r>
          </a:p>
        </p:txBody>
      </p:sp>
      <p:sp>
        <p:nvSpPr>
          <p:cNvPr id="60" name="feature-body-3">
            <a:extLst>
              <a:ext uri="{FF2B5EF4-FFF2-40B4-BE49-F238E27FC236}">
                <a16:creationId xmlns:a16="http://schemas.microsoft.com/office/drawing/2014/main" id="{F2FF672E-25A1-4D4D-CA5C-875DA50D5665}"/>
              </a:ext>
            </a:extLst>
          </p:cNvPr>
          <p:cNvSpPr>
            <a:spLocks noGrp="1"/>
          </p:cNvSpPr>
          <p:nvPr/>
        </p:nvSpPr>
        <p:spPr>
          <a:xfrm>
            <a:off x="12472987" y="5578475"/>
            <a:ext cx="4257675" cy="1228725"/>
          </a:xfrm>
          <a:prstGeom prst="rect">
            <a:avLst/>
          </a:prstGeom>
          <a:noFill/>
          <a:ln w="0">
            <a:noFill/>
            <a:prstDash val="solid"/>
          </a:ln>
        </p:spPr>
        <p:txBody>
          <a:bodyPr anchor="ctr"/>
          <a:lstStyle/>
          <a:p>
            <a:pPr algn="l">
              <a:defRPr sz="1425" b="0">
                <a:solidFill>
                  <a:srgbClr val="334B45"/>
                </a:solidFill>
              </a:defRPr>
            </a:pPr>
            <a:r>
              <a:rPr sz="2138">
                <a:solidFill>
                  <a:srgbClr val="334B45"/>
                </a:solidFill>
              </a:rPr>
              <a:t>飲酒ペースを記録し、飲み過ぎを通知</a:t>
            </a:r>
          </a:p>
        </p:txBody>
      </p:sp>
      <p:sp>
        <p:nvSpPr>
          <p:cNvPr id="62" name="feature-note-3">
            <a:extLst>
              <a:ext uri="{FF2B5EF4-FFF2-40B4-BE49-F238E27FC236}">
                <a16:creationId xmlns:a16="http://schemas.microsoft.com/office/drawing/2014/main" id="{D791293C-C17A-9F51-0DA0-6DBAE0A1E430}"/>
              </a:ext>
            </a:extLst>
          </p:cNvPr>
          <p:cNvSpPr>
            <a:spLocks noGrp="1"/>
          </p:cNvSpPr>
          <p:nvPr/>
        </p:nvSpPr>
        <p:spPr>
          <a:xfrm>
            <a:off x="12472987" y="7178675"/>
            <a:ext cx="4257675" cy="885825"/>
          </a:xfrm>
          <a:prstGeom prst="rect">
            <a:avLst/>
          </a:prstGeom>
          <a:noFill/>
          <a:ln w="0">
            <a:noFill/>
            <a:prstDash val="solid"/>
          </a:ln>
        </p:spPr>
        <p:txBody>
          <a:bodyPr anchor="ctr"/>
          <a:lstStyle/>
          <a:p>
            <a:pPr algn="l">
              <a:defRPr sz="1200" b="0">
                <a:solidFill>
                  <a:srgbClr val="6B7B75"/>
                </a:solidFill>
              </a:defRPr>
            </a:pPr>
            <a:r>
              <a:rPr>
                <a:solidFill>
                  <a:srgbClr val="6B7B75"/>
                </a:solidFill>
              </a:rPr>
              <a:t>経過時間と注文履歴からペースを見える化</a:t>
            </a:r>
          </a:p>
        </p:txBody>
      </p:sp>
      <p:sp>
        <p:nvSpPr>
          <p:cNvPr id="64" name="footer">
            <a:extLst>
              <a:ext uri="{FF2B5EF4-FFF2-40B4-BE49-F238E27FC236}">
                <a16:creationId xmlns:a16="http://schemas.microsoft.com/office/drawing/2014/main" id="{358F2891-5488-3E37-F5AD-D80178936170}"/>
              </a:ext>
            </a:extLst>
          </p:cNvPr>
          <p:cNvSpPr>
            <a:spLocks noGrp="1"/>
          </p:cNvSpPr>
          <p:nvPr/>
        </p:nvSpPr>
        <p:spPr>
          <a:xfrm>
            <a:off x="1157287" y="9121775"/>
            <a:ext cx="2857500" cy="342900"/>
          </a:xfrm>
          <a:prstGeom prst="rect">
            <a:avLst/>
          </a:prstGeom>
          <a:noFill/>
          <a:ln w="0">
            <a:noFill/>
            <a:prstDash val="solid"/>
          </a:ln>
        </p:spPr>
        <p:txBody>
          <a:bodyPr anchor="ctr"/>
          <a:lstStyle/>
          <a:p>
            <a:pPr algn="l">
              <a:defRPr sz="1050" b="1">
                <a:solidFill>
                  <a:srgbClr val="83918B"/>
                </a:solidFill>
              </a:defRPr>
            </a:pPr>
            <a:r>
              <a:rPr sz="1575" b="1">
                <a:solidFill>
                  <a:srgbClr val="83918B"/>
                </a:solidFill>
              </a:rPr>
              <a:t>SakeStop</a:t>
            </a:r>
          </a:p>
        </p:txBody>
      </p:sp>
    </p:spTree>
    <p:extLst>
      <p:ext uri="{BB962C8B-B14F-4D97-AF65-F5344CB8AC3E}">
        <p14:creationId xmlns:p14="http://schemas.microsoft.com/office/powerpoint/2010/main" val="708805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43EEB7A2-09A5-4443-A77A-42470FC1B7E4}"/>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txBody>
          <a:bodyPr/>
          <a:lstStyle/>
          <a:p>
            <a:endParaRPr/>
          </a:p>
        </p:txBody>
      </p:sp>
      <p:sp>
        <p:nvSpPr>
          <p:cNvPr id="5" name="Freeform 5">
            <a:extLst>
              <a:ext uri="{FF2B5EF4-FFF2-40B4-BE49-F238E27FC236}">
                <a16:creationId xmlns:a16="http://schemas.microsoft.com/office/drawing/2014/main" id="{78C1EB84-A46C-443B-A8AB-9403969DD841}"/>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txBody>
          <a:bodyPr/>
          <a:lstStyle/>
          <a:p>
            <a:endParaRPr/>
          </a:p>
        </p:txBody>
      </p:sp>
      <p:pic>
        <p:nvPicPr>
          <p:cNvPr id="9" name="図 8"/>
          <p:cNvPicPr>
            <a:picLocks noChangeAspect="1"/>
          </p:cNvPicPr>
          <p:nvPr/>
        </p:nvPicPr>
        <p:blipFill>
          <a:blip r:embed="rId3"/>
          <a:stretch/>
        </p:blipFill>
        <p:spPr>
          <a:xfrm>
            <a:off x="4607433" y="666750"/>
            <a:ext cx="9073039" cy="9073039"/>
          </a:xfrm>
          <a:prstGeom prst="rect">
            <a:avLst/>
          </a:prstGeom>
        </p:spPr>
      </p:pic>
    </p:spTree>
    <p:extLst>
      <p:ext uri="{BB962C8B-B14F-4D97-AF65-F5344CB8AC3E}">
        <p14:creationId xmlns:p14="http://schemas.microsoft.com/office/powerpoint/2010/main" val="449538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159020EE-9E89-4CD4-8141-1A2B5CBE468F}"/>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txBody>
          <a:bodyPr/>
          <a:lstStyle/>
          <a:p>
            <a:endParaRPr/>
          </a:p>
        </p:txBody>
      </p:sp>
      <p:sp>
        <p:nvSpPr>
          <p:cNvPr id="5" name="Freeform 5">
            <a:extLst>
              <a:ext uri="{FF2B5EF4-FFF2-40B4-BE49-F238E27FC236}">
                <a16:creationId xmlns:a16="http://schemas.microsoft.com/office/drawing/2014/main" id="{9CD3ABDB-3FA4-4B87-8934-66D3F6FCC9F4}"/>
              </a:ext>
            </a:extLst>
          </p:cNvPr>
          <p:cNvSpPr>
            <a:spLocks noGrp="1"/>
          </p:cNvSpPr>
          <p:nvPr/>
        </p:nvSpPr>
        <p:spPr>
          <a:xfrm>
            <a:off x="177108"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txBody>
          <a:bodyPr/>
          <a:lstStyle/>
          <a:p>
            <a:endParaRPr/>
          </a:p>
        </p:txBody>
      </p:sp>
      <p:sp>
        <p:nvSpPr>
          <p:cNvPr id="8" name="TextBox 8">
            <a:extLst>
              <a:ext uri="{FF2B5EF4-FFF2-40B4-BE49-F238E27FC236}">
                <a16:creationId xmlns:a16="http://schemas.microsoft.com/office/drawing/2014/main" id="{B186875E-200E-458F-8A79-3FC3295FA72A}"/>
              </a:ext>
            </a:extLst>
          </p:cNvPr>
          <p:cNvSpPr>
            <a:spLocks noGrp="1"/>
          </p:cNvSpPr>
          <p:nvPr/>
        </p:nvSpPr>
        <p:spPr>
          <a:xfrm>
            <a:off x="992238" y="2185987"/>
            <a:ext cx="16303523" cy="914552"/>
          </a:xfrm>
          <a:prstGeom prst="rect">
            <a:avLst/>
          </a:prstGeom>
        </p:spPr>
        <p:txBody>
          <a:bodyPr lIns="0" tIns="0" rIns="0" bIns="0" anchor="t">
            <a:spAutoFit/>
          </a:bodyPr>
          <a:lstStyle/>
          <a:p>
            <a:pPr algn="l">
              <a:lnSpc>
                <a:spcPts val="6864"/>
              </a:lnSpc>
              <a:buNone/>
            </a:pPr>
            <a:r>
              <a:rPr sz="5500" b="1">
                <a:solidFill>
                  <a:srgbClr val="233939"/>
                </a:solidFill>
                <a:latin typeface="Syne Bold"/>
                <a:ea typeface="Syne Bold"/>
                <a:cs typeface="Syne Bold"/>
              </a:rPr>
              <a:t>飲酒ペースの目安と注意表示</a:t>
            </a:r>
          </a:p>
        </p:txBody>
      </p:sp>
      <p:sp>
        <p:nvSpPr>
          <p:cNvPr id="9" name="TextBox 9">
            <a:extLst>
              <a:ext uri="{FF2B5EF4-FFF2-40B4-BE49-F238E27FC236}">
                <a16:creationId xmlns:a16="http://schemas.microsoft.com/office/drawing/2014/main" id="{05174D34-933A-4663-AECD-6BA0679DE046}"/>
              </a:ext>
            </a:extLst>
          </p:cNvPr>
          <p:cNvSpPr>
            <a:spLocks noGrp="1"/>
          </p:cNvSpPr>
          <p:nvPr/>
        </p:nvSpPr>
        <p:spPr>
          <a:xfrm>
            <a:off x="3588844" y="3952132"/>
            <a:ext cx="3398552" cy="960653"/>
          </a:xfrm>
          <a:prstGeom prst="rect">
            <a:avLst/>
          </a:prstGeom>
        </p:spPr>
        <p:txBody>
          <a:bodyPr wrap="square" lIns="0" tIns="0" rIns="0" bIns="0" anchor="t">
            <a:spAutoFit/>
          </a:bodyPr>
          <a:lstStyle/>
          <a:p>
            <a:pPr algn="ctr">
              <a:lnSpc>
                <a:spcPts val="7270"/>
              </a:lnSpc>
              <a:buNone/>
            </a:pPr>
            <a:r>
              <a:rPr sz="7300" b="1">
                <a:solidFill>
                  <a:srgbClr val="3B4E4E"/>
                </a:solidFill>
                <a:latin typeface="Syne Bold"/>
                <a:ea typeface="Syne Bold"/>
                <a:cs typeface="Syne Bold"/>
              </a:rPr>
              <a:t>６０ｇ</a:t>
            </a:r>
          </a:p>
        </p:txBody>
      </p:sp>
      <p:sp>
        <p:nvSpPr>
          <p:cNvPr id="10" name="TextBox 10">
            <a:extLst>
              <a:ext uri="{FF2B5EF4-FFF2-40B4-BE49-F238E27FC236}">
                <a16:creationId xmlns:a16="http://schemas.microsoft.com/office/drawing/2014/main" id="{454D51E4-C949-4492-96FB-B5159FAB70BA}"/>
              </a:ext>
            </a:extLst>
          </p:cNvPr>
          <p:cNvSpPr>
            <a:spLocks noGrp="1"/>
          </p:cNvSpPr>
          <p:nvPr/>
        </p:nvSpPr>
        <p:spPr>
          <a:xfrm>
            <a:off x="3779344" y="5080102"/>
            <a:ext cx="2475406" cy="421691"/>
          </a:xfrm>
          <a:prstGeom prst="rect">
            <a:avLst/>
          </a:prstGeom>
        </p:spPr>
        <p:txBody>
          <a:bodyPr wrap="square" lIns="0" tIns="0" rIns="0" bIns="0" anchor="t">
            <a:spAutoFit/>
          </a:bodyPr>
          <a:lstStyle/>
          <a:p>
            <a:pPr algn="ctr">
              <a:lnSpc>
                <a:spcPts val="3369"/>
              </a:lnSpc>
              <a:buNone/>
            </a:pPr>
            <a:r>
              <a:rPr sz="2700" b="1">
                <a:solidFill>
                  <a:srgbClr val="3B4E4E"/>
                </a:solidFill>
                <a:latin typeface="Syne Bold"/>
                <a:ea typeface="Syne Bold"/>
                <a:cs typeface="Syne Bold"/>
              </a:rPr>
              <a:t>注意表示の目安</a:t>
            </a:r>
          </a:p>
        </p:txBody>
      </p:sp>
      <p:sp>
        <p:nvSpPr>
          <p:cNvPr id="11" name="TextBox 11">
            <a:extLst>
              <a:ext uri="{FF2B5EF4-FFF2-40B4-BE49-F238E27FC236}">
                <a16:creationId xmlns:a16="http://schemas.microsoft.com/office/drawing/2014/main" id="{33540789-59B9-4710-9A1D-D5E08696C681}"/>
              </a:ext>
            </a:extLst>
          </p:cNvPr>
          <p:cNvSpPr>
            <a:spLocks noGrp="1"/>
          </p:cNvSpPr>
          <p:nvPr/>
        </p:nvSpPr>
        <p:spPr>
          <a:xfrm>
            <a:off x="992238" y="5626446"/>
            <a:ext cx="7974511" cy="539353"/>
          </a:xfrm>
          <a:prstGeom prst="rect">
            <a:avLst/>
          </a:prstGeom>
        </p:spPr>
        <p:txBody>
          <a:bodyPr lIns="0" tIns="0" rIns="0" bIns="0" anchor="t">
            <a:spAutoFit/>
          </a:bodyPr>
          <a:lstStyle/>
          <a:p>
            <a:pPr algn="ctr">
              <a:lnSpc>
                <a:spcPts val="3511"/>
              </a:lnSpc>
              <a:buNone/>
            </a:pPr>
            <a:r>
              <a:rPr sz="2200">
                <a:solidFill>
                  <a:srgbClr val="3B4E4E"/>
                </a:solidFill>
                <a:latin typeface="Overpass Light"/>
                <a:ea typeface="Overpass Light"/>
                <a:cs typeface="Overpass Light"/>
              </a:rPr>
              <a:t>直近30分の純アルコール量が60g以上で表示</a:t>
            </a:r>
          </a:p>
        </p:txBody>
      </p:sp>
      <p:sp>
        <p:nvSpPr>
          <p:cNvPr id="12" name="TextBox 12">
            <a:extLst>
              <a:ext uri="{FF2B5EF4-FFF2-40B4-BE49-F238E27FC236}">
                <a16:creationId xmlns:a16="http://schemas.microsoft.com/office/drawing/2014/main" id="{CFDF62B8-A2D7-490B-B7D9-9D7DB338DF5E}"/>
              </a:ext>
            </a:extLst>
          </p:cNvPr>
          <p:cNvSpPr>
            <a:spLocks noGrp="1"/>
          </p:cNvSpPr>
          <p:nvPr/>
        </p:nvSpPr>
        <p:spPr>
          <a:xfrm>
            <a:off x="11917784" y="3952132"/>
            <a:ext cx="3398551" cy="960653"/>
          </a:xfrm>
          <a:prstGeom prst="rect">
            <a:avLst/>
          </a:prstGeom>
        </p:spPr>
        <p:txBody>
          <a:bodyPr wrap="square" lIns="0" tIns="0" rIns="0" bIns="0" anchor="t">
            <a:spAutoFit/>
          </a:bodyPr>
          <a:lstStyle/>
          <a:p>
            <a:pPr algn="ctr">
              <a:lnSpc>
                <a:spcPts val="7270"/>
              </a:lnSpc>
              <a:buNone/>
            </a:pPr>
            <a:r>
              <a:rPr sz="7300" b="1">
                <a:solidFill>
                  <a:srgbClr val="3B4E4E"/>
                </a:solidFill>
                <a:latin typeface="Syne Bold"/>
                <a:ea typeface="Syne Bold"/>
                <a:cs typeface="Syne Bold"/>
              </a:rPr>
              <a:t>３０分</a:t>
            </a:r>
          </a:p>
        </p:txBody>
      </p:sp>
      <p:sp>
        <p:nvSpPr>
          <p:cNvPr id="13" name="TextBox 13">
            <a:extLst>
              <a:ext uri="{FF2B5EF4-FFF2-40B4-BE49-F238E27FC236}">
                <a16:creationId xmlns:a16="http://schemas.microsoft.com/office/drawing/2014/main" id="{C15462FB-D313-4A0C-AB7A-3689079201E9}"/>
              </a:ext>
            </a:extLst>
          </p:cNvPr>
          <p:cNvSpPr>
            <a:spLocks noGrp="1"/>
          </p:cNvSpPr>
          <p:nvPr/>
        </p:nvSpPr>
        <p:spPr>
          <a:xfrm>
            <a:off x="9321108" y="5080102"/>
            <a:ext cx="7974654" cy="461962"/>
          </a:xfrm>
          <a:prstGeom prst="rect">
            <a:avLst/>
          </a:prstGeom>
        </p:spPr>
        <p:txBody>
          <a:bodyPr lIns="0" tIns="0" rIns="0" bIns="0" anchor="t">
            <a:spAutoFit/>
          </a:bodyPr>
          <a:lstStyle/>
          <a:p>
            <a:pPr algn="ctr">
              <a:lnSpc>
                <a:spcPts val="3369"/>
              </a:lnSpc>
              <a:buNone/>
            </a:pPr>
            <a:r>
              <a:rPr sz="2700" b="1">
                <a:solidFill>
                  <a:srgbClr val="3B4E4E"/>
                </a:solidFill>
                <a:latin typeface="Syne Bold"/>
                <a:ea typeface="Syne Bold"/>
                <a:cs typeface="Syne Bold"/>
              </a:rPr>
              <a:t>通知間隔</a:t>
            </a:r>
          </a:p>
        </p:txBody>
      </p:sp>
      <p:sp>
        <p:nvSpPr>
          <p:cNvPr id="14" name="TextBox 14">
            <a:extLst>
              <a:ext uri="{FF2B5EF4-FFF2-40B4-BE49-F238E27FC236}">
                <a16:creationId xmlns:a16="http://schemas.microsoft.com/office/drawing/2014/main" id="{7D2E0D12-D671-40B1-B1CD-64EBDB21B410}"/>
              </a:ext>
            </a:extLst>
          </p:cNvPr>
          <p:cNvSpPr>
            <a:spLocks noGrp="1"/>
          </p:cNvSpPr>
          <p:nvPr/>
        </p:nvSpPr>
        <p:spPr>
          <a:xfrm>
            <a:off x="9321108" y="5626446"/>
            <a:ext cx="7974654" cy="539353"/>
          </a:xfrm>
          <a:prstGeom prst="rect">
            <a:avLst/>
          </a:prstGeom>
        </p:spPr>
        <p:txBody>
          <a:bodyPr lIns="0" tIns="0" rIns="0" bIns="0" anchor="t">
            <a:spAutoFit/>
          </a:bodyPr>
          <a:lstStyle/>
          <a:p>
            <a:pPr algn="ctr">
              <a:lnSpc>
                <a:spcPts val="3511"/>
              </a:lnSpc>
              <a:buNone/>
            </a:pPr>
            <a:r>
              <a:rPr sz="2200">
                <a:solidFill>
                  <a:srgbClr val="3B4E4E"/>
                </a:solidFill>
                <a:latin typeface="Overpass Light"/>
                <a:ea typeface="Overpass Light"/>
                <a:cs typeface="Overpass Light"/>
              </a:rPr>
              <a:t>同じ注意が連続表示されないよう間隔を設定</a:t>
            </a:r>
          </a:p>
        </p:txBody>
      </p:sp>
      <p:sp>
        <p:nvSpPr>
          <p:cNvPr id="16" name="Freeform 16">
            <a:extLst>
              <a:ext uri="{FF2B5EF4-FFF2-40B4-BE49-F238E27FC236}">
                <a16:creationId xmlns:a16="http://schemas.microsoft.com/office/drawing/2014/main" id="{B7EF63E0-7D34-41E2-B5FA-1CF7EA48EEF3}"/>
              </a:ext>
            </a:extLst>
          </p:cNvPr>
          <p:cNvSpPr>
            <a:spLocks noGrp="1"/>
          </p:cNvSpPr>
          <p:nvPr/>
        </p:nvSpPr>
        <p:spPr>
          <a:xfrm>
            <a:off x="992238" y="6484744"/>
            <a:ext cx="16303466" cy="1587532"/>
          </a:xfrm>
          <a:custGeom>
            <a:avLst/>
            <a:gdLst/>
            <a:ahLst/>
            <a:cxnLst/>
            <a:rect l="l" t="t" r="r" b="b"/>
            <a:pathLst>
              <a:path w="21737955" h="2116709">
                <a:moveTo>
                  <a:pt x="0" y="158750"/>
                </a:moveTo>
                <a:cubicBezTo>
                  <a:pt x="0" y="71120"/>
                  <a:pt x="71120" y="0"/>
                  <a:pt x="158750" y="0"/>
                </a:cubicBezTo>
                <a:lnTo>
                  <a:pt x="21579205" y="0"/>
                </a:lnTo>
                <a:cubicBezTo>
                  <a:pt x="21666836" y="0"/>
                  <a:pt x="21737955" y="71120"/>
                  <a:pt x="21737955" y="158750"/>
                </a:cubicBezTo>
                <a:lnTo>
                  <a:pt x="21737955" y="1957959"/>
                </a:lnTo>
                <a:cubicBezTo>
                  <a:pt x="21737955" y="2045589"/>
                  <a:pt x="21666836" y="2116709"/>
                  <a:pt x="21579205" y="2116709"/>
                </a:cubicBezTo>
                <a:lnTo>
                  <a:pt x="158750" y="2116709"/>
                </a:lnTo>
                <a:cubicBezTo>
                  <a:pt x="71120" y="2116709"/>
                  <a:pt x="0" y="2045589"/>
                  <a:pt x="0" y="1957959"/>
                </a:cubicBezTo>
                <a:close/>
              </a:path>
            </a:pathLst>
          </a:custGeom>
          <a:solidFill>
            <a:srgbClr val="DDEEE6"/>
          </a:solidFill>
        </p:spPr>
        <p:txBody>
          <a:bodyPr/>
          <a:lstStyle/>
          <a:p>
            <a:endParaRPr/>
          </a:p>
        </p:txBody>
      </p:sp>
      <p:sp>
        <p:nvSpPr>
          <p:cNvPr id="19" name="TextBox 19">
            <a:extLst>
              <a:ext uri="{FF2B5EF4-FFF2-40B4-BE49-F238E27FC236}">
                <a16:creationId xmlns:a16="http://schemas.microsoft.com/office/drawing/2014/main" id="{9EE083B7-66A8-41F1-8614-79EE8974773F}"/>
              </a:ext>
            </a:extLst>
          </p:cNvPr>
          <p:cNvSpPr>
            <a:spLocks noGrp="1"/>
          </p:cNvSpPr>
          <p:nvPr/>
        </p:nvSpPr>
        <p:spPr>
          <a:xfrm>
            <a:off x="1913630" y="6753377"/>
            <a:ext cx="15098611" cy="870110"/>
          </a:xfrm>
          <a:prstGeom prst="rect">
            <a:avLst/>
          </a:prstGeom>
        </p:spPr>
        <p:txBody>
          <a:bodyPr lIns="0" tIns="0" rIns="0" bIns="0" anchor="t">
            <a:spAutoFit/>
          </a:bodyPr>
          <a:lstStyle/>
          <a:p>
            <a:pPr algn="l">
              <a:lnSpc>
                <a:spcPts val="3511"/>
              </a:lnSpc>
              <a:buNone/>
            </a:pPr>
            <a:r>
              <a:rPr sz="2200">
                <a:solidFill>
                  <a:srgbClr val="000000"/>
                </a:solidFill>
                <a:latin typeface="Overpass Light"/>
                <a:ea typeface="Overpass Light"/>
                <a:cs typeface="Overpass Light"/>
              </a:rPr>
              <a:t>この数値は飲酒ペースを振り返るための目安です。</a:t>
            </a:r>
          </a:p>
          <a:p>
            <a:pPr algn="l">
              <a:lnSpc>
                <a:spcPts val="3511"/>
              </a:lnSpc>
              <a:buNone/>
            </a:pPr>
            <a:r>
              <a:rPr sz="2200">
                <a:solidFill>
                  <a:srgbClr val="000000"/>
                </a:solidFill>
                <a:latin typeface="Overpass Light"/>
                <a:ea typeface="Overpass Light"/>
                <a:cs typeface="Overpass Light"/>
              </a:rPr>
              <a:t>医療的な診断や、飲酒してよいかどうかを判断する機能ではありません。</a:t>
            </a:r>
          </a:p>
        </p:txBody>
      </p:sp>
      <p:sp>
        <p:nvSpPr>
          <p:cNvPr id="20" name="gamma-badge-cover">
            <a:extLst>
              <a:ext uri="{FF2B5EF4-FFF2-40B4-BE49-F238E27FC236}">
                <a16:creationId xmlns:a16="http://schemas.microsoft.com/office/drawing/2014/main" id="{FA199D1A-C1C2-4CFA-B604-ADB6025E5FD0}"/>
              </a:ext>
            </a:extLst>
          </p:cNvPr>
          <p:cNvSpPr>
            <a:spLocks noGrp="1"/>
          </p:cNvSpPr>
          <p:nvPr/>
        </p:nvSpPr>
        <p:spPr>
          <a:xfrm>
            <a:off x="15982950" y="9601200"/>
            <a:ext cx="2305050" cy="685800"/>
          </a:xfrm>
          <a:prstGeom prst="rect">
            <a:avLst/>
          </a:prstGeom>
          <a:solidFill>
            <a:srgbClr val="FFFDE6"/>
          </a:solidFill>
          <a:ln w="0">
            <a:noFill/>
            <a:prstDash val="solid"/>
          </a:ln>
        </p:spPr>
        <p:txBody>
          <a:bodyPr/>
          <a:lstStyle/>
          <a:p>
            <a:endParaRPr lang="ja-JP" altLang="en-US"/>
          </a:p>
        </p:txBody>
      </p:sp>
    </p:spTree>
    <p:extLst>
      <p:ext uri="{BB962C8B-B14F-4D97-AF65-F5344CB8AC3E}">
        <p14:creationId xmlns:p14="http://schemas.microsoft.com/office/powerpoint/2010/main" val="818100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C58682BD-A143-45FB-A7CE-067164DCD92B}"/>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txBody>
          <a:bodyPr/>
          <a:lstStyle/>
          <a:p>
            <a:endParaRPr/>
          </a:p>
        </p:txBody>
      </p:sp>
      <p:sp>
        <p:nvSpPr>
          <p:cNvPr id="5" name="Freeform 5">
            <a:extLst>
              <a:ext uri="{FF2B5EF4-FFF2-40B4-BE49-F238E27FC236}">
                <a16:creationId xmlns:a16="http://schemas.microsoft.com/office/drawing/2014/main" id="{CE8C43D0-3EC4-4150-9A59-83F2AE59BAED}"/>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txBody>
          <a:bodyPr/>
          <a:lstStyle/>
          <a:p>
            <a:endParaRPr/>
          </a:p>
        </p:txBody>
      </p:sp>
      <p:sp>
        <p:nvSpPr>
          <p:cNvPr id="8" name="TextBox 8">
            <a:extLst>
              <a:ext uri="{FF2B5EF4-FFF2-40B4-BE49-F238E27FC236}">
                <a16:creationId xmlns:a16="http://schemas.microsoft.com/office/drawing/2014/main" id="{CE2F9C40-2B47-4A72-891E-491E737069C1}"/>
              </a:ext>
            </a:extLst>
          </p:cNvPr>
          <p:cNvSpPr>
            <a:spLocks noGrp="1"/>
          </p:cNvSpPr>
          <p:nvPr/>
        </p:nvSpPr>
        <p:spPr>
          <a:xfrm>
            <a:off x="992238" y="1160269"/>
            <a:ext cx="16303523" cy="914552"/>
          </a:xfrm>
          <a:prstGeom prst="rect">
            <a:avLst/>
          </a:prstGeom>
        </p:spPr>
        <p:txBody>
          <a:bodyPr lIns="0" tIns="0" rIns="0" bIns="0" anchor="t">
            <a:spAutoFit/>
          </a:bodyPr>
          <a:lstStyle/>
          <a:p>
            <a:pPr algn="l">
              <a:lnSpc>
                <a:spcPts val="6864"/>
              </a:lnSpc>
              <a:buNone/>
            </a:pPr>
            <a:r>
              <a:rPr sz="5500" b="1">
                <a:solidFill>
                  <a:srgbClr val="233939"/>
                </a:solidFill>
                <a:latin typeface="Syne Bold"/>
                <a:ea typeface="Syne Bold"/>
                <a:cs typeface="Syne Bold"/>
              </a:rPr>
              <a:t>開発環境とスケジュール</a:t>
            </a:r>
          </a:p>
        </p:txBody>
      </p:sp>
      <p:sp>
        <p:nvSpPr>
          <p:cNvPr id="10" name="Freeform 10">
            <a:extLst>
              <a:ext uri="{FF2B5EF4-FFF2-40B4-BE49-F238E27FC236}">
                <a16:creationId xmlns:a16="http://schemas.microsoft.com/office/drawing/2014/main" id="{3D0F4E80-C724-4C45-B401-E87AB865DDA0}"/>
              </a:ext>
            </a:extLst>
          </p:cNvPr>
          <p:cNvSpPr>
            <a:spLocks noGrp="1"/>
          </p:cNvSpPr>
          <p:nvPr/>
        </p:nvSpPr>
        <p:spPr>
          <a:xfrm>
            <a:off x="992238" y="2974924"/>
            <a:ext cx="10355199" cy="5648134"/>
          </a:xfrm>
          <a:custGeom>
            <a:avLst/>
            <a:gdLst/>
            <a:ahLst/>
            <a:cxnLst/>
            <a:rect l="l" t="t" r="r" b="b"/>
            <a:pathLst>
              <a:path w="13806932" h="7530846">
                <a:moveTo>
                  <a:pt x="0" y="0"/>
                </a:moveTo>
                <a:lnTo>
                  <a:pt x="13806932" y="0"/>
                </a:lnTo>
                <a:lnTo>
                  <a:pt x="13806932" y="7530846"/>
                </a:lnTo>
                <a:lnTo>
                  <a:pt x="0" y="7530846"/>
                </a:lnTo>
                <a:lnTo>
                  <a:pt x="0" y="0"/>
                </a:lnTo>
                <a:close/>
              </a:path>
            </a:pathLst>
          </a:custGeom>
          <a:blipFill>
            <a:blip r:embed="rId3"/>
            <a:stretch>
              <a:fillRect l="-37" r="-37"/>
            </a:stretch>
          </a:blipFill>
        </p:spPr>
        <p:txBody>
          <a:bodyPr/>
          <a:lstStyle/>
          <a:p>
            <a:endParaRPr/>
          </a:p>
        </p:txBody>
      </p:sp>
      <p:sp>
        <p:nvSpPr>
          <p:cNvPr id="11" name="TextBox 11">
            <a:extLst>
              <a:ext uri="{FF2B5EF4-FFF2-40B4-BE49-F238E27FC236}">
                <a16:creationId xmlns:a16="http://schemas.microsoft.com/office/drawing/2014/main" id="{2999EC31-765E-4ED3-9B32-30A86DA23901}"/>
              </a:ext>
            </a:extLst>
          </p:cNvPr>
          <p:cNvSpPr>
            <a:spLocks noGrp="1"/>
          </p:cNvSpPr>
          <p:nvPr/>
        </p:nvSpPr>
        <p:spPr>
          <a:xfrm>
            <a:off x="12048677" y="2764479"/>
            <a:ext cx="5256457" cy="461962"/>
          </a:xfrm>
          <a:prstGeom prst="rect">
            <a:avLst/>
          </a:prstGeom>
        </p:spPr>
        <p:txBody>
          <a:bodyPr lIns="0" tIns="0" rIns="0" bIns="0" anchor="t">
            <a:spAutoFit/>
          </a:bodyPr>
          <a:lstStyle/>
          <a:p>
            <a:pPr algn="l">
              <a:lnSpc>
                <a:spcPts val="3369"/>
              </a:lnSpc>
              <a:buNone/>
            </a:pPr>
            <a:r>
              <a:rPr sz="2700" b="1">
                <a:solidFill>
                  <a:srgbClr val="233939"/>
                </a:solidFill>
                <a:latin typeface="Syne Bold"/>
                <a:ea typeface="Syne Bold"/>
                <a:cs typeface="Syne Bold"/>
              </a:rPr>
              <a:t>開発環境</a:t>
            </a:r>
          </a:p>
        </p:txBody>
      </p:sp>
      <p:sp>
        <p:nvSpPr>
          <p:cNvPr id="12" name="TextBox 12">
            <a:extLst>
              <a:ext uri="{FF2B5EF4-FFF2-40B4-BE49-F238E27FC236}">
                <a16:creationId xmlns:a16="http://schemas.microsoft.com/office/drawing/2014/main" id="{7BB15EB8-A28B-4F66-B7AF-FCE82F7F8E85}"/>
              </a:ext>
            </a:extLst>
          </p:cNvPr>
          <p:cNvSpPr>
            <a:spLocks noGrp="1"/>
          </p:cNvSpPr>
          <p:nvPr/>
        </p:nvSpPr>
        <p:spPr>
          <a:xfrm>
            <a:off x="12048677" y="3424237"/>
            <a:ext cx="5256457" cy="1644853"/>
          </a:xfrm>
          <a:prstGeom prst="rect">
            <a:avLst/>
          </a:prstGeom>
        </p:spPr>
        <p:txBody>
          <a:bodyPr lIns="0" tIns="0" rIns="0" bIns="0" anchor="t">
            <a:spAutoFit/>
          </a:bodyPr>
          <a:lstStyle/>
          <a:p>
            <a:pPr marL="530860" indent="-265430" algn="l">
              <a:lnSpc>
                <a:spcPts val="3511"/>
              </a:lnSpc>
              <a:buChar char="•"/>
            </a:pPr>
            <a:r>
              <a:rPr sz="2200">
                <a:solidFill>
                  <a:srgbClr val="3B4E4E"/>
                </a:solidFill>
                <a:latin typeface="Overpass Light"/>
                <a:ea typeface="Overpass Light"/>
                <a:cs typeface="Overpass Light"/>
              </a:rPr>
              <a:t>Flutter 3.35.7 (stable) / Dart 3.9.2</a:t>
            </a:r>
          </a:p>
          <a:p>
            <a:pPr marL="530860" indent="-265430" algn="l">
              <a:lnSpc>
                <a:spcPts val="3511"/>
              </a:lnSpc>
              <a:buChar char="•"/>
            </a:pPr>
            <a:r>
              <a:rPr sz="2200">
                <a:solidFill>
                  <a:srgbClr val="3B4E4E"/>
                </a:solidFill>
                <a:latin typeface="Overpass Light"/>
                <a:ea typeface="Overpass Light"/>
                <a:cs typeface="Overpass Light"/>
              </a:rPr>
              <a:t>Firebase Realtime Database</a:t>
            </a:r>
          </a:p>
          <a:p>
            <a:pPr marL="530860" indent="-265430" algn="l">
              <a:lnSpc>
                <a:spcPts val="3511"/>
              </a:lnSpc>
              <a:buChar char="•"/>
            </a:pPr>
            <a:r>
              <a:rPr sz="2200">
                <a:solidFill>
                  <a:srgbClr val="3B4E4E"/>
                </a:solidFill>
                <a:latin typeface="Overpass Light"/>
                <a:ea typeface="Overpass Light"/>
                <a:cs typeface="Overpass Light"/>
              </a:rPr>
              <a:t>Gitで変更履歴を管理</a:t>
            </a:r>
          </a:p>
        </p:txBody>
      </p:sp>
      <p:sp>
        <p:nvSpPr>
          <p:cNvPr id="13" name="TextBox 13">
            <a:extLst>
              <a:ext uri="{FF2B5EF4-FFF2-40B4-BE49-F238E27FC236}">
                <a16:creationId xmlns:a16="http://schemas.microsoft.com/office/drawing/2014/main" id="{DC5DD34B-08A5-464D-8E4B-7ADD5E0789A8}"/>
              </a:ext>
            </a:extLst>
          </p:cNvPr>
          <p:cNvSpPr>
            <a:spLocks noGrp="1"/>
          </p:cNvSpPr>
          <p:nvPr/>
        </p:nvSpPr>
        <p:spPr>
          <a:xfrm>
            <a:off x="12048677" y="5333552"/>
            <a:ext cx="5256457" cy="461962"/>
          </a:xfrm>
          <a:prstGeom prst="rect">
            <a:avLst/>
          </a:prstGeom>
        </p:spPr>
        <p:txBody>
          <a:bodyPr lIns="0" tIns="0" rIns="0" bIns="0" anchor="t">
            <a:spAutoFit/>
          </a:bodyPr>
          <a:lstStyle/>
          <a:p>
            <a:pPr algn="l">
              <a:lnSpc>
                <a:spcPts val="3369"/>
              </a:lnSpc>
              <a:buNone/>
            </a:pPr>
            <a:r>
              <a:rPr sz="2700" b="1">
                <a:solidFill>
                  <a:srgbClr val="233939"/>
                </a:solidFill>
                <a:latin typeface="Syne Bold"/>
                <a:ea typeface="Syne Bold"/>
                <a:cs typeface="Syne Bold"/>
              </a:rPr>
              <a:t>スケジュール（5月〜7月）</a:t>
            </a:r>
          </a:p>
        </p:txBody>
      </p:sp>
      <p:sp>
        <p:nvSpPr>
          <p:cNvPr id="14" name="TextBox 14">
            <a:extLst>
              <a:ext uri="{FF2B5EF4-FFF2-40B4-BE49-F238E27FC236}">
                <a16:creationId xmlns:a16="http://schemas.microsoft.com/office/drawing/2014/main" id="{4B714D20-46EA-4A9E-A70B-8A6D75E057E0}"/>
              </a:ext>
            </a:extLst>
          </p:cNvPr>
          <p:cNvSpPr>
            <a:spLocks noGrp="1"/>
          </p:cNvSpPr>
          <p:nvPr/>
        </p:nvSpPr>
        <p:spPr>
          <a:xfrm>
            <a:off x="12048677" y="5993311"/>
            <a:ext cx="5256457" cy="2165833"/>
          </a:xfrm>
          <a:prstGeom prst="rect">
            <a:avLst/>
          </a:prstGeom>
        </p:spPr>
        <p:txBody>
          <a:bodyPr lIns="0" tIns="0" rIns="0" bIns="0" anchor="t">
            <a:spAutoFit/>
          </a:bodyPr>
          <a:lstStyle/>
          <a:p>
            <a:pPr marL="530860" indent="-265430" algn="l">
              <a:lnSpc>
                <a:spcPts val="3511"/>
              </a:lnSpc>
              <a:buChar char="•"/>
            </a:pPr>
            <a:r>
              <a:rPr sz="2200" b="1" dirty="0">
                <a:solidFill>
                  <a:srgbClr val="3B4E4E"/>
                </a:solidFill>
                <a:latin typeface="Overpass Bold"/>
                <a:ea typeface="Overpass Bold"/>
                <a:cs typeface="Overpass Bold"/>
              </a:rPr>
              <a:t>5月</a:t>
            </a:r>
            <a:r>
              <a:rPr sz="2200" dirty="0">
                <a:solidFill>
                  <a:srgbClr val="3B4E4E"/>
                </a:solidFill>
                <a:latin typeface="Overpass Light"/>
                <a:ea typeface="Overpass Light"/>
                <a:cs typeface="Overpass Light"/>
              </a:rPr>
              <a:t>：タップカウント型から注文アプリへ方向転換・仕様整理</a:t>
            </a:r>
          </a:p>
          <a:p>
            <a:pPr marL="530860" indent="-265430" algn="l">
              <a:lnSpc>
                <a:spcPts val="3511"/>
              </a:lnSpc>
              <a:buChar char="•"/>
            </a:pPr>
            <a:r>
              <a:rPr sz="2200" b="1" dirty="0">
                <a:solidFill>
                  <a:srgbClr val="3B4E4E"/>
                </a:solidFill>
                <a:latin typeface="Overpass Bold"/>
                <a:ea typeface="Overpass Bold"/>
                <a:cs typeface="Overpass Bold"/>
              </a:rPr>
              <a:t>6月</a:t>
            </a:r>
            <a:r>
              <a:rPr sz="2200" dirty="0">
                <a:solidFill>
                  <a:srgbClr val="3B4E4E"/>
                </a:solidFill>
                <a:latin typeface="Overpass Light"/>
                <a:ea typeface="Overpass Light"/>
                <a:cs typeface="Overpass Light"/>
              </a:rPr>
              <a:t>：Firebase連携・カート機能・注文履歴・飲酒ペース判定を実装</a:t>
            </a:r>
          </a:p>
          <a:p>
            <a:pPr marL="530860" indent="-265430" algn="l">
              <a:lnSpc>
                <a:spcPts val="3511"/>
              </a:lnSpc>
              <a:buChar char="•"/>
            </a:pPr>
            <a:r>
              <a:rPr sz="2200" b="1" dirty="0">
                <a:solidFill>
                  <a:srgbClr val="3B4E4E"/>
                </a:solidFill>
                <a:latin typeface="Overpass Bold"/>
                <a:ea typeface="Overpass Bold"/>
                <a:cs typeface="Overpass Bold"/>
              </a:rPr>
              <a:t>7月</a:t>
            </a:r>
            <a:r>
              <a:rPr sz="2200" dirty="0">
                <a:solidFill>
                  <a:srgbClr val="3B4E4E"/>
                </a:solidFill>
                <a:latin typeface="Overpass Light"/>
                <a:ea typeface="Overpass Light"/>
                <a:cs typeface="Overpass Light"/>
              </a:rPr>
              <a:t>：UI調整・不要な機能を削除</a:t>
            </a:r>
          </a:p>
        </p:txBody>
      </p:sp>
      <p:sp>
        <p:nvSpPr>
          <p:cNvPr id="15" name="gamma-badge-cover">
            <a:extLst>
              <a:ext uri="{FF2B5EF4-FFF2-40B4-BE49-F238E27FC236}">
                <a16:creationId xmlns:a16="http://schemas.microsoft.com/office/drawing/2014/main" id="{F748A986-6A55-403A-8125-C01DEA5CFFDD}"/>
              </a:ext>
            </a:extLst>
          </p:cNvPr>
          <p:cNvSpPr>
            <a:spLocks noGrp="1"/>
          </p:cNvSpPr>
          <p:nvPr/>
        </p:nvSpPr>
        <p:spPr>
          <a:xfrm>
            <a:off x="15982950" y="9601200"/>
            <a:ext cx="2305050" cy="685800"/>
          </a:xfrm>
          <a:prstGeom prst="rect">
            <a:avLst/>
          </a:prstGeom>
          <a:solidFill>
            <a:srgbClr val="FFFDE6"/>
          </a:solidFill>
          <a:ln w="0">
            <a:noFill/>
            <a:prstDash val="solid"/>
          </a:ln>
        </p:spPr>
        <p:txBody>
          <a:bodyPr/>
          <a:lstStyle/>
          <a:p>
            <a:endParaRPr lang="ja-JP" altLang="en-US"/>
          </a:p>
        </p:txBody>
      </p:sp>
    </p:spTree>
    <p:extLst>
      <p:ext uri="{BB962C8B-B14F-4D97-AF65-F5344CB8AC3E}">
        <p14:creationId xmlns:p14="http://schemas.microsoft.com/office/powerpoint/2010/main" val="445644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07EFD2DE-32BB-40E2-9994-561C063F10AA}"/>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txBody>
          <a:bodyPr/>
          <a:lstStyle/>
          <a:p>
            <a:endParaRPr/>
          </a:p>
        </p:txBody>
      </p:sp>
      <p:sp>
        <p:nvSpPr>
          <p:cNvPr id="5" name="Freeform 5">
            <a:extLst>
              <a:ext uri="{FF2B5EF4-FFF2-40B4-BE49-F238E27FC236}">
                <a16:creationId xmlns:a16="http://schemas.microsoft.com/office/drawing/2014/main" id="{0D9904F8-0102-4B91-BF57-E98C6330E15B}"/>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txBody>
          <a:bodyPr/>
          <a:lstStyle/>
          <a:p>
            <a:endParaRPr/>
          </a:p>
        </p:txBody>
      </p:sp>
      <p:sp>
        <p:nvSpPr>
          <p:cNvPr id="6" name="TextBox 6">
            <a:extLst>
              <a:ext uri="{FF2B5EF4-FFF2-40B4-BE49-F238E27FC236}">
                <a16:creationId xmlns:a16="http://schemas.microsoft.com/office/drawing/2014/main" id="{8BDE3B26-7186-4F5E-B24A-5DA0CFF8B295}"/>
              </a:ext>
            </a:extLst>
          </p:cNvPr>
          <p:cNvSpPr>
            <a:spLocks noGrp="1"/>
          </p:cNvSpPr>
          <p:nvPr/>
        </p:nvSpPr>
        <p:spPr>
          <a:xfrm>
            <a:off x="992238" y="2117084"/>
            <a:ext cx="16303523" cy="914552"/>
          </a:xfrm>
          <a:prstGeom prst="rect">
            <a:avLst/>
          </a:prstGeom>
        </p:spPr>
        <p:txBody>
          <a:bodyPr lIns="0" tIns="0" rIns="0" bIns="0" anchor="t">
            <a:spAutoFit/>
          </a:bodyPr>
          <a:lstStyle/>
          <a:p>
            <a:pPr algn="l">
              <a:lnSpc>
                <a:spcPts val="6864"/>
              </a:lnSpc>
              <a:buNone/>
            </a:pPr>
            <a:r>
              <a:rPr sz="5500" b="1">
                <a:solidFill>
                  <a:srgbClr val="233939"/>
                </a:solidFill>
                <a:latin typeface="Syne Bold"/>
                <a:ea typeface="Syne Bold"/>
                <a:cs typeface="Syne Bold"/>
              </a:rPr>
              <a:t>テストとAIの活用</a:t>
            </a:r>
          </a:p>
        </p:txBody>
      </p:sp>
      <p:sp>
        <p:nvSpPr>
          <p:cNvPr id="7" name="TextBox 7">
            <a:extLst>
              <a:ext uri="{FF2B5EF4-FFF2-40B4-BE49-F238E27FC236}">
                <a16:creationId xmlns:a16="http://schemas.microsoft.com/office/drawing/2014/main" id="{23131802-B802-4C6F-A597-79CE01704BA9}"/>
              </a:ext>
            </a:extLst>
          </p:cNvPr>
          <p:cNvSpPr>
            <a:spLocks noGrp="1"/>
          </p:cNvSpPr>
          <p:nvPr/>
        </p:nvSpPr>
        <p:spPr>
          <a:xfrm>
            <a:off x="992238" y="3721294"/>
            <a:ext cx="7805890" cy="461962"/>
          </a:xfrm>
          <a:prstGeom prst="rect">
            <a:avLst/>
          </a:prstGeom>
        </p:spPr>
        <p:txBody>
          <a:bodyPr lIns="0" tIns="0" rIns="0" bIns="0" anchor="t">
            <a:spAutoFit/>
          </a:bodyPr>
          <a:lstStyle/>
          <a:p>
            <a:pPr algn="l">
              <a:lnSpc>
                <a:spcPts val="3369"/>
              </a:lnSpc>
              <a:buNone/>
            </a:pPr>
            <a:r>
              <a:rPr sz="2700" b="1">
                <a:solidFill>
                  <a:srgbClr val="233939"/>
                </a:solidFill>
                <a:latin typeface="Syne Bold"/>
                <a:ea typeface="Syne Bold"/>
                <a:cs typeface="Syne Bold"/>
              </a:rPr>
              <a:t>テスト内容</a:t>
            </a:r>
          </a:p>
        </p:txBody>
      </p:sp>
      <p:sp>
        <p:nvSpPr>
          <p:cNvPr id="8" name="TextBox 8">
            <a:extLst>
              <a:ext uri="{FF2B5EF4-FFF2-40B4-BE49-F238E27FC236}">
                <a16:creationId xmlns:a16="http://schemas.microsoft.com/office/drawing/2014/main" id="{999283BB-4826-4A99-9EA9-8C60B4B4DE05}"/>
              </a:ext>
            </a:extLst>
          </p:cNvPr>
          <p:cNvSpPr>
            <a:spLocks noGrp="1"/>
          </p:cNvSpPr>
          <p:nvPr/>
        </p:nvSpPr>
        <p:spPr>
          <a:xfrm>
            <a:off x="769298" y="4381052"/>
            <a:ext cx="8730108" cy="1783588"/>
          </a:xfrm>
          <a:prstGeom prst="rect">
            <a:avLst/>
          </a:prstGeom>
        </p:spPr>
        <p:txBody>
          <a:bodyPr lIns="0" tIns="0" rIns="0" bIns="0" anchor="t">
            <a:spAutoFit/>
          </a:bodyPr>
          <a:lstStyle/>
          <a:p>
            <a:pPr marL="530860" indent="-265430" algn="l">
              <a:lnSpc>
                <a:spcPts val="3511"/>
              </a:lnSpc>
              <a:buChar char="•"/>
            </a:pPr>
            <a:r>
              <a:rPr sz="2200" b="1" dirty="0" err="1">
                <a:solidFill>
                  <a:srgbClr val="3B4E4E"/>
                </a:solidFill>
                <a:latin typeface="Overpass Bold"/>
                <a:ea typeface="Overpass Bold"/>
                <a:cs typeface="Overpass Bold"/>
              </a:rPr>
              <a:t>静的解析</a:t>
            </a:r>
            <a:r>
              <a:rPr sz="2200" dirty="0" err="1">
                <a:solidFill>
                  <a:srgbClr val="3B4E4E"/>
                </a:solidFill>
                <a:latin typeface="Overpass Light"/>
                <a:ea typeface="Overpass Light"/>
                <a:cs typeface="Overpass Light"/>
              </a:rPr>
              <a:t>：flutter</a:t>
            </a:r>
            <a:r>
              <a:rPr sz="2200" dirty="0">
                <a:solidFill>
                  <a:srgbClr val="3B4E4E"/>
                </a:solidFill>
                <a:latin typeface="Overpass Light"/>
                <a:ea typeface="Overpass Light"/>
                <a:cs typeface="Overpass Light"/>
              </a:rPr>
              <a:t> </a:t>
            </a:r>
            <a:r>
              <a:rPr sz="2200" dirty="0" err="1">
                <a:solidFill>
                  <a:srgbClr val="3B4E4E"/>
                </a:solidFill>
                <a:latin typeface="Overpass Light"/>
                <a:ea typeface="Overpass Light"/>
                <a:cs typeface="Overpass Light"/>
              </a:rPr>
              <a:t>analyzeで問題</a:t>
            </a:r>
            <a:r>
              <a:rPr lang="ja-JP" altLang="en-US" sz="2200" dirty="0">
                <a:solidFill>
                  <a:srgbClr val="3B4E4E"/>
                </a:solidFill>
                <a:latin typeface="Overpass Light"/>
                <a:ea typeface="Overpass Light"/>
                <a:cs typeface="Overpass Light"/>
              </a:rPr>
              <a:t>がないか</a:t>
            </a:r>
            <a:r>
              <a:rPr sz="2200" dirty="0" err="1">
                <a:solidFill>
                  <a:srgbClr val="3B4E4E"/>
                </a:solidFill>
                <a:latin typeface="Overpass Light"/>
                <a:ea typeface="Overpass Light"/>
                <a:cs typeface="Overpass Light"/>
              </a:rPr>
              <a:t>確認</a:t>
            </a:r>
            <a:endParaRPr sz="2200" dirty="0">
              <a:solidFill>
                <a:srgbClr val="3B4E4E"/>
              </a:solidFill>
              <a:latin typeface="Overpass Light"/>
              <a:ea typeface="Overpass Light"/>
              <a:cs typeface="Overpass Light"/>
            </a:endParaRPr>
          </a:p>
          <a:p>
            <a:pPr marL="530860" indent="-265430" algn="l">
              <a:lnSpc>
                <a:spcPts val="3511"/>
              </a:lnSpc>
              <a:buChar char="•"/>
            </a:pPr>
            <a:r>
              <a:rPr sz="2200" b="1" dirty="0">
                <a:solidFill>
                  <a:srgbClr val="3B4E4E"/>
                </a:solidFill>
                <a:latin typeface="Overpass Bold"/>
                <a:ea typeface="Overpass Bold"/>
                <a:cs typeface="Overpass Bold"/>
              </a:rPr>
              <a:t>単体テスト</a:t>
            </a:r>
            <a:r>
              <a:rPr sz="2200" dirty="0">
                <a:solidFill>
                  <a:srgbClr val="3B4E4E"/>
                </a:solidFill>
                <a:latin typeface="Overpass Light"/>
                <a:ea typeface="Overpass Light"/>
                <a:cs typeface="Overpass Light"/>
              </a:rPr>
              <a:t>：純アルコール量・30分集計・60g境界・通知間隔・テーブルID入力規則</a:t>
            </a:r>
          </a:p>
          <a:p>
            <a:pPr marL="530860" indent="-265430" algn="l">
              <a:lnSpc>
                <a:spcPts val="3511"/>
              </a:lnSpc>
              <a:buChar char="•"/>
            </a:pPr>
            <a:r>
              <a:rPr sz="2200" b="1" dirty="0" err="1">
                <a:solidFill>
                  <a:srgbClr val="3B4E4E"/>
                </a:solidFill>
                <a:latin typeface="Overpass Bold"/>
                <a:ea typeface="Overpass Bold"/>
                <a:cs typeface="Overpass Bold"/>
              </a:rPr>
              <a:t>Widgetテスト</a:t>
            </a:r>
            <a:r>
              <a:rPr sz="2200" dirty="0" err="1">
                <a:solidFill>
                  <a:srgbClr val="3B4E4E"/>
                </a:solidFill>
                <a:latin typeface="Overpass Light"/>
                <a:ea typeface="Overpass Light"/>
                <a:cs typeface="Overpass Light"/>
              </a:rPr>
              <a:t>：テーブルID→ニックネーム画面の遷移フロ</a:t>
            </a:r>
            <a:r>
              <a:rPr sz="2200" dirty="0">
                <a:solidFill>
                  <a:srgbClr val="3B4E4E"/>
                </a:solidFill>
                <a:latin typeface="Overpass Light"/>
                <a:ea typeface="Overpass Light"/>
                <a:cs typeface="Overpass Light"/>
              </a:rPr>
              <a:t>ー</a:t>
            </a:r>
          </a:p>
        </p:txBody>
      </p:sp>
      <p:sp>
        <p:nvSpPr>
          <p:cNvPr id="9" name="TextBox 9">
            <a:extLst>
              <a:ext uri="{FF2B5EF4-FFF2-40B4-BE49-F238E27FC236}">
                <a16:creationId xmlns:a16="http://schemas.microsoft.com/office/drawing/2014/main" id="{B5F18842-8621-4EE5-BB92-7D3ECD02CBFA}"/>
              </a:ext>
            </a:extLst>
          </p:cNvPr>
          <p:cNvSpPr>
            <a:spLocks noGrp="1"/>
          </p:cNvSpPr>
          <p:nvPr/>
        </p:nvSpPr>
        <p:spPr>
          <a:xfrm>
            <a:off x="9499406" y="3721294"/>
            <a:ext cx="7805890" cy="461962"/>
          </a:xfrm>
          <a:prstGeom prst="rect">
            <a:avLst/>
          </a:prstGeom>
        </p:spPr>
        <p:txBody>
          <a:bodyPr lIns="0" tIns="0" rIns="0" bIns="0" anchor="t">
            <a:spAutoFit/>
          </a:bodyPr>
          <a:lstStyle/>
          <a:p>
            <a:pPr algn="l">
              <a:lnSpc>
                <a:spcPts val="3369"/>
              </a:lnSpc>
              <a:buNone/>
            </a:pPr>
            <a:r>
              <a:rPr sz="2700" b="1">
                <a:solidFill>
                  <a:srgbClr val="233939"/>
                </a:solidFill>
                <a:latin typeface="Syne Bold"/>
                <a:ea typeface="Syne Bold"/>
                <a:cs typeface="Syne Bold"/>
              </a:rPr>
              <a:t>AIの活用範囲</a:t>
            </a:r>
          </a:p>
        </p:txBody>
      </p:sp>
      <p:sp>
        <p:nvSpPr>
          <p:cNvPr id="10" name="TextBox 10">
            <a:extLst>
              <a:ext uri="{FF2B5EF4-FFF2-40B4-BE49-F238E27FC236}">
                <a16:creationId xmlns:a16="http://schemas.microsoft.com/office/drawing/2014/main" id="{E41888E4-E065-4953-B53C-A6E654894140}"/>
              </a:ext>
            </a:extLst>
          </p:cNvPr>
          <p:cNvSpPr>
            <a:spLocks noGrp="1"/>
          </p:cNvSpPr>
          <p:nvPr/>
        </p:nvSpPr>
        <p:spPr>
          <a:xfrm>
            <a:off x="9499406" y="4381052"/>
            <a:ext cx="7805890" cy="1783588"/>
          </a:xfrm>
          <a:prstGeom prst="rect">
            <a:avLst/>
          </a:prstGeom>
        </p:spPr>
        <p:txBody>
          <a:bodyPr lIns="0" tIns="0" rIns="0" bIns="0" anchor="t">
            <a:spAutoFit/>
          </a:bodyPr>
          <a:lstStyle/>
          <a:p>
            <a:pPr marL="530860" indent="-265430" algn="l">
              <a:lnSpc>
                <a:spcPts val="3511"/>
              </a:lnSpc>
              <a:buChar char="•"/>
            </a:pPr>
            <a:r>
              <a:rPr sz="2200">
                <a:solidFill>
                  <a:srgbClr val="3B4E4E"/>
                </a:solidFill>
                <a:latin typeface="Overpass Light"/>
                <a:ea typeface="Overpass Light"/>
                <a:cs typeface="Overpass Light"/>
              </a:rPr>
              <a:t>Firebase接続・リアルタイム同期</a:t>
            </a:r>
          </a:p>
          <a:p>
            <a:pPr marL="530860" indent="-265430" algn="l">
              <a:lnSpc>
                <a:spcPts val="3511"/>
              </a:lnSpc>
              <a:buChar char="•"/>
            </a:pPr>
            <a:r>
              <a:rPr sz="2200">
                <a:solidFill>
                  <a:srgbClr val="3B4E4E"/>
                </a:solidFill>
                <a:latin typeface="Overpass Light"/>
                <a:ea typeface="Overpass Light"/>
                <a:cs typeface="Overpass Light"/>
              </a:rPr>
              <a:t>30分集計・通知処理</a:t>
            </a:r>
          </a:p>
          <a:p>
            <a:pPr marL="530860" indent="-265430" algn="l">
              <a:lnSpc>
                <a:spcPts val="3511"/>
              </a:lnSpc>
              <a:buChar char="•"/>
            </a:pPr>
            <a:r>
              <a:rPr sz="2200">
                <a:solidFill>
                  <a:srgbClr val="3B4E4E"/>
                </a:solidFill>
                <a:latin typeface="Overpass Light"/>
                <a:ea typeface="Overpass Light"/>
                <a:cs typeface="Overpass Light"/>
              </a:rPr>
              <a:t>エラー原因の調査</a:t>
            </a:r>
          </a:p>
          <a:p>
            <a:pPr marL="530860" indent="-265430" algn="l">
              <a:lnSpc>
                <a:spcPts val="3511"/>
              </a:lnSpc>
              <a:buChar char="•"/>
            </a:pPr>
            <a:r>
              <a:rPr sz="2200">
                <a:solidFill>
                  <a:srgbClr val="3B4E4E"/>
                </a:solidFill>
                <a:latin typeface="Overpass Light"/>
                <a:ea typeface="Overpass Light"/>
                <a:cs typeface="Overpass Light"/>
              </a:rPr>
              <a:t>仕様書・発表メモの文章整理</a:t>
            </a:r>
          </a:p>
        </p:txBody>
      </p:sp>
      <p:sp>
        <p:nvSpPr>
          <p:cNvPr id="11" name="TextBox 11">
            <a:extLst>
              <a:ext uri="{FF2B5EF4-FFF2-40B4-BE49-F238E27FC236}">
                <a16:creationId xmlns:a16="http://schemas.microsoft.com/office/drawing/2014/main" id="{758A01E4-FD4F-47FF-8A47-12B7089C90A9}"/>
              </a:ext>
            </a:extLst>
          </p:cNvPr>
          <p:cNvSpPr>
            <a:spLocks noGrp="1"/>
          </p:cNvSpPr>
          <p:nvPr/>
        </p:nvSpPr>
        <p:spPr>
          <a:xfrm>
            <a:off x="9499406" y="6290367"/>
            <a:ext cx="7805890" cy="461962"/>
          </a:xfrm>
          <a:prstGeom prst="rect">
            <a:avLst/>
          </a:prstGeom>
        </p:spPr>
        <p:txBody>
          <a:bodyPr lIns="0" tIns="0" rIns="0" bIns="0" anchor="t">
            <a:spAutoFit/>
          </a:bodyPr>
          <a:lstStyle/>
          <a:p>
            <a:pPr algn="l">
              <a:lnSpc>
                <a:spcPts val="3369"/>
              </a:lnSpc>
              <a:buNone/>
            </a:pPr>
            <a:r>
              <a:rPr sz="2700" b="1">
                <a:solidFill>
                  <a:srgbClr val="233939"/>
                </a:solidFill>
                <a:latin typeface="Syne Bold"/>
                <a:ea typeface="Syne Bold"/>
                <a:cs typeface="Syne Bold"/>
              </a:rPr>
              <a:t>自分で実装した部分</a:t>
            </a:r>
          </a:p>
        </p:txBody>
      </p:sp>
      <p:sp>
        <p:nvSpPr>
          <p:cNvPr id="12" name="TextBox 12">
            <a:extLst>
              <a:ext uri="{FF2B5EF4-FFF2-40B4-BE49-F238E27FC236}">
                <a16:creationId xmlns:a16="http://schemas.microsoft.com/office/drawing/2014/main" id="{9614C139-8845-4A5B-B1A9-C4D94F482EFA}"/>
              </a:ext>
            </a:extLst>
          </p:cNvPr>
          <p:cNvSpPr>
            <a:spLocks noGrp="1"/>
          </p:cNvSpPr>
          <p:nvPr/>
        </p:nvSpPr>
        <p:spPr>
          <a:xfrm>
            <a:off x="9499406" y="6950126"/>
            <a:ext cx="7805890" cy="1092098"/>
          </a:xfrm>
          <a:prstGeom prst="rect">
            <a:avLst/>
          </a:prstGeom>
        </p:spPr>
        <p:txBody>
          <a:bodyPr lIns="0" tIns="0" rIns="0" bIns="0" anchor="t">
            <a:spAutoFit/>
          </a:bodyPr>
          <a:lstStyle/>
          <a:p>
            <a:pPr marL="530860" indent="-265430" algn="l">
              <a:lnSpc>
                <a:spcPts val="3511"/>
              </a:lnSpc>
              <a:buChar char="•"/>
            </a:pPr>
            <a:r>
              <a:rPr sz="2200">
                <a:solidFill>
                  <a:srgbClr val="3B4E4E"/>
                </a:solidFill>
                <a:latin typeface="Overpass Light"/>
                <a:ea typeface="Overpass Light"/>
                <a:cs typeface="Overpass Light"/>
              </a:rPr>
              <a:t>基本画面・画面遷移・メニュー・カート操作</a:t>
            </a:r>
          </a:p>
          <a:p>
            <a:pPr marL="530860" indent="-265430" algn="l">
              <a:lnSpc>
                <a:spcPts val="3511"/>
              </a:lnSpc>
              <a:buChar char="•"/>
            </a:pPr>
            <a:r>
              <a:rPr sz="2200">
                <a:solidFill>
                  <a:srgbClr val="3B4E4E"/>
                </a:solidFill>
                <a:latin typeface="Overpass Light"/>
                <a:ea typeface="Overpass Light"/>
                <a:cs typeface="Overpass Light"/>
              </a:rPr>
              <a:t>UI調整（ボタン・文言・配色）</a:t>
            </a:r>
          </a:p>
        </p:txBody>
      </p:sp>
    </p:spTree>
    <p:extLst>
      <p:ext uri="{BB962C8B-B14F-4D97-AF65-F5344CB8AC3E}">
        <p14:creationId xmlns:p14="http://schemas.microsoft.com/office/powerpoint/2010/main" val="1797130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6FE9194B-6455-484F-A9C2-0B5AD57FB0ED}"/>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txBody>
          <a:bodyPr/>
          <a:lstStyle/>
          <a:p>
            <a:endParaRPr/>
          </a:p>
        </p:txBody>
      </p:sp>
      <p:sp>
        <p:nvSpPr>
          <p:cNvPr id="5" name="Freeform 5">
            <a:extLst>
              <a:ext uri="{FF2B5EF4-FFF2-40B4-BE49-F238E27FC236}">
                <a16:creationId xmlns:a16="http://schemas.microsoft.com/office/drawing/2014/main" id="{331435A4-427D-4F58-BAB8-7E8217D7B5B7}"/>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txBody>
          <a:bodyPr/>
          <a:lstStyle/>
          <a:p>
            <a:endParaRPr/>
          </a:p>
        </p:txBody>
      </p:sp>
      <p:sp>
        <p:nvSpPr>
          <p:cNvPr id="6" name="TextBox 6">
            <a:extLst>
              <a:ext uri="{FF2B5EF4-FFF2-40B4-BE49-F238E27FC236}">
                <a16:creationId xmlns:a16="http://schemas.microsoft.com/office/drawing/2014/main" id="{517E473E-9DA9-4243-AD9B-311FB15EE619}"/>
              </a:ext>
            </a:extLst>
          </p:cNvPr>
          <p:cNvSpPr>
            <a:spLocks noGrp="1"/>
          </p:cNvSpPr>
          <p:nvPr/>
        </p:nvSpPr>
        <p:spPr>
          <a:xfrm>
            <a:off x="992219" y="742950"/>
            <a:ext cx="16303562" cy="914591"/>
          </a:xfrm>
          <a:prstGeom prst="rect">
            <a:avLst/>
          </a:prstGeom>
        </p:spPr>
        <p:txBody>
          <a:bodyPr lIns="0" tIns="0" rIns="0" bIns="0" anchor="t">
            <a:spAutoFit/>
          </a:bodyPr>
          <a:lstStyle/>
          <a:p>
            <a:pPr algn="l">
              <a:lnSpc>
                <a:spcPts val="6864"/>
              </a:lnSpc>
              <a:buNone/>
            </a:pPr>
            <a:r>
              <a:rPr sz="5500" b="1">
                <a:solidFill>
                  <a:srgbClr val="233939"/>
                </a:solidFill>
                <a:latin typeface="Syne Bold"/>
                <a:ea typeface="Syne Bold"/>
                <a:cs typeface="Syne Bold"/>
              </a:rPr>
              <a:t>実機説明</a:t>
            </a:r>
          </a:p>
        </p:txBody>
      </p:sp>
      <p:sp>
        <p:nvSpPr>
          <p:cNvPr id="7" name="demo-caption-1">
            <a:extLst>
              <a:ext uri="{FF2B5EF4-FFF2-40B4-BE49-F238E27FC236}">
                <a16:creationId xmlns:a16="http://schemas.microsoft.com/office/drawing/2014/main" id="{9B13004D-D5BE-4604-A8D7-02EEEFEF699C}"/>
              </a:ext>
            </a:extLst>
          </p:cNvPr>
          <p:cNvSpPr>
            <a:spLocks noGrp="1"/>
          </p:cNvSpPr>
          <p:nvPr/>
        </p:nvSpPr>
        <p:spPr>
          <a:xfrm>
            <a:off x="952500" y="1809750"/>
            <a:ext cx="4953000" cy="457200"/>
          </a:xfrm>
          <a:prstGeom prst="rect">
            <a:avLst/>
          </a:prstGeom>
          <a:noFill/>
          <a:ln w="0">
            <a:noFill/>
            <a:prstDash val="solid"/>
          </a:ln>
        </p:spPr>
        <p:txBody>
          <a:bodyPr wrap="square" anchor="ctr"/>
          <a:lstStyle/>
          <a:p>
            <a:pPr algn="ctr">
              <a:defRPr sz="1875" b="1">
                <a:solidFill>
                  <a:srgbClr val="24433A"/>
                </a:solidFill>
                <a:latin typeface="Yu Gothic"/>
                <a:ea typeface="Yu Gothic"/>
                <a:cs typeface="Yu Gothic"/>
              </a:defRPr>
            </a:pPr>
            <a:r>
              <a:rPr sz="1875" b="1">
                <a:solidFill>
                  <a:srgbClr val="24433A"/>
                </a:solidFill>
                <a:latin typeface="Yu Gothic"/>
                <a:ea typeface="Yu Gothic"/>
                <a:cs typeface="Yu Gothic"/>
              </a:rPr>
              <a:t>テーブル登録</a:t>
            </a:r>
          </a:p>
        </p:txBody>
      </p:sp>
      <p:pic>
        <p:nvPicPr>
          <p:cNvPr id="18" name="図 17"/>
          <p:cNvPicPr>
            <a:picLocks noChangeAspect="1"/>
          </p:cNvPicPr>
          <p:nvPr/>
        </p:nvPicPr>
        <p:blipFill>
          <a:blip r:embed="rId3"/>
          <a:stretch/>
        </p:blipFill>
        <p:spPr>
          <a:xfrm>
            <a:off x="952500" y="2383036"/>
            <a:ext cx="4953000" cy="3482578"/>
          </a:xfrm>
          <a:prstGeom prst="rect">
            <a:avLst/>
          </a:prstGeom>
        </p:spPr>
      </p:pic>
      <p:sp>
        <p:nvSpPr>
          <p:cNvPr id="9" name="demo-caption-2">
            <a:extLst>
              <a:ext uri="{FF2B5EF4-FFF2-40B4-BE49-F238E27FC236}">
                <a16:creationId xmlns:a16="http://schemas.microsoft.com/office/drawing/2014/main" id="{BE9E80DE-1A7A-47F0-BB5C-9303FCDE8714}"/>
              </a:ext>
            </a:extLst>
          </p:cNvPr>
          <p:cNvSpPr>
            <a:spLocks noGrp="1"/>
          </p:cNvSpPr>
          <p:nvPr/>
        </p:nvSpPr>
        <p:spPr>
          <a:xfrm>
            <a:off x="6667500" y="1809750"/>
            <a:ext cx="4953000" cy="457200"/>
          </a:xfrm>
          <a:prstGeom prst="rect">
            <a:avLst/>
          </a:prstGeom>
          <a:noFill/>
          <a:ln w="0">
            <a:noFill/>
            <a:prstDash val="solid"/>
          </a:ln>
        </p:spPr>
        <p:txBody>
          <a:bodyPr wrap="square" anchor="ctr"/>
          <a:lstStyle/>
          <a:p>
            <a:pPr algn="ctr">
              <a:defRPr sz="1875" b="1">
                <a:solidFill>
                  <a:srgbClr val="24433A"/>
                </a:solidFill>
                <a:latin typeface="Yu Gothic"/>
                <a:ea typeface="Yu Gothic"/>
                <a:cs typeface="Yu Gothic"/>
              </a:defRPr>
            </a:pPr>
            <a:r>
              <a:rPr sz="1875" b="1">
                <a:solidFill>
                  <a:srgbClr val="24433A"/>
                </a:solidFill>
                <a:latin typeface="Yu Gothic"/>
                <a:ea typeface="Yu Gothic"/>
                <a:cs typeface="Yu Gothic"/>
              </a:rPr>
              <a:t>商品選択・飲酒ペース</a:t>
            </a:r>
          </a:p>
        </p:txBody>
      </p:sp>
      <p:pic>
        <p:nvPicPr>
          <p:cNvPr id="20" name="図 19"/>
          <p:cNvPicPr>
            <a:picLocks noChangeAspect="1"/>
          </p:cNvPicPr>
          <p:nvPr/>
        </p:nvPicPr>
        <p:blipFill>
          <a:blip r:embed="rId4"/>
          <a:stretch/>
        </p:blipFill>
        <p:spPr>
          <a:xfrm>
            <a:off x="6667500" y="2383036"/>
            <a:ext cx="4953000" cy="3482578"/>
          </a:xfrm>
          <a:prstGeom prst="rect">
            <a:avLst/>
          </a:prstGeom>
        </p:spPr>
      </p:pic>
      <p:sp>
        <p:nvSpPr>
          <p:cNvPr id="11" name="demo-caption-3">
            <a:extLst>
              <a:ext uri="{FF2B5EF4-FFF2-40B4-BE49-F238E27FC236}">
                <a16:creationId xmlns:a16="http://schemas.microsoft.com/office/drawing/2014/main" id="{281C2F4C-07A2-4501-8491-D25FA2B75A07}"/>
              </a:ext>
            </a:extLst>
          </p:cNvPr>
          <p:cNvSpPr>
            <a:spLocks noGrp="1"/>
          </p:cNvSpPr>
          <p:nvPr/>
        </p:nvSpPr>
        <p:spPr>
          <a:xfrm>
            <a:off x="12382500" y="1809750"/>
            <a:ext cx="4953000" cy="457200"/>
          </a:xfrm>
          <a:prstGeom prst="rect">
            <a:avLst/>
          </a:prstGeom>
          <a:noFill/>
          <a:ln w="0">
            <a:noFill/>
            <a:prstDash val="solid"/>
          </a:ln>
        </p:spPr>
        <p:txBody>
          <a:bodyPr wrap="square" anchor="ctr"/>
          <a:lstStyle/>
          <a:p>
            <a:pPr algn="ctr">
              <a:defRPr sz="1875" b="1">
                <a:solidFill>
                  <a:srgbClr val="24433A"/>
                </a:solidFill>
                <a:latin typeface="Yu Gothic"/>
                <a:ea typeface="Yu Gothic"/>
                <a:cs typeface="Yu Gothic"/>
              </a:defRPr>
            </a:pPr>
            <a:r>
              <a:rPr sz="1875" b="1">
                <a:solidFill>
                  <a:srgbClr val="24433A"/>
                </a:solidFill>
                <a:latin typeface="Yu Gothic"/>
                <a:ea typeface="Yu Gothic"/>
                <a:cs typeface="Yu Gothic"/>
              </a:rPr>
              <a:t>注文履歴</a:t>
            </a:r>
          </a:p>
        </p:txBody>
      </p:sp>
      <p:pic>
        <p:nvPicPr>
          <p:cNvPr id="22" name="図 21"/>
          <p:cNvPicPr>
            <a:picLocks noChangeAspect="1"/>
          </p:cNvPicPr>
          <p:nvPr/>
        </p:nvPicPr>
        <p:blipFill>
          <a:blip r:embed="rId5"/>
          <a:stretch/>
        </p:blipFill>
        <p:spPr>
          <a:xfrm>
            <a:off x="12382500" y="2383036"/>
            <a:ext cx="4953000" cy="3482578"/>
          </a:xfrm>
          <a:prstGeom prst="rect">
            <a:avLst/>
          </a:prstGeom>
        </p:spPr>
      </p:pic>
      <p:sp>
        <p:nvSpPr>
          <p:cNvPr id="13" name="demo-flow">
            <a:extLst>
              <a:ext uri="{FF2B5EF4-FFF2-40B4-BE49-F238E27FC236}">
                <a16:creationId xmlns:a16="http://schemas.microsoft.com/office/drawing/2014/main" id="{F4534FD0-CC61-423F-B2A1-A981E5B72B55}"/>
              </a:ext>
            </a:extLst>
          </p:cNvPr>
          <p:cNvSpPr>
            <a:spLocks noGrp="1"/>
          </p:cNvSpPr>
          <p:nvPr/>
        </p:nvSpPr>
        <p:spPr>
          <a:xfrm>
            <a:off x="2095500" y="7239000"/>
            <a:ext cx="14097000" cy="666750"/>
          </a:xfrm>
          <a:prstGeom prst="rect">
            <a:avLst/>
          </a:prstGeom>
          <a:noFill/>
          <a:ln w="0">
            <a:noFill/>
            <a:prstDash val="solid"/>
          </a:ln>
        </p:spPr>
        <p:txBody>
          <a:bodyPr wrap="square" anchor="ctr"/>
          <a:lstStyle/>
          <a:p>
            <a:pPr algn="ctr">
              <a:defRPr sz="2325" b="1">
                <a:solidFill>
                  <a:srgbClr val="24433A"/>
                </a:solidFill>
                <a:latin typeface="Yu Gothic"/>
                <a:ea typeface="Yu Gothic"/>
                <a:cs typeface="Yu Gothic"/>
              </a:defRPr>
            </a:pPr>
            <a:r>
              <a:rPr sz="2325" b="1">
                <a:solidFill>
                  <a:srgbClr val="24433A"/>
                </a:solidFill>
                <a:latin typeface="Yu Gothic"/>
                <a:ea typeface="Yu Gothic"/>
                <a:cs typeface="Yu Gothic"/>
              </a:rPr>
              <a:t>テーブル登録　→　商品選択・注文確定　→　履歴へ保存</a:t>
            </a:r>
          </a:p>
        </p:txBody>
      </p:sp>
    </p:spTree>
    <p:extLst>
      <p:ext uri="{BB962C8B-B14F-4D97-AF65-F5344CB8AC3E}">
        <p14:creationId xmlns:p14="http://schemas.microsoft.com/office/powerpoint/2010/main" val="1604772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85EAD273-DE2E-469C-8263-BD1CF49DAB5B}"/>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4BE"/>
          </a:solidFill>
        </p:spPr>
        <p:txBody>
          <a:bodyPr/>
          <a:lstStyle/>
          <a:p>
            <a:endParaRPr/>
          </a:p>
        </p:txBody>
      </p:sp>
      <p:sp>
        <p:nvSpPr>
          <p:cNvPr id="5" name="Freeform 5">
            <a:extLst>
              <a:ext uri="{FF2B5EF4-FFF2-40B4-BE49-F238E27FC236}">
                <a16:creationId xmlns:a16="http://schemas.microsoft.com/office/drawing/2014/main" id="{C542227E-BCF7-4FA5-B2ED-4D75F51C06E1}"/>
              </a:ext>
            </a:extLst>
          </p:cNvPr>
          <p:cNvSpPr>
            <a:spLocks noGrp="1"/>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DE6"/>
          </a:solidFill>
        </p:spPr>
        <p:txBody>
          <a:bodyPr/>
          <a:lstStyle/>
          <a:p>
            <a:endParaRPr/>
          </a:p>
        </p:txBody>
      </p:sp>
      <p:sp>
        <p:nvSpPr>
          <p:cNvPr id="9" name="Freeform 9">
            <a:extLst>
              <a:ext uri="{FF2B5EF4-FFF2-40B4-BE49-F238E27FC236}">
                <a16:creationId xmlns:a16="http://schemas.microsoft.com/office/drawing/2014/main" id="{B269B4DD-86F9-41E0-9A98-FAC4509D6054}"/>
              </a:ext>
            </a:extLst>
          </p:cNvPr>
          <p:cNvSpPr>
            <a:spLocks noGrp="1"/>
          </p:cNvSpPr>
          <p:nvPr/>
        </p:nvSpPr>
        <p:spPr>
          <a:xfrm>
            <a:off x="0" y="0"/>
            <a:ext cx="6858000" cy="10287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txBody>
          <a:bodyPr/>
          <a:lstStyle/>
          <a:p>
            <a:endParaRPr/>
          </a:p>
        </p:txBody>
      </p:sp>
      <p:sp>
        <p:nvSpPr>
          <p:cNvPr id="10" name="TextBox 10">
            <a:extLst>
              <a:ext uri="{FF2B5EF4-FFF2-40B4-BE49-F238E27FC236}">
                <a16:creationId xmlns:a16="http://schemas.microsoft.com/office/drawing/2014/main" id="{DE281218-CB59-4617-9D5E-93D159012C42}"/>
              </a:ext>
            </a:extLst>
          </p:cNvPr>
          <p:cNvSpPr>
            <a:spLocks noGrp="1"/>
          </p:cNvSpPr>
          <p:nvPr/>
        </p:nvSpPr>
        <p:spPr>
          <a:xfrm>
            <a:off x="7850238" y="1360284"/>
            <a:ext cx="9445523" cy="914552"/>
          </a:xfrm>
          <a:prstGeom prst="rect">
            <a:avLst/>
          </a:prstGeom>
        </p:spPr>
        <p:txBody>
          <a:bodyPr lIns="0" tIns="0" rIns="0" bIns="0" anchor="t">
            <a:spAutoFit/>
          </a:bodyPr>
          <a:lstStyle/>
          <a:p>
            <a:pPr algn="l">
              <a:lnSpc>
                <a:spcPts val="6864"/>
              </a:lnSpc>
              <a:buNone/>
            </a:pPr>
            <a:r>
              <a:rPr sz="5500" b="1">
                <a:solidFill>
                  <a:srgbClr val="233939"/>
                </a:solidFill>
                <a:latin typeface="Syne Bold"/>
                <a:ea typeface="Syne Bold"/>
                <a:cs typeface="Syne Bold"/>
              </a:rPr>
              <a:t>作品のまとめ</a:t>
            </a:r>
          </a:p>
        </p:txBody>
      </p:sp>
      <p:sp>
        <p:nvSpPr>
          <p:cNvPr id="11" name="Freeform 11">
            <a:extLst>
              <a:ext uri="{FF2B5EF4-FFF2-40B4-BE49-F238E27FC236}">
                <a16:creationId xmlns:a16="http://schemas.microsoft.com/office/drawing/2014/main" id="{B9C483D6-576D-4776-B670-423F9310D314}"/>
              </a:ext>
            </a:extLst>
          </p:cNvPr>
          <p:cNvSpPr>
            <a:spLocks noGrp="1"/>
          </p:cNvSpPr>
          <p:nvPr/>
        </p:nvSpPr>
        <p:spPr>
          <a:xfrm>
            <a:off x="7956499" y="2708824"/>
            <a:ext cx="425206" cy="425206"/>
          </a:xfrm>
          <a:custGeom>
            <a:avLst/>
            <a:gdLst/>
            <a:ahLst/>
            <a:cxnLst/>
            <a:rect l="l" t="t" r="r" b="b"/>
            <a:pathLst>
              <a:path w="425206" h="425206">
                <a:moveTo>
                  <a:pt x="0" y="0"/>
                </a:moveTo>
                <a:lnTo>
                  <a:pt x="425206" y="0"/>
                </a:lnTo>
                <a:lnTo>
                  <a:pt x="425206" y="425206"/>
                </a:lnTo>
                <a:lnTo>
                  <a:pt x="0" y="425206"/>
                </a:lnTo>
                <a:lnTo>
                  <a:pt x="0" y="0"/>
                </a:lnTo>
                <a:close/>
              </a:path>
            </a:pathLst>
          </a:custGeom>
          <a:blipFill>
            <a:blip>
              <a:extLst>
                <a:ext uri="{96DAC541-7B7A-43D3-8B79-37D633B846F1}">
                  <asvg:svgBlip xmlns:asvg="http://schemas.microsoft.com/office/drawing/2016/SVG/main" r:embed="rId4"/>
                </a:ext>
              </a:extLst>
            </a:blip>
            <a:stretch>
              <a:fillRect l="-8888" r="-8888"/>
            </a:stretch>
          </a:blipFill>
        </p:spPr>
        <p:txBody>
          <a:bodyPr/>
          <a:lstStyle/>
          <a:p>
            <a:endParaRPr/>
          </a:p>
        </p:txBody>
      </p:sp>
      <p:sp>
        <p:nvSpPr>
          <p:cNvPr id="12" name="TextBox 12">
            <a:extLst>
              <a:ext uri="{FF2B5EF4-FFF2-40B4-BE49-F238E27FC236}">
                <a16:creationId xmlns:a16="http://schemas.microsoft.com/office/drawing/2014/main" id="{8D32C9E2-0686-4AE8-B9AE-59DB439657F3}"/>
              </a:ext>
            </a:extLst>
          </p:cNvPr>
          <p:cNvSpPr>
            <a:spLocks noGrp="1"/>
          </p:cNvSpPr>
          <p:nvPr/>
        </p:nvSpPr>
        <p:spPr>
          <a:xfrm>
            <a:off x="8771630" y="2680992"/>
            <a:ext cx="8524132" cy="461962"/>
          </a:xfrm>
          <a:prstGeom prst="rect">
            <a:avLst/>
          </a:prstGeom>
        </p:spPr>
        <p:txBody>
          <a:bodyPr lIns="0" tIns="0" rIns="0" bIns="0" anchor="t">
            <a:spAutoFit/>
          </a:bodyPr>
          <a:lstStyle/>
          <a:p>
            <a:pPr algn="l">
              <a:lnSpc>
                <a:spcPts val="3369"/>
              </a:lnSpc>
              <a:buNone/>
            </a:pPr>
            <a:r>
              <a:rPr sz="2700" b="1">
                <a:solidFill>
                  <a:srgbClr val="3B4E4E"/>
                </a:solidFill>
                <a:latin typeface="Syne Bold"/>
                <a:ea typeface="Syne Bold"/>
                <a:cs typeface="Syne Bold"/>
              </a:rPr>
              <a:t>注文から履歴までを一体化</a:t>
            </a:r>
          </a:p>
        </p:txBody>
      </p:sp>
      <p:sp>
        <p:nvSpPr>
          <p:cNvPr id="13" name="TextBox 13">
            <a:extLst>
              <a:ext uri="{FF2B5EF4-FFF2-40B4-BE49-F238E27FC236}">
                <a16:creationId xmlns:a16="http://schemas.microsoft.com/office/drawing/2014/main" id="{D58EDFC8-1A55-4BF1-9E23-815429D6D35E}"/>
              </a:ext>
            </a:extLst>
          </p:cNvPr>
          <p:cNvSpPr>
            <a:spLocks noGrp="1"/>
          </p:cNvSpPr>
          <p:nvPr/>
        </p:nvSpPr>
        <p:spPr>
          <a:xfrm>
            <a:off x="8771630" y="3227337"/>
            <a:ext cx="8524132" cy="539353"/>
          </a:xfrm>
          <a:prstGeom prst="rect">
            <a:avLst/>
          </a:prstGeom>
        </p:spPr>
        <p:txBody>
          <a:bodyPr lIns="0" tIns="0" rIns="0" bIns="0" anchor="t">
            <a:spAutoFit/>
          </a:bodyPr>
          <a:lstStyle/>
          <a:p>
            <a:pPr algn="l">
              <a:lnSpc>
                <a:spcPts val="3511"/>
              </a:lnSpc>
              <a:buNone/>
            </a:pPr>
            <a:r>
              <a:rPr sz="2200">
                <a:solidFill>
                  <a:srgbClr val="3B4E4E"/>
                </a:solidFill>
                <a:latin typeface="Overpass Light"/>
                <a:ea typeface="Overpass Light"/>
                <a:cs typeface="Overpass Light"/>
              </a:rPr>
              <a:t>テーブル登録・商品選択・注文確定・履歴保存</a:t>
            </a:r>
          </a:p>
        </p:txBody>
      </p:sp>
      <p:sp>
        <p:nvSpPr>
          <p:cNvPr id="14" name="Freeform 14">
            <a:extLst>
              <a:ext uri="{FF2B5EF4-FFF2-40B4-BE49-F238E27FC236}">
                <a16:creationId xmlns:a16="http://schemas.microsoft.com/office/drawing/2014/main" id="{9EF85AB0-3BD5-4081-9C04-70BCF3816BFB}"/>
              </a:ext>
            </a:extLst>
          </p:cNvPr>
          <p:cNvSpPr>
            <a:spLocks noGrp="1"/>
          </p:cNvSpPr>
          <p:nvPr/>
        </p:nvSpPr>
        <p:spPr>
          <a:xfrm>
            <a:off x="7956499" y="4342505"/>
            <a:ext cx="425206" cy="425206"/>
          </a:xfrm>
          <a:custGeom>
            <a:avLst/>
            <a:gdLst/>
            <a:ahLst/>
            <a:cxnLst/>
            <a:rect l="l" t="t" r="r" b="b"/>
            <a:pathLst>
              <a:path w="425206" h="425206">
                <a:moveTo>
                  <a:pt x="0" y="0"/>
                </a:moveTo>
                <a:lnTo>
                  <a:pt x="425206" y="0"/>
                </a:lnTo>
                <a:lnTo>
                  <a:pt x="425206" y="425205"/>
                </a:lnTo>
                <a:lnTo>
                  <a:pt x="0" y="425205"/>
                </a:lnTo>
                <a:lnTo>
                  <a:pt x="0" y="0"/>
                </a:lnTo>
                <a:close/>
              </a:path>
            </a:pathLst>
          </a:custGeom>
          <a:blipFill>
            <a:blip>
              <a:extLst>
                <a:ext uri="{96DAC541-7B7A-43D3-8B79-37D633B846F1}">
                  <asvg:svgBlip xmlns:asvg="http://schemas.microsoft.com/office/drawing/2016/SVG/main" r:embed="rId4"/>
                </a:ext>
              </a:extLst>
            </a:blip>
            <a:stretch>
              <a:fillRect l="-8888" r="-8888"/>
            </a:stretch>
          </a:blipFill>
        </p:spPr>
        <p:txBody>
          <a:bodyPr/>
          <a:lstStyle/>
          <a:p>
            <a:endParaRPr/>
          </a:p>
        </p:txBody>
      </p:sp>
      <p:sp>
        <p:nvSpPr>
          <p:cNvPr id="15" name="TextBox 15">
            <a:extLst>
              <a:ext uri="{FF2B5EF4-FFF2-40B4-BE49-F238E27FC236}">
                <a16:creationId xmlns:a16="http://schemas.microsoft.com/office/drawing/2014/main" id="{6585CDCF-E7DF-4BDB-8F52-18A965A4DC67}"/>
              </a:ext>
            </a:extLst>
          </p:cNvPr>
          <p:cNvSpPr>
            <a:spLocks noGrp="1"/>
          </p:cNvSpPr>
          <p:nvPr/>
        </p:nvSpPr>
        <p:spPr>
          <a:xfrm>
            <a:off x="8771630" y="4314673"/>
            <a:ext cx="8524132" cy="461962"/>
          </a:xfrm>
          <a:prstGeom prst="rect">
            <a:avLst/>
          </a:prstGeom>
        </p:spPr>
        <p:txBody>
          <a:bodyPr lIns="0" tIns="0" rIns="0" bIns="0" anchor="t">
            <a:spAutoFit/>
          </a:bodyPr>
          <a:lstStyle/>
          <a:p>
            <a:pPr algn="l">
              <a:lnSpc>
                <a:spcPts val="3369"/>
              </a:lnSpc>
              <a:buNone/>
            </a:pPr>
            <a:r>
              <a:rPr sz="2700" b="1">
                <a:solidFill>
                  <a:srgbClr val="3B4E4E"/>
                </a:solidFill>
                <a:latin typeface="Syne Bold"/>
                <a:ea typeface="Syne Bold"/>
                <a:cs typeface="Syne Bold"/>
              </a:rPr>
              <a:t>飲酒ペースを見える化</a:t>
            </a:r>
          </a:p>
        </p:txBody>
      </p:sp>
      <p:sp>
        <p:nvSpPr>
          <p:cNvPr id="16" name="TextBox 16">
            <a:extLst>
              <a:ext uri="{FF2B5EF4-FFF2-40B4-BE49-F238E27FC236}">
                <a16:creationId xmlns:a16="http://schemas.microsoft.com/office/drawing/2014/main" id="{D5B938FE-4516-4E8F-87D8-D789D0B413EB}"/>
              </a:ext>
            </a:extLst>
          </p:cNvPr>
          <p:cNvSpPr>
            <a:spLocks noGrp="1"/>
          </p:cNvSpPr>
          <p:nvPr/>
        </p:nvSpPr>
        <p:spPr>
          <a:xfrm>
            <a:off x="8771630" y="4861027"/>
            <a:ext cx="8524132" cy="539353"/>
          </a:xfrm>
          <a:prstGeom prst="rect">
            <a:avLst/>
          </a:prstGeom>
        </p:spPr>
        <p:txBody>
          <a:bodyPr lIns="0" tIns="0" rIns="0" bIns="0" anchor="t">
            <a:spAutoFit/>
          </a:bodyPr>
          <a:lstStyle/>
          <a:p>
            <a:pPr algn="l">
              <a:lnSpc>
                <a:spcPts val="3511"/>
              </a:lnSpc>
              <a:buNone/>
            </a:pPr>
            <a:r>
              <a:rPr sz="2200">
                <a:solidFill>
                  <a:srgbClr val="3B4E4E"/>
                </a:solidFill>
                <a:latin typeface="Overpass Light"/>
                <a:ea typeface="Overpass Light"/>
                <a:cs typeface="Overpass Light"/>
              </a:rPr>
              <a:t>純アルコール量を計算し、直近30分の合計を表示</a:t>
            </a:r>
          </a:p>
        </p:txBody>
      </p:sp>
      <p:sp>
        <p:nvSpPr>
          <p:cNvPr id="17" name="Freeform 17">
            <a:extLst>
              <a:ext uri="{FF2B5EF4-FFF2-40B4-BE49-F238E27FC236}">
                <a16:creationId xmlns:a16="http://schemas.microsoft.com/office/drawing/2014/main" id="{A4B9A7FC-1240-482E-ABF2-58D0AB2FD0DF}"/>
              </a:ext>
            </a:extLst>
          </p:cNvPr>
          <p:cNvSpPr>
            <a:spLocks noGrp="1"/>
          </p:cNvSpPr>
          <p:nvPr/>
        </p:nvSpPr>
        <p:spPr>
          <a:xfrm>
            <a:off x="7956499" y="5976195"/>
            <a:ext cx="425206" cy="425206"/>
          </a:xfrm>
          <a:custGeom>
            <a:avLst/>
            <a:gdLst/>
            <a:ahLst/>
            <a:cxnLst/>
            <a:rect l="l" t="t" r="r" b="b"/>
            <a:pathLst>
              <a:path w="425206" h="425206">
                <a:moveTo>
                  <a:pt x="0" y="0"/>
                </a:moveTo>
                <a:lnTo>
                  <a:pt x="425206" y="0"/>
                </a:lnTo>
                <a:lnTo>
                  <a:pt x="425206" y="425205"/>
                </a:lnTo>
                <a:lnTo>
                  <a:pt x="0" y="425205"/>
                </a:lnTo>
                <a:lnTo>
                  <a:pt x="0" y="0"/>
                </a:lnTo>
                <a:close/>
              </a:path>
            </a:pathLst>
          </a:custGeom>
          <a:blipFill>
            <a:blip>
              <a:extLst>
                <a:ext uri="{96DAC541-7B7A-43D3-8B79-37D633B846F1}">
                  <asvg:svgBlip xmlns:asvg="http://schemas.microsoft.com/office/drawing/2016/SVG/main" r:embed="rId4"/>
                </a:ext>
              </a:extLst>
            </a:blip>
            <a:stretch>
              <a:fillRect l="-8888" r="-8888"/>
            </a:stretch>
          </a:blipFill>
        </p:spPr>
        <p:txBody>
          <a:bodyPr/>
          <a:lstStyle/>
          <a:p>
            <a:endParaRPr/>
          </a:p>
        </p:txBody>
      </p:sp>
      <p:sp>
        <p:nvSpPr>
          <p:cNvPr id="18" name="TextBox 18">
            <a:extLst>
              <a:ext uri="{FF2B5EF4-FFF2-40B4-BE49-F238E27FC236}">
                <a16:creationId xmlns:a16="http://schemas.microsoft.com/office/drawing/2014/main" id="{B1ABAADF-B678-4A1E-ACC4-D238B96E4E4D}"/>
              </a:ext>
            </a:extLst>
          </p:cNvPr>
          <p:cNvSpPr>
            <a:spLocks noGrp="1"/>
          </p:cNvSpPr>
          <p:nvPr/>
        </p:nvSpPr>
        <p:spPr>
          <a:xfrm>
            <a:off x="8771630" y="5948362"/>
            <a:ext cx="8524132" cy="461962"/>
          </a:xfrm>
          <a:prstGeom prst="rect">
            <a:avLst/>
          </a:prstGeom>
        </p:spPr>
        <p:txBody>
          <a:bodyPr lIns="0" tIns="0" rIns="0" bIns="0" anchor="t">
            <a:spAutoFit/>
          </a:bodyPr>
          <a:lstStyle/>
          <a:p>
            <a:pPr algn="l">
              <a:lnSpc>
                <a:spcPts val="3369"/>
              </a:lnSpc>
              <a:buNone/>
            </a:pPr>
            <a:r>
              <a:rPr sz="2700" b="1">
                <a:solidFill>
                  <a:srgbClr val="3B4E4E"/>
                </a:solidFill>
                <a:latin typeface="Syne Bold"/>
                <a:ea typeface="Syne Bold"/>
                <a:cs typeface="Syne Bold"/>
              </a:rPr>
              <a:t>Flutterで動くアプリとして完成</a:t>
            </a:r>
          </a:p>
        </p:txBody>
      </p:sp>
      <p:sp>
        <p:nvSpPr>
          <p:cNvPr id="19" name="TextBox 19">
            <a:extLst>
              <a:ext uri="{FF2B5EF4-FFF2-40B4-BE49-F238E27FC236}">
                <a16:creationId xmlns:a16="http://schemas.microsoft.com/office/drawing/2014/main" id="{A99E1ACE-3E9D-4D13-8DCE-92209A3F0004}"/>
              </a:ext>
            </a:extLst>
          </p:cNvPr>
          <p:cNvSpPr>
            <a:spLocks noGrp="1"/>
          </p:cNvSpPr>
          <p:nvPr/>
        </p:nvSpPr>
        <p:spPr>
          <a:xfrm>
            <a:off x="8771630" y="6494707"/>
            <a:ext cx="8524132" cy="539353"/>
          </a:xfrm>
          <a:prstGeom prst="rect">
            <a:avLst/>
          </a:prstGeom>
        </p:spPr>
        <p:txBody>
          <a:bodyPr lIns="0" tIns="0" rIns="0" bIns="0" anchor="t">
            <a:spAutoFit/>
          </a:bodyPr>
          <a:lstStyle/>
          <a:p>
            <a:pPr algn="l">
              <a:lnSpc>
                <a:spcPts val="3511"/>
              </a:lnSpc>
              <a:buNone/>
            </a:pPr>
            <a:r>
              <a:rPr sz="2200">
                <a:solidFill>
                  <a:srgbClr val="3B4E4E"/>
                </a:solidFill>
                <a:latin typeface="Overpass Light"/>
                <a:ea typeface="Overpass Light"/>
                <a:cs typeface="Overpass Light"/>
              </a:rPr>
              <a:t>Firebase連携・テスト・資料作成まで実施</a:t>
            </a:r>
          </a:p>
        </p:txBody>
      </p:sp>
      <p:sp>
        <p:nvSpPr>
          <p:cNvPr id="21" name="Freeform 21">
            <a:extLst>
              <a:ext uri="{FF2B5EF4-FFF2-40B4-BE49-F238E27FC236}">
                <a16:creationId xmlns:a16="http://schemas.microsoft.com/office/drawing/2014/main" id="{8F8BB3CF-C331-4990-B956-DCDDA400E6E0}"/>
              </a:ext>
            </a:extLst>
          </p:cNvPr>
          <p:cNvSpPr>
            <a:spLocks noGrp="1"/>
          </p:cNvSpPr>
          <p:nvPr/>
        </p:nvSpPr>
        <p:spPr>
          <a:xfrm>
            <a:off x="7850238" y="7353005"/>
            <a:ext cx="38100" cy="1545145"/>
          </a:xfrm>
          <a:custGeom>
            <a:avLst/>
            <a:gdLst/>
            <a:ahLst/>
            <a:cxnLst/>
            <a:rect l="l" t="t" r="r" b="b"/>
            <a:pathLst>
              <a:path w="50800" h="2060194">
                <a:moveTo>
                  <a:pt x="0" y="25400"/>
                </a:moveTo>
                <a:cubicBezTo>
                  <a:pt x="0" y="11430"/>
                  <a:pt x="11430" y="0"/>
                  <a:pt x="25400" y="0"/>
                </a:cubicBezTo>
                <a:cubicBezTo>
                  <a:pt x="39370" y="0"/>
                  <a:pt x="50800" y="11430"/>
                  <a:pt x="50800" y="25400"/>
                </a:cubicBezTo>
                <a:lnTo>
                  <a:pt x="50800" y="2034794"/>
                </a:lnTo>
                <a:cubicBezTo>
                  <a:pt x="50800" y="2048764"/>
                  <a:pt x="39370" y="2060194"/>
                  <a:pt x="25400" y="2060194"/>
                </a:cubicBezTo>
                <a:cubicBezTo>
                  <a:pt x="11430" y="2060194"/>
                  <a:pt x="0" y="2048764"/>
                  <a:pt x="0" y="2034794"/>
                </a:cubicBezTo>
                <a:close/>
              </a:path>
            </a:pathLst>
          </a:custGeom>
          <a:solidFill>
            <a:srgbClr val="224435"/>
          </a:solidFill>
        </p:spPr>
        <p:txBody>
          <a:bodyPr/>
          <a:lstStyle/>
          <a:p>
            <a:endParaRPr/>
          </a:p>
        </p:txBody>
      </p:sp>
      <p:sp>
        <p:nvSpPr>
          <p:cNvPr id="22" name="TextBox 22">
            <a:extLst>
              <a:ext uri="{FF2B5EF4-FFF2-40B4-BE49-F238E27FC236}">
                <a16:creationId xmlns:a16="http://schemas.microsoft.com/office/drawing/2014/main" id="{CE4A5412-BCC3-40CF-9D43-22BC57983349}"/>
              </a:ext>
            </a:extLst>
          </p:cNvPr>
          <p:cNvSpPr>
            <a:spLocks noGrp="1"/>
          </p:cNvSpPr>
          <p:nvPr/>
        </p:nvSpPr>
        <p:spPr>
          <a:xfrm>
            <a:off x="8275444" y="7586215"/>
            <a:ext cx="9020327" cy="891794"/>
          </a:xfrm>
          <a:prstGeom prst="rect">
            <a:avLst/>
          </a:prstGeom>
        </p:spPr>
        <p:txBody>
          <a:bodyPr lIns="0" tIns="0" rIns="0" bIns="0" anchor="t">
            <a:spAutoFit/>
          </a:bodyPr>
          <a:lstStyle/>
          <a:p>
            <a:pPr algn="l">
              <a:lnSpc>
                <a:spcPts val="3511"/>
              </a:lnSpc>
              <a:buNone/>
            </a:pPr>
            <a:r>
              <a:rPr sz="2200">
                <a:solidFill>
                  <a:srgbClr val="3B4E4E"/>
                </a:solidFill>
                <a:latin typeface="Overpass Light"/>
                <a:ea typeface="Overpass Light"/>
                <a:cs typeface="Overpass Light"/>
              </a:rPr>
              <a:t>SakeStopは、注文の流れの中で、</a:t>
            </a:r>
          </a:p>
          <a:p>
            <a:pPr algn="l">
              <a:lnSpc>
                <a:spcPts val="3511"/>
              </a:lnSpc>
              <a:buNone/>
            </a:pPr>
            <a:r>
              <a:rPr sz="2200">
                <a:solidFill>
                  <a:srgbClr val="3B4E4E"/>
                </a:solidFill>
                <a:latin typeface="Overpass Light"/>
                <a:ea typeface="Overpass Light"/>
                <a:cs typeface="Overpass Light"/>
              </a:rPr>
              <a:t>自分の飲酒ペースを振り返れるアプリとして完成しました。</a:t>
            </a:r>
          </a:p>
        </p:txBody>
      </p:sp>
      <p:sp>
        <p:nvSpPr>
          <p:cNvPr id="23" name="gamma-badge-cover">
            <a:extLst>
              <a:ext uri="{FF2B5EF4-FFF2-40B4-BE49-F238E27FC236}">
                <a16:creationId xmlns:a16="http://schemas.microsoft.com/office/drawing/2014/main" id="{13DA4AA7-D167-42C1-A9CA-2A593727DFA3}"/>
              </a:ext>
            </a:extLst>
          </p:cNvPr>
          <p:cNvSpPr>
            <a:spLocks noGrp="1"/>
          </p:cNvSpPr>
          <p:nvPr/>
        </p:nvSpPr>
        <p:spPr>
          <a:xfrm>
            <a:off x="15982950" y="9601200"/>
            <a:ext cx="2305050" cy="685800"/>
          </a:xfrm>
          <a:prstGeom prst="rect">
            <a:avLst/>
          </a:prstGeom>
          <a:solidFill>
            <a:srgbClr val="FFFDE6"/>
          </a:solidFill>
          <a:ln w="0">
            <a:noFill/>
            <a:prstDash val="solid"/>
          </a:ln>
        </p:spPr>
        <p:txBody>
          <a:bodyPr/>
          <a:lstStyle/>
          <a:p>
            <a:endParaRPr lang="ja-JP" altLang="en-US"/>
          </a:p>
        </p:txBody>
      </p:sp>
    </p:spTree>
    <p:extLst>
      <p:ext uri="{BB962C8B-B14F-4D97-AF65-F5344CB8AC3E}">
        <p14:creationId xmlns:p14="http://schemas.microsoft.com/office/powerpoint/2010/main" val="936721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TotalTime>
  <Words>770</Words>
  <Application>Microsoft Office PowerPoint</Application>
  <DocSecurity>0</DocSecurity>
  <PresentationFormat>ユーザー設定</PresentationFormat>
  <Paragraphs>150</Paragraphs>
  <Slides>12</Slides>
  <Notes>12</Notes>
  <HiddenSlides>1</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vt:i4>
      </vt:variant>
    </vt:vector>
  </HeadingPairs>
  <TitlesOfParts>
    <vt:vector size="18" baseType="lpstr">
      <vt:lpstr>Overpass Light</vt:lpstr>
      <vt:lpstr>Calibri</vt:lpstr>
      <vt:lpstr>Syne Bold</vt:lpstr>
      <vt:lpstr>Overpass Bold</vt:lpstr>
      <vt:lpstr>Yu Gothic</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木村 耀丸(zeal23410142)</cp:lastModifiedBy>
  <cp:revision>3</cp:revision>
  <dcterms:created xsi:type="dcterms:W3CDTF">2026-07-14T06:26:21Z</dcterms:created>
  <dcterms:modified xsi:type="dcterms:W3CDTF">2026-07-15T01:34:46Z</dcterms:modified>
</cp:coreProperties>
</file>