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Yu Gothic" panose="020B0400000000000000" pitchFamily="50" charset="-128"/>
      <p:regular r:id="rId14"/>
      <p:bold r:id="rId15"/>
    </p:embeddedFont>
    <p:embeddedFont>
      <p:font typeface="Overpass Bold" panose="020B0600070205080204" charset="0"/>
      <p:regular r:id="rId16"/>
    </p:embeddedFont>
    <p:embeddedFont>
      <p:font typeface="Overpass Light" panose="020B0600070205080204" charset="0"/>
      <p:regular r:id="rId17"/>
    </p:embeddedFont>
    <p:embeddedFont>
      <p:font typeface="Syne Bold" panose="020B0600070205080204" charset="0"/>
      <p:regular r:id="rId18"/>
    </p:embeddedFont>
  </p:embeddedFontLst>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534" y="78"/>
      </p:cViewPr>
      <p:guideLst/>
    </p:cSldViewPr>
  </p:slideViewPr>
  <p:notesTextViewPr>
    <p:cViewPr>
      <p:scale>
        <a:sx n="3" d="2"/>
        <a:sy n="3" d="2"/>
      </p:scale>
      <p:origin x="-6" y="-1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t>
            </a:r>
            <a:r>
              <a:rPr dirty="0" err="1"/>
              <a:t>目安</a:t>
            </a:r>
            <a:r>
              <a:rPr dirty="0"/>
              <a:t> 20秒】</a:t>
            </a:r>
          </a:p>
          <a:p>
            <a:pPr marL="0" indent="0" algn="l">
              <a:lnSpc>
                <a:spcPct val="100000"/>
              </a:lnSpc>
              <a:spcBef>
                <a:spcPts val="0"/>
              </a:spcBef>
              <a:spcAft>
                <a:spcPts val="0"/>
              </a:spcAft>
              <a:buNone/>
            </a:pPr>
            <a:r>
              <a:rPr dirty="0"/>
              <a:t>私の作ったアプリは酒ストップというアル中を防止する注文アプリです。なぜ作ったかなんですが、半年前くらいにアル中で運ばれた人が友人にいまして、その子が点滴代金で結構持ってかれていて可哀そうだなと思ったことがきっかけです。</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t>
            </a:r>
            <a:r>
              <a:rPr dirty="0" err="1"/>
              <a:t>目安</a:t>
            </a:r>
            <a:r>
              <a:rPr dirty="0"/>
              <a:t> 45秒】</a:t>
            </a:r>
          </a:p>
          <a:p>
            <a:r>
              <a:rPr dirty="0" err="1"/>
              <a:t>この</a:t>
            </a:r>
            <a:r>
              <a:rPr lang="ja-JP" altLang="en-US" dirty="0"/>
              <a:t>こと</a:t>
            </a:r>
            <a:r>
              <a:rPr dirty="0" err="1"/>
              <a:t>から、同じように体調を崩す前に、自分の飲酒ペースに気づける仕組みを作りたいと考えました</a:t>
            </a:r>
            <a:r>
              <a:rPr dirty="0"/>
              <a:t>。</a:t>
            </a:r>
          </a:p>
          <a:p>
            <a:r>
              <a:rPr dirty="0" err="1"/>
              <a:t>ただし、お酒を強制的に止めたり注文を禁止したりすると、飲食店の注文アプリとしては使いにくくなります</a:t>
            </a:r>
            <a:r>
              <a:rPr dirty="0"/>
              <a:t>。</a:t>
            </a:r>
          </a:p>
          <a:p>
            <a:r>
              <a:rPr dirty="0"/>
              <a:t>そこで、通常の注文操作の中で純アルコール量と直近30分の量を表示し、利用者自身がペースを振り返れる形にしました。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40秒】</a:t>
            </a:r>
          </a:p>
          <a:p>
            <a:r>
              <a:t>では、この仕組みをどのような流れで使うのか説明します。</a:t>
            </a:r>
          </a:p>
          <a:p>
            <a:r>
              <a:t>利用の流れは四つです。テーブルIDとニックネームで開始し、商品を選び、カートで注文を確定します。</a:t>
            </a:r>
          </a:p>
          <a:p>
            <a:r>
              <a:t>確定した注文はFirebaseへ保存され、注文履歴と飲酒量へ反映されます。</a:t>
            </a:r>
          </a:p>
          <a:p>
            <a:r>
              <a:t>注文と記録が一つの流れで完結する点が特徴です。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50秒】</a:t>
            </a:r>
          </a:p>
          <a:p>
            <a:r>
              <a:t>この利用フローを作るうえで、特に検討したのが飲酒記録の方法です。</a:t>
            </a:r>
          </a:p>
          <a:p>
            <a:r>
              <a:t>当初は、飲んだ杯数を自分で入力するタップカウント型でした。</a:t>
            </a:r>
          </a:p>
          <a:p>
            <a:r>
              <a:t>しかし、毎回アプリを開く必要があり、入力忘れが起きやすいと考えました。</a:t>
            </a:r>
          </a:p>
          <a:p>
            <a:r>
              <a:t>そこで5月に方向転換し、注文確定をそのまま記録として使う方式に変更しました。</a:t>
            </a:r>
          </a:p>
          <a:p>
            <a:r>
              <a:t>追加の記録操作が不要なので、実際の利用場面に合いやすくなりました。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t>
            </a:r>
            <a:r>
              <a:rPr dirty="0" err="1"/>
              <a:t>目安</a:t>
            </a:r>
            <a:r>
              <a:rPr dirty="0"/>
              <a:t> 45秒】</a:t>
            </a:r>
          </a:p>
          <a:p>
            <a:r>
              <a:rPr lang="ja-JP" altLang="en-US" dirty="0"/>
              <a:t>酒ストップでは</a:t>
            </a:r>
            <a:r>
              <a:rPr dirty="0"/>
              <a:t>、</a:t>
            </a:r>
            <a:r>
              <a:rPr dirty="0" err="1"/>
              <a:t>主に三つの機能を実装しました</a:t>
            </a:r>
            <a:r>
              <a:rPr dirty="0"/>
              <a:t>。</a:t>
            </a:r>
          </a:p>
          <a:p>
            <a:r>
              <a:rPr dirty="0" err="1"/>
              <a:t>一つ目は注文機能で、商品の追加や数量変更、削除、注文確定ができます</a:t>
            </a:r>
            <a:r>
              <a:rPr dirty="0"/>
              <a:t>。</a:t>
            </a:r>
          </a:p>
          <a:p>
            <a:r>
              <a:rPr dirty="0" err="1"/>
              <a:t>二つ目はデータベース保存で、確定した注文内容をFirebaseへリアルタイムに保存します</a:t>
            </a:r>
            <a:r>
              <a:rPr dirty="0"/>
              <a:t>。</a:t>
            </a:r>
          </a:p>
          <a:p>
            <a:r>
              <a:rPr dirty="0" err="1"/>
              <a:t>三つ目はペース記録通知で、注文履歴から飲酒ペースを記録し、飲み過ぎに気づくための注意を表示します</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40秒】</a:t>
            </a:r>
          </a:p>
          <a:p>
            <a:r>
              <a:t>このペース記録で使う純アルコール量は、容量かける度数かける0.8、割る100で計算します。</a:t>
            </a:r>
          </a:p>
          <a:p>
            <a:r>
              <a:t>500ミリリットル、5パーセントのビールでは20グラムです。</a:t>
            </a:r>
          </a:p>
          <a:p>
            <a:r>
              <a:t>商品ごとに容量と度数を持たせ、計算結果を履歴と飲酒ペース表示に使っています。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45秒】</a:t>
            </a:r>
          </a:p>
          <a:p>
            <a:r>
              <a:t>この計算結果を使い、直近30分の純アルコール量が60グラム以上になると注意を表示します。</a:t>
            </a:r>
          </a:p>
          <a:p>
            <a:r>
              <a:t>同じ注意が続かないよう、通知後30分の間隔も設定しました。</a:t>
            </a:r>
          </a:p>
          <a:p>
            <a:r>
              <a:t>これは安全性や飲酒可否を判断する機能ではなく、自分のペースを振り返るための目安です。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45秒】</a:t>
            </a:r>
          </a:p>
          <a:p>
            <a:r>
              <a:t>以上が、SakeStopの主な機能と飲酒ペースの判定方法です。</a:t>
            </a:r>
          </a:p>
          <a:p>
            <a:r>
              <a:t>続いて、開発環境とスケジュールについて説明します。</a:t>
            </a:r>
          </a:p>
          <a:p>
            <a:r>
              <a:t>開発環境はFlutter 3.35.7、Dart 3.9.2で、Firebase Realtime DatabaseとGitを使いました。</a:t>
            </a:r>
          </a:p>
          <a:p>
            <a:r>
              <a:t>5月に仕様を見直し、6月にFirebase、カート、履歴、ペース判定を実装しました。</a:t>
            </a:r>
          </a:p>
          <a:p>
            <a:r>
              <a:t>7月はUI調整と不要機能の削除を行い、変更過程をコミット履歴へ残しました。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55秒】</a:t>
            </a:r>
          </a:p>
          <a:p>
            <a:r>
              <a:t>実装後は、静的解析、単体テスト、Widgetテストを行い、現在11件すべて成功しています。</a:t>
            </a:r>
          </a:p>
          <a:p>
            <a:r>
              <a:t>計算、30分集計、60グラムの境界、通知間隔、テーブルID検証、画面遷移を確認しました。</a:t>
            </a:r>
          </a:p>
          <a:p>
            <a:r>
              <a:t>AIはFirebaseの非同期処理、集計処理、エラー調査、仕様書と発表メモの文章整理に使い、最終的な内容と動作は自分で確認しました。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90秒／実機操作】</a:t>
            </a:r>
          </a:p>
          <a:p>
            <a:r>
              <a:t>ここからは、実際の画面を使って、利用開始から注文履歴の保存までを説明します。</a:t>
            </a:r>
          </a:p>
          <a:p>
            <a:r>
              <a:t>1. テーブルID「T01」で開始し、入力規則を説明します。</a:t>
            </a:r>
          </a:p>
          <a:p>
            <a:r>
              <a:t>2. ニックネームを入力します。空欄はゲストになります。</a:t>
            </a:r>
          </a:p>
          <a:p>
            <a:r>
              <a:t>3. 生ビールと料理をカートへ追加します。</a:t>
            </a:r>
          </a:p>
          <a:p>
            <a:r>
              <a:t>4. 数量変更を示して注文を確定します。ここでFirebaseへ保存されます。</a:t>
            </a:r>
          </a:p>
          <a:p>
            <a:r>
              <a:t>5. 注文履歴を開き、商品名、時刻、純アルコール量を確認します。</a:t>
            </a:r>
          </a:p>
          <a:p>
            <a:r>
              <a:t>時間があれば、ビール3杯分で60グラム以上の注意表示を示します。</a:t>
            </a:r>
          </a:p>
          <a:p>
            <a:r>
              <a:t>通信に失敗した場合は、このページの3画面を使って同じ流れを説明します。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35秒】</a:t>
            </a:r>
          </a:p>
          <a:p>
            <a:r>
              <a:t>実際の動作を見ていただいた通り、SakeStopでは、テーブル登録から商品選択、注文確定、履歴保存までの流れを一つのアプリにまとめました。</a:t>
            </a:r>
          </a:p>
          <a:p>
            <a:r>
              <a:t>注文時に純アルコール量を計算し、直近30分の合計を表示することで、自分の飲酒ペースを振り返れるようにしました。</a:t>
            </a:r>
          </a:p>
          <a:p>
            <a:r>
              <a:t>FlutterとFirebaseを使い、実装・テスト・資料作成まで完成させました。</a:t>
            </a:r>
          </a:p>
          <a:p>
            <a:r>
              <a:t>以上で発表を終わります。ありがとうございました。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68C29-C276-4DB6-B83E-8D4FEC91E2A4}"/>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636B67A0-9C4A-4551-973F-25D82059DC1E}"/>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2BD18C67-BF08-4968-87CC-C5B0B218FD8C}"/>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1596F0B0-335B-4E2A-B76F-BBCB5A63C22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C9D65AB-BCF5-49C9-88F4-F12791C12CCB}"/>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9EAE2-EF41-4ABD-9C69-DBCBFAC88E91}"/>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54574D3-3E01-465D-A071-2CD0992D2490}"/>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7C0EB537-33DB-4F34-9403-D2CBD52A499A}"/>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506013E9-322F-40EC-B4A6-220A0D9776E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A03BC11-586E-42FE-9252-679F0A247C1D}"/>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EF588-E59A-49E8-AF20-C74CA611A880}"/>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3E07C56-9610-4211-813A-8CC793611349}"/>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534826BA-9B51-4A5B-BC00-E447FC5F2DC4}"/>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42C52003-F6E4-4F33-8F52-85D8821AF3F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3CC663B-507C-4401-9767-C1D40D1E58BB}"/>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A1717-7D60-4D8A-A96E-DA13031B64D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ED1E287F-AD5F-4D26-A2F5-0AEB39DA9FE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D7DD2310-7DBA-43AA-AEE4-A1326059D648}"/>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EC3F609B-E296-46D3-A822-F011D2C7D810}"/>
              </a:ext>
            </a:extLst>
          </p:cNvPr>
          <p:cNvSpPr>
            <a:spLocks noGrp="1"/>
          </p:cNvSpPr>
          <p:nvPr>
            <p:ph type="dt" idx="10"/>
          </p:nvPr>
        </p:nvSpPr>
        <p:spPr/>
        <p:txBody>
          <a:bodyPr/>
          <a:lstStyle/>
          <a:p>
            <a:fld id="{1D8BD707-D9CF-40AE-B4C6-C98DA3205C09}" type="datetimeFigureOut">
              <a:t>2026/7/15</a:t>
            </a:fld>
            <a:endParaRPr/>
          </a:p>
        </p:txBody>
      </p:sp>
      <p:sp>
        <p:nvSpPr>
          <p:cNvPr id="6" name="Footer Placeholder 5">
            <a:extLst>
              <a:ext uri="{FF2B5EF4-FFF2-40B4-BE49-F238E27FC236}">
                <a16:creationId xmlns:a16="http://schemas.microsoft.com/office/drawing/2014/main" id="{92C83FDD-654D-415D-8F67-1CB7D5DE4B6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8481D460-7158-44B6-B8F6-E62C614AA82F}"/>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EE16B-A237-4E7F-AC57-236B17C2C055}"/>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A950E8A7-90CD-4140-A2A1-C49712C6B52A}"/>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CA84143C-F0B0-42A3-993A-51DAD8B1DBC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C8C08A66-586A-4361-805E-FA6727F43696}"/>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C03CC53F-DFB2-4B01-A694-03BC85FE295B}"/>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832F8F6A-06AD-49D5-96DD-C89D408CD5C5}"/>
              </a:ext>
            </a:extLst>
          </p:cNvPr>
          <p:cNvSpPr>
            <a:spLocks noGrp="1"/>
          </p:cNvSpPr>
          <p:nvPr>
            <p:ph type="dt" idx="10"/>
          </p:nvPr>
        </p:nvSpPr>
        <p:spPr/>
        <p:txBody>
          <a:bodyPr/>
          <a:lstStyle/>
          <a:p>
            <a:fld id="{1D8BD707-D9CF-40AE-B4C6-C98DA3205C09}" type="datetimeFigureOut">
              <a:t>2026/7/15</a:t>
            </a:fld>
            <a:endParaRPr/>
          </a:p>
        </p:txBody>
      </p:sp>
      <p:sp>
        <p:nvSpPr>
          <p:cNvPr id="8" name="Footer Placeholder 7">
            <a:extLst>
              <a:ext uri="{FF2B5EF4-FFF2-40B4-BE49-F238E27FC236}">
                <a16:creationId xmlns:a16="http://schemas.microsoft.com/office/drawing/2014/main" id="{3BD205FB-3A0B-46D9-A9D1-AE8DC22569AF}"/>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A441F4B1-4AFA-4E64-90D8-5DF21F1BE92E}"/>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1ADEB-BAED-4911-BB7B-A12B853203D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02C05DAC-2F88-4741-9597-94D140F0B47D}"/>
              </a:ext>
            </a:extLst>
          </p:cNvPr>
          <p:cNvSpPr>
            <a:spLocks noGrp="1"/>
          </p:cNvSpPr>
          <p:nvPr>
            <p:ph type="dt" idx="10"/>
          </p:nvPr>
        </p:nvSpPr>
        <p:spPr/>
        <p:txBody>
          <a:bodyPr/>
          <a:lstStyle/>
          <a:p>
            <a:fld id="{1D8BD707-D9CF-40AE-B4C6-C98DA3205C09}" type="datetimeFigureOut">
              <a:t>2026/7/15</a:t>
            </a:fld>
            <a:endParaRPr/>
          </a:p>
        </p:txBody>
      </p:sp>
      <p:sp>
        <p:nvSpPr>
          <p:cNvPr id="4" name="Footer Placeholder 3">
            <a:extLst>
              <a:ext uri="{FF2B5EF4-FFF2-40B4-BE49-F238E27FC236}">
                <a16:creationId xmlns:a16="http://schemas.microsoft.com/office/drawing/2014/main" id="{17D4982B-20E5-42A1-B397-6AA989996DFF}"/>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1E9B44D-4763-4B96-9257-F8BDE193E422}"/>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6599A0-4C4F-4D22-9554-8CD992CB0044}"/>
              </a:ext>
            </a:extLst>
          </p:cNvPr>
          <p:cNvSpPr>
            <a:spLocks noGrp="1"/>
          </p:cNvSpPr>
          <p:nvPr>
            <p:ph type="dt" idx="10"/>
          </p:nvPr>
        </p:nvSpPr>
        <p:spPr/>
        <p:txBody>
          <a:bodyPr/>
          <a:lstStyle/>
          <a:p>
            <a:fld id="{1D8BD707-D9CF-40AE-B4C6-C98DA3205C09}" type="datetimeFigureOut">
              <a:t>2026/7/15</a:t>
            </a:fld>
            <a:endParaRPr/>
          </a:p>
        </p:txBody>
      </p:sp>
      <p:sp>
        <p:nvSpPr>
          <p:cNvPr id="3" name="Footer Placeholder 2">
            <a:extLst>
              <a:ext uri="{FF2B5EF4-FFF2-40B4-BE49-F238E27FC236}">
                <a16:creationId xmlns:a16="http://schemas.microsoft.com/office/drawing/2014/main" id="{7E93D3A3-F711-43AB-AADC-CCC9C3C9075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CA7765E8-4180-4012-A6F4-F67F6B7DF8CC}"/>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EB3D1-991C-416F-917D-E70408B4D4E9}"/>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4F065201-07A1-43B4-8A77-6EA582CA116F}"/>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4613390C-69C4-41B0-9136-401E721167DD}"/>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E35B18CF-83AD-40CC-82C4-6B87AC128DCF}"/>
              </a:ext>
            </a:extLst>
          </p:cNvPr>
          <p:cNvSpPr>
            <a:spLocks noGrp="1"/>
          </p:cNvSpPr>
          <p:nvPr>
            <p:ph type="dt" idx="10"/>
          </p:nvPr>
        </p:nvSpPr>
        <p:spPr/>
        <p:txBody>
          <a:bodyPr/>
          <a:lstStyle/>
          <a:p>
            <a:fld id="{1D8BD707-D9CF-40AE-B4C6-C98DA3205C09}" type="datetimeFigureOut">
              <a:t>2026/7/15</a:t>
            </a:fld>
            <a:endParaRPr/>
          </a:p>
        </p:txBody>
      </p:sp>
      <p:sp>
        <p:nvSpPr>
          <p:cNvPr id="6" name="Footer Placeholder 5">
            <a:extLst>
              <a:ext uri="{FF2B5EF4-FFF2-40B4-BE49-F238E27FC236}">
                <a16:creationId xmlns:a16="http://schemas.microsoft.com/office/drawing/2014/main" id="{0478B97E-8877-47BA-A1F9-7CA80FB339E1}"/>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09DE474-F460-43C1-94C7-A17547C7D900}"/>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CA0D1-513B-45A1-96BC-FCA6122AF038}"/>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7D867D5D-9EF6-4F30-BA05-20670F0A6E1C}"/>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A5032F2C-4A2B-4A15-94CE-E74E968ED800}"/>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6F75BDEF-641C-4B7A-A5E9-1497C9A41813}"/>
              </a:ext>
            </a:extLst>
          </p:cNvPr>
          <p:cNvSpPr>
            <a:spLocks noGrp="1"/>
          </p:cNvSpPr>
          <p:nvPr>
            <p:ph type="dt" idx="10"/>
          </p:nvPr>
        </p:nvSpPr>
        <p:spPr/>
        <p:txBody>
          <a:bodyPr/>
          <a:lstStyle/>
          <a:p>
            <a:fld id="{1D8BD707-D9CF-40AE-B4C6-C98DA3205C09}" type="datetimeFigureOut">
              <a:t>2026/7/15</a:t>
            </a:fld>
            <a:endParaRPr/>
          </a:p>
        </p:txBody>
      </p:sp>
      <p:sp>
        <p:nvSpPr>
          <p:cNvPr id="6" name="Footer Placeholder 5">
            <a:extLst>
              <a:ext uri="{FF2B5EF4-FFF2-40B4-BE49-F238E27FC236}">
                <a16:creationId xmlns:a16="http://schemas.microsoft.com/office/drawing/2014/main" id="{E9698502-E2E5-4A1B-9B15-EEED5E2436D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70034F5-966D-40BC-B784-FA09E6EA0858}"/>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9BA31-19C9-4805-898F-63A7D0BED3A2}"/>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40FC478-D52A-4F73-90F0-46A910779B48}"/>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26CEAB3-F976-4317-9C33-3C72183EBAF5}"/>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25A66739-4B95-4A57-989F-A73733F85AC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734E71D-EE7A-413E-9BC3-B4BA763F51E7}"/>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F37FF9-5C62-47DB-906F-860C4AF3C0F6}"/>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A93CDD55-AF52-4F56-B9EF-97917BA0F6A0}"/>
              </a:ext>
            </a:extLst>
          </p:cNvPr>
          <p:cNvSpPr>
            <a:spLocks noGrp="1"/>
          </p:cNvSpPr>
          <p:nvPr>
            <p:ph type="body" idx="1"/>
          </p:nvPr>
        </p:nvSpPr>
        <p:spPr>
          <a:xfrm>
            <a:off x="457200" y="274638"/>
            <a:ext cx="6019800" cy="5851525"/>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77645DAE-1FE2-4860-A595-83E1BCDCCDAD}"/>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F541DE04-7444-49B8-A86E-3E3EA5F799B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A3209C3-BBC8-452E-96E5-3AF849188FF8}"/>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6B46436-3BFF-4C01-80CC-2931DA72EDA9}"/>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32DC9566-FCC6-4227-B701-B66AFA33B009}"/>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19B59B1B-54D4-46B3-8E59-312B6B2AA96D}"/>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22FF217B-5F81-47E3-8F9B-3C4BC35A4D9E}"/>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DB6EA99D-E7AE-4A43-9247-99B8DDDC9F64}"/>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buNone/>
        <a:defRPr sz="4400">
          <a:solidFill>
            <a:schemeClr val="tx1"/>
          </a:solidFill>
          <a:latin typeface="+mj-lt"/>
          <a:ea typeface="+mj-lt"/>
          <a:cs typeface="+mj-lt"/>
        </a:defRPr>
      </a:lvl1pPr>
    </p:titleStyle>
    <p:bodyStyle>
      <a:lvl1pPr marL="342900" indent="-342900" algn="l">
        <a:buChar char="•"/>
        <a:defRPr sz="3200">
          <a:solidFill>
            <a:schemeClr val="tx1"/>
          </a:solidFill>
          <a:latin typeface="+mn-lt"/>
          <a:ea typeface="+mn-lt"/>
          <a:cs typeface="+mn-lt"/>
        </a:defRPr>
      </a:lvl1pPr>
      <a:lvl2pPr marL="742950" indent="-285750" algn="l">
        <a:buChar char="–"/>
        <a:defRPr sz="2800">
          <a:solidFill>
            <a:schemeClr val="tx1"/>
          </a:solidFill>
          <a:latin typeface="+mn-lt"/>
          <a:ea typeface="+mn-lt"/>
          <a:cs typeface="+mn-lt"/>
        </a:defRPr>
      </a:lvl2pPr>
      <a:lvl3pPr marL="1143000" indent="-228600" algn="l">
        <a:buChar char="•"/>
        <a:defRPr sz="2400">
          <a:solidFill>
            <a:schemeClr val="tx1"/>
          </a:solidFill>
          <a:latin typeface="+mn-lt"/>
          <a:ea typeface="+mn-lt"/>
          <a:cs typeface="+mn-lt"/>
        </a:defRPr>
      </a:lvl3pPr>
      <a:lvl4pPr marL="1600200" indent="-228600" algn="l">
        <a:buChar char="–"/>
        <a:defRPr sz="2000">
          <a:solidFill>
            <a:schemeClr val="tx1"/>
          </a:solidFill>
          <a:latin typeface="+mn-lt"/>
          <a:ea typeface="+mn-lt"/>
          <a:cs typeface="+mn-lt"/>
        </a:defRPr>
      </a:lvl4pPr>
      <a:lvl5pPr marL="2057400" indent="-228600" algn="l">
        <a:buChar char="»"/>
        <a:defRPr sz="2000">
          <a:solidFill>
            <a:schemeClr val="tx1"/>
          </a:solidFill>
          <a:latin typeface="+mn-lt"/>
          <a:ea typeface="+mn-lt"/>
          <a:cs typeface="+mn-lt"/>
        </a:defRPr>
      </a:lvl5pPr>
      <a:lvl6pPr marL="2514600" indent="-228600" algn="l">
        <a:buChar char="•"/>
        <a:defRPr sz="2000">
          <a:solidFill>
            <a:schemeClr val="tx1"/>
          </a:solidFill>
          <a:latin typeface="+mn-lt"/>
          <a:ea typeface="+mn-lt"/>
          <a:cs typeface="+mn-lt"/>
        </a:defRPr>
      </a:lvl6pPr>
      <a:lvl7pPr marL="2971800" indent="-228600" algn="l">
        <a:buChar char="•"/>
        <a:defRPr sz="2000">
          <a:solidFill>
            <a:schemeClr val="tx1"/>
          </a:solidFill>
          <a:latin typeface="+mn-lt"/>
          <a:ea typeface="+mn-lt"/>
          <a:cs typeface="+mn-lt"/>
        </a:defRPr>
      </a:lvl7pPr>
      <a:lvl8pPr marL="3429000" indent="-228600" algn="l">
        <a:buChar char="•"/>
        <a:defRPr sz="2000">
          <a:solidFill>
            <a:schemeClr val="tx1"/>
          </a:solidFill>
          <a:latin typeface="+mn-lt"/>
          <a:ea typeface="+mn-lt"/>
          <a:cs typeface="+mn-lt"/>
        </a:defRPr>
      </a:lvl8pPr>
      <a:lvl9pPr marL="3886200" indent="-228600" algn="l">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58E2AB53-0560-42B7-B9CC-6314D2DD2FDF}"/>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9CC0063B-079E-4EB7-B0E4-0C0F03A7B244}"/>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9" name="Freeform 9">
            <a:extLst>
              <a:ext uri="{FF2B5EF4-FFF2-40B4-BE49-F238E27FC236}">
                <a16:creationId xmlns:a16="http://schemas.microsoft.com/office/drawing/2014/main" id="{5F40831B-3D1E-470B-8D10-21B67DEF4412}"/>
              </a:ext>
            </a:extLst>
          </p:cNvPr>
          <p:cNvSpPr>
            <a:spLocks noGrp="1"/>
          </p:cNvSpPr>
          <p:nvPr/>
        </p:nvSpPr>
        <p:spPr>
          <a:xfrm>
            <a:off x="11430000" y="0"/>
            <a:ext cx="6858000" cy="10287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txBody>
          <a:bodyPr/>
          <a:lstStyle/>
          <a:p>
            <a:endParaRPr/>
          </a:p>
        </p:txBody>
      </p:sp>
      <p:sp>
        <p:nvSpPr>
          <p:cNvPr id="10" name="TextBox 10">
            <a:extLst>
              <a:ext uri="{FF2B5EF4-FFF2-40B4-BE49-F238E27FC236}">
                <a16:creationId xmlns:a16="http://schemas.microsoft.com/office/drawing/2014/main" id="{CCF020D6-4CAC-4FE0-A629-639B78BC928A}"/>
              </a:ext>
            </a:extLst>
          </p:cNvPr>
          <p:cNvSpPr>
            <a:spLocks noGrp="1"/>
          </p:cNvSpPr>
          <p:nvPr/>
        </p:nvSpPr>
        <p:spPr>
          <a:xfrm>
            <a:off x="992238" y="4005710"/>
            <a:ext cx="9445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SakeStop</a:t>
            </a:r>
          </a:p>
        </p:txBody>
      </p:sp>
      <p:sp>
        <p:nvSpPr>
          <p:cNvPr id="11" name="TextBox 11">
            <a:extLst>
              <a:ext uri="{FF2B5EF4-FFF2-40B4-BE49-F238E27FC236}">
                <a16:creationId xmlns:a16="http://schemas.microsoft.com/office/drawing/2014/main" id="{B274696D-BD78-4A6A-B6D0-346803FE209A}"/>
              </a:ext>
            </a:extLst>
          </p:cNvPr>
          <p:cNvSpPr>
            <a:spLocks noGrp="1"/>
          </p:cNvSpPr>
          <p:nvPr/>
        </p:nvSpPr>
        <p:spPr>
          <a:xfrm>
            <a:off x="992238" y="5259734"/>
            <a:ext cx="9445523" cy="421269"/>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居酒屋の注文と飲酒ペースを記録</a:t>
            </a:r>
          </a:p>
        </p:txBody>
      </p:sp>
    </p:spTree>
    <p:extLst>
      <p:ext uri="{BB962C8B-B14F-4D97-AF65-F5344CB8AC3E}">
        <p14:creationId xmlns:p14="http://schemas.microsoft.com/office/powerpoint/2010/main" val="5911778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CDA0FB0A-E389-42E9-95A4-D910700FEDB8}"/>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66D4717E-A514-4710-88F6-3E823AD38FB9}"/>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9" name="Freeform 9">
            <a:extLst>
              <a:ext uri="{FF2B5EF4-FFF2-40B4-BE49-F238E27FC236}">
                <a16:creationId xmlns:a16="http://schemas.microsoft.com/office/drawing/2014/main" id="{88D03FF9-5DE5-4167-AA48-F2327521468F}"/>
              </a:ext>
            </a:extLst>
          </p:cNvPr>
          <p:cNvSpPr>
            <a:spLocks noGrp="1"/>
          </p:cNvSpPr>
          <p:nvPr/>
        </p:nvSpPr>
        <p:spPr>
          <a:xfrm>
            <a:off x="11430000" y="0"/>
            <a:ext cx="6858000" cy="10287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l="-62" r="-62"/>
            </a:stretch>
          </a:blipFill>
        </p:spPr>
        <p:txBody>
          <a:bodyPr/>
          <a:lstStyle/>
          <a:p>
            <a:endParaRPr/>
          </a:p>
        </p:txBody>
      </p:sp>
      <p:sp>
        <p:nvSpPr>
          <p:cNvPr id="11" name="Freeform 11">
            <a:extLst>
              <a:ext uri="{FF2B5EF4-FFF2-40B4-BE49-F238E27FC236}">
                <a16:creationId xmlns:a16="http://schemas.microsoft.com/office/drawing/2014/main" id="{EA1415BC-0C49-4AFE-8B9A-E5478A506078}"/>
              </a:ext>
            </a:extLst>
          </p:cNvPr>
          <p:cNvSpPr>
            <a:spLocks noGrp="1"/>
          </p:cNvSpPr>
          <p:nvPr/>
        </p:nvSpPr>
        <p:spPr>
          <a:xfrm>
            <a:off x="987476" y="4527794"/>
            <a:ext cx="9455086" cy="3314985"/>
          </a:xfrm>
          <a:custGeom>
            <a:avLst/>
            <a:gdLst/>
            <a:ahLst/>
            <a:cxnLst/>
            <a:rect l="l" t="t" r="r" b="b"/>
            <a:pathLst>
              <a:path w="12606782" h="4419981">
                <a:moveTo>
                  <a:pt x="0" y="159258"/>
                </a:moveTo>
                <a:cubicBezTo>
                  <a:pt x="0" y="71247"/>
                  <a:pt x="71247" y="0"/>
                  <a:pt x="159258" y="0"/>
                </a:cubicBezTo>
                <a:lnTo>
                  <a:pt x="12447524" y="0"/>
                </a:lnTo>
                <a:cubicBezTo>
                  <a:pt x="12535535" y="0"/>
                  <a:pt x="12606782" y="71247"/>
                  <a:pt x="12606782" y="159258"/>
                </a:cubicBezTo>
                <a:lnTo>
                  <a:pt x="12606782" y="4260723"/>
                </a:lnTo>
                <a:cubicBezTo>
                  <a:pt x="12606782" y="4348734"/>
                  <a:pt x="12535535" y="4419981"/>
                  <a:pt x="12447524" y="4419981"/>
                </a:cubicBezTo>
                <a:lnTo>
                  <a:pt x="159258" y="4419981"/>
                </a:lnTo>
                <a:cubicBezTo>
                  <a:pt x="71247" y="4419981"/>
                  <a:pt x="0" y="4348734"/>
                  <a:pt x="0" y="4260723"/>
                </a:cubicBezTo>
                <a:close/>
              </a:path>
            </a:pathLst>
          </a:custGeom>
          <a:solidFill>
            <a:srgbClr val="DDEEE6"/>
          </a:solidFill>
          <a:ln w="9526">
            <a:solidFill>
              <a:srgbClr val="C3D4CC"/>
            </a:solidFill>
            <a:prstDash val="solid"/>
          </a:ln>
        </p:spPr>
        <p:txBody>
          <a:bodyPr/>
          <a:lstStyle/>
          <a:p>
            <a:endParaRPr/>
          </a:p>
        </p:txBody>
      </p:sp>
      <p:sp>
        <p:nvSpPr>
          <p:cNvPr id="13" name="Freeform 13">
            <a:extLst>
              <a:ext uri="{FF2B5EF4-FFF2-40B4-BE49-F238E27FC236}">
                <a16:creationId xmlns:a16="http://schemas.microsoft.com/office/drawing/2014/main" id="{ED100BD9-1FAB-4953-BB0F-099B2C1356FA}"/>
              </a:ext>
            </a:extLst>
          </p:cNvPr>
          <p:cNvSpPr>
            <a:spLocks noGrp="1"/>
          </p:cNvSpPr>
          <p:nvPr/>
        </p:nvSpPr>
        <p:spPr>
          <a:xfrm>
            <a:off x="1001763" y="4542082"/>
            <a:ext cx="9426511" cy="1643253"/>
          </a:xfrm>
          <a:custGeom>
            <a:avLst/>
            <a:gdLst/>
            <a:ahLst/>
            <a:cxnLst/>
            <a:rect l="l" t="t" r="r" b="b"/>
            <a:pathLst>
              <a:path w="12568682" h="2191004">
                <a:moveTo>
                  <a:pt x="0" y="0"/>
                </a:moveTo>
                <a:lnTo>
                  <a:pt x="12568682" y="0"/>
                </a:lnTo>
                <a:lnTo>
                  <a:pt x="12568682" y="2191004"/>
                </a:lnTo>
                <a:lnTo>
                  <a:pt x="0" y="2191004"/>
                </a:lnTo>
                <a:close/>
              </a:path>
            </a:pathLst>
          </a:custGeom>
          <a:solidFill>
            <a:srgbClr val="DDEEE6"/>
          </a:solidFill>
        </p:spPr>
        <p:txBody>
          <a:bodyPr/>
          <a:lstStyle/>
          <a:p>
            <a:endParaRPr/>
          </a:p>
        </p:txBody>
      </p:sp>
      <p:sp>
        <p:nvSpPr>
          <p:cNvPr id="15" name="Freeform 15">
            <a:extLst>
              <a:ext uri="{FF2B5EF4-FFF2-40B4-BE49-F238E27FC236}">
                <a16:creationId xmlns:a16="http://schemas.microsoft.com/office/drawing/2014/main" id="{76CF3778-337A-4018-A5B3-7E21D904AC35}"/>
              </a:ext>
            </a:extLst>
          </p:cNvPr>
          <p:cNvSpPr>
            <a:spLocks noGrp="1"/>
          </p:cNvSpPr>
          <p:nvPr/>
        </p:nvSpPr>
        <p:spPr>
          <a:xfrm>
            <a:off x="1001763" y="6185297"/>
            <a:ext cx="9426511" cy="1643253"/>
          </a:xfrm>
          <a:custGeom>
            <a:avLst/>
            <a:gdLst/>
            <a:ahLst/>
            <a:cxnLst/>
            <a:rect l="l" t="t" r="r" b="b"/>
            <a:pathLst>
              <a:path w="12568682" h="2191004">
                <a:moveTo>
                  <a:pt x="0" y="0"/>
                </a:moveTo>
                <a:lnTo>
                  <a:pt x="12568682" y="0"/>
                </a:lnTo>
                <a:lnTo>
                  <a:pt x="12568682" y="2191004"/>
                </a:lnTo>
                <a:lnTo>
                  <a:pt x="0" y="2191004"/>
                </a:lnTo>
                <a:close/>
              </a:path>
            </a:pathLst>
          </a:custGeom>
          <a:solidFill>
            <a:srgbClr val="DDEEE6"/>
          </a:solidFill>
        </p:spPr>
        <p:txBody>
          <a:bodyPr/>
          <a:lstStyle/>
          <a:p>
            <a:endParaRPr/>
          </a:p>
        </p:txBody>
      </p:sp>
      <p:sp>
        <p:nvSpPr>
          <p:cNvPr id="17" name="Freeform 17">
            <a:extLst>
              <a:ext uri="{FF2B5EF4-FFF2-40B4-BE49-F238E27FC236}">
                <a16:creationId xmlns:a16="http://schemas.microsoft.com/office/drawing/2014/main" id="{85ECDDEB-1B86-429A-A48D-3793663134FF}"/>
              </a:ext>
            </a:extLst>
          </p:cNvPr>
          <p:cNvSpPr>
            <a:spLocks noGrp="1"/>
          </p:cNvSpPr>
          <p:nvPr/>
        </p:nvSpPr>
        <p:spPr>
          <a:xfrm>
            <a:off x="1001763" y="6185297"/>
            <a:ext cx="9426511" cy="38100"/>
          </a:xfrm>
          <a:custGeom>
            <a:avLst/>
            <a:gdLst/>
            <a:ahLst/>
            <a:cxnLst/>
            <a:rect l="l" t="t" r="r" b="b"/>
            <a:pathLst>
              <a:path w="12568682" h="50800">
                <a:moveTo>
                  <a:pt x="0" y="25400"/>
                </a:moveTo>
                <a:cubicBezTo>
                  <a:pt x="0" y="11430"/>
                  <a:pt x="11430" y="0"/>
                  <a:pt x="25400" y="0"/>
                </a:cubicBezTo>
                <a:lnTo>
                  <a:pt x="12543282" y="0"/>
                </a:lnTo>
                <a:cubicBezTo>
                  <a:pt x="12557251" y="0"/>
                  <a:pt x="12568682" y="11430"/>
                  <a:pt x="12568682" y="25400"/>
                </a:cubicBezTo>
                <a:cubicBezTo>
                  <a:pt x="12568682" y="39370"/>
                  <a:pt x="12557251" y="50800"/>
                  <a:pt x="12543282" y="50800"/>
                </a:cubicBezTo>
                <a:lnTo>
                  <a:pt x="25400" y="50800"/>
                </a:lnTo>
                <a:cubicBezTo>
                  <a:pt x="11430" y="50800"/>
                  <a:pt x="0" y="39370"/>
                  <a:pt x="0" y="25400"/>
                </a:cubicBezTo>
                <a:close/>
              </a:path>
            </a:pathLst>
          </a:custGeom>
          <a:solidFill>
            <a:srgbClr val="C3D4CC"/>
          </a:solidFill>
        </p:spPr>
        <p:txBody>
          <a:bodyPr/>
          <a:lstStyle/>
          <a:p>
            <a:endParaRPr/>
          </a:p>
        </p:txBody>
      </p:sp>
      <p:sp>
        <p:nvSpPr>
          <p:cNvPr id="18" name="TextBox 18">
            <a:extLst>
              <a:ext uri="{FF2B5EF4-FFF2-40B4-BE49-F238E27FC236}">
                <a16:creationId xmlns:a16="http://schemas.microsoft.com/office/drawing/2014/main" id="{F688FE79-FF58-40B1-967A-025F78B22DCD}"/>
              </a:ext>
            </a:extLst>
          </p:cNvPr>
          <p:cNvSpPr>
            <a:spLocks noGrp="1"/>
          </p:cNvSpPr>
          <p:nvPr/>
        </p:nvSpPr>
        <p:spPr>
          <a:xfrm>
            <a:off x="992238" y="2420245"/>
            <a:ext cx="9445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アプリの目的</a:t>
            </a:r>
          </a:p>
        </p:txBody>
      </p:sp>
      <p:sp>
        <p:nvSpPr>
          <p:cNvPr id="19" name="TextBox 19">
            <a:extLst>
              <a:ext uri="{FF2B5EF4-FFF2-40B4-BE49-F238E27FC236}">
                <a16:creationId xmlns:a16="http://schemas.microsoft.com/office/drawing/2014/main" id="{C6B6A3A4-1531-4835-B71D-9DD11B1A2D11}"/>
              </a:ext>
            </a:extLst>
          </p:cNvPr>
          <p:cNvSpPr>
            <a:spLocks noGrp="1"/>
          </p:cNvSpPr>
          <p:nvPr/>
        </p:nvSpPr>
        <p:spPr>
          <a:xfrm>
            <a:off x="992238" y="3674269"/>
            <a:ext cx="10359923"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飲み過ぎで体調を崩す前に、自分のペースを振り返れるようにする</a:t>
            </a:r>
          </a:p>
        </p:txBody>
      </p:sp>
      <p:sp>
        <p:nvSpPr>
          <p:cNvPr id="20" name="TextBox 20">
            <a:extLst>
              <a:ext uri="{FF2B5EF4-FFF2-40B4-BE49-F238E27FC236}">
                <a16:creationId xmlns:a16="http://schemas.microsoft.com/office/drawing/2014/main" id="{F50B5CE4-309B-4BAB-9871-B1996538D280}"/>
              </a:ext>
            </a:extLst>
          </p:cNvPr>
          <p:cNvSpPr>
            <a:spLocks noGrp="1"/>
          </p:cNvSpPr>
          <p:nvPr/>
        </p:nvSpPr>
        <p:spPr>
          <a:xfrm>
            <a:off x="1285284" y="4806553"/>
            <a:ext cx="8859441" cy="471488"/>
          </a:xfrm>
          <a:prstGeom prst="rect">
            <a:avLst/>
          </a:prstGeom>
        </p:spPr>
        <p:txBody>
          <a:bodyPr lIns="0" tIns="0" rIns="0" bIns="0" anchor="t">
            <a:spAutoFit/>
          </a:bodyPr>
          <a:lstStyle/>
          <a:p>
            <a:pPr algn="l">
              <a:lnSpc>
                <a:spcPts val="3369"/>
              </a:lnSpc>
              <a:buNone/>
            </a:pPr>
            <a:r>
              <a:rPr sz="2700" b="1">
                <a:solidFill>
                  <a:srgbClr val="000000"/>
                </a:solidFill>
                <a:latin typeface="Syne Bold"/>
                <a:ea typeface="Syne Bold"/>
                <a:cs typeface="Syne Bold"/>
              </a:rPr>
              <a:t>❌</a:t>
            </a:r>
            <a:r>
              <a:rPr sz="2700" b="1">
                <a:solidFill>
                  <a:srgbClr val="3B4E4E"/>
                </a:solidFill>
                <a:latin typeface="Syne Bold"/>
                <a:ea typeface="Syne Bold"/>
                <a:cs typeface="Syne Bold"/>
              </a:rPr>
              <a:t> 強制ストップ</a:t>
            </a:r>
          </a:p>
        </p:txBody>
      </p:sp>
      <p:sp>
        <p:nvSpPr>
          <p:cNvPr id="21" name="TextBox 21">
            <a:extLst>
              <a:ext uri="{FF2B5EF4-FFF2-40B4-BE49-F238E27FC236}">
                <a16:creationId xmlns:a16="http://schemas.microsoft.com/office/drawing/2014/main" id="{B05BE07B-12E1-4E93-A68D-76A76582EFB5}"/>
              </a:ext>
            </a:extLst>
          </p:cNvPr>
          <p:cNvSpPr>
            <a:spLocks noGrp="1"/>
          </p:cNvSpPr>
          <p:nvPr/>
        </p:nvSpPr>
        <p:spPr>
          <a:xfrm>
            <a:off x="1285284" y="5362423"/>
            <a:ext cx="8859441"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飲酒を制限する機能はありません</a:t>
            </a:r>
          </a:p>
        </p:txBody>
      </p:sp>
      <p:sp>
        <p:nvSpPr>
          <p:cNvPr id="22" name="TextBox 22">
            <a:extLst>
              <a:ext uri="{FF2B5EF4-FFF2-40B4-BE49-F238E27FC236}">
                <a16:creationId xmlns:a16="http://schemas.microsoft.com/office/drawing/2014/main" id="{F095EE85-FF58-4825-85A4-FF523EF2A699}"/>
              </a:ext>
            </a:extLst>
          </p:cNvPr>
          <p:cNvSpPr>
            <a:spLocks noGrp="1"/>
          </p:cNvSpPr>
          <p:nvPr/>
        </p:nvSpPr>
        <p:spPr>
          <a:xfrm>
            <a:off x="1285284" y="6449768"/>
            <a:ext cx="8859441" cy="471488"/>
          </a:xfrm>
          <a:prstGeom prst="rect">
            <a:avLst/>
          </a:prstGeom>
        </p:spPr>
        <p:txBody>
          <a:bodyPr lIns="0" tIns="0" rIns="0" bIns="0" anchor="t">
            <a:spAutoFit/>
          </a:bodyPr>
          <a:lstStyle/>
          <a:p>
            <a:pPr algn="l">
              <a:lnSpc>
                <a:spcPts val="3369"/>
              </a:lnSpc>
              <a:buNone/>
            </a:pPr>
            <a:r>
              <a:rPr sz="2700" b="1">
                <a:solidFill>
                  <a:srgbClr val="000000"/>
                </a:solidFill>
                <a:latin typeface="Syne Bold"/>
                <a:ea typeface="Syne Bold"/>
                <a:cs typeface="Syne Bold"/>
              </a:rPr>
              <a:t>✅</a:t>
            </a:r>
            <a:r>
              <a:rPr sz="2700" b="1">
                <a:solidFill>
                  <a:srgbClr val="3B4E4E"/>
                </a:solidFill>
                <a:latin typeface="Syne Bold"/>
                <a:ea typeface="Syne Bold"/>
                <a:cs typeface="Syne Bold"/>
              </a:rPr>
              <a:t> 気づきを促す</a:t>
            </a:r>
          </a:p>
        </p:txBody>
      </p:sp>
      <p:sp>
        <p:nvSpPr>
          <p:cNvPr id="23" name="TextBox 23">
            <a:extLst>
              <a:ext uri="{FF2B5EF4-FFF2-40B4-BE49-F238E27FC236}">
                <a16:creationId xmlns:a16="http://schemas.microsoft.com/office/drawing/2014/main" id="{66E04541-2F11-4CED-A691-5C7F181F2079}"/>
              </a:ext>
            </a:extLst>
          </p:cNvPr>
          <p:cNvSpPr>
            <a:spLocks noGrp="1"/>
          </p:cNvSpPr>
          <p:nvPr/>
        </p:nvSpPr>
        <p:spPr>
          <a:xfrm>
            <a:off x="1285284" y="7005637"/>
            <a:ext cx="8859441"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注文のついでに、自分の飲酒ペースを確認できます</a:t>
            </a:r>
          </a:p>
        </p:txBody>
      </p:sp>
    </p:spTree>
    <p:extLst>
      <p:ext uri="{BB962C8B-B14F-4D97-AF65-F5344CB8AC3E}">
        <p14:creationId xmlns:p14="http://schemas.microsoft.com/office/powerpoint/2010/main" val="7102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20FDE7B8-8A60-76AE-6824-CFB03A6EDFA6}"/>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C2D1B578-C73E-6730-EEAF-E48C4E8DE0D2}"/>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CEE5C97F-225E-179A-B9E2-6AE0FD78CBA7}"/>
              </a:ext>
            </a:extLst>
          </p:cNvPr>
          <p:cNvSpPr>
            <a:spLocks noGrp="1"/>
          </p:cNvSpPr>
          <p:nvPr/>
        </p:nvSpPr>
        <p:spPr>
          <a:xfrm>
            <a:off x="992238" y="1686220"/>
            <a:ext cx="16303523" cy="857607"/>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利用フロー</a:t>
            </a:r>
          </a:p>
        </p:txBody>
      </p:sp>
      <p:sp>
        <p:nvSpPr>
          <p:cNvPr id="7" name="Freeform 7">
            <a:extLst>
              <a:ext uri="{FF2B5EF4-FFF2-40B4-BE49-F238E27FC236}">
                <a16:creationId xmlns:a16="http://schemas.microsoft.com/office/drawing/2014/main" id="{47F82510-2B76-E0B2-E04D-7D5DC7575544}"/>
              </a:ext>
            </a:extLst>
          </p:cNvPr>
          <p:cNvSpPr>
            <a:spLocks noGrp="1"/>
          </p:cNvSpPr>
          <p:nvPr/>
        </p:nvSpPr>
        <p:spPr>
          <a:xfrm>
            <a:off x="992238" y="3167805"/>
            <a:ext cx="8009934" cy="2560444"/>
          </a:xfrm>
          <a:custGeom>
            <a:avLst/>
            <a:gdLst/>
            <a:ahLst/>
            <a:cxnLst/>
            <a:rect l="l" t="t" r="r" b="b"/>
            <a:pathLst>
              <a:path w="8009934" h="2560444">
                <a:moveTo>
                  <a:pt x="0" y="0"/>
                </a:moveTo>
                <a:lnTo>
                  <a:pt x="8009935" y="0"/>
                </a:lnTo>
                <a:lnTo>
                  <a:pt x="8009935"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0"/>
            </a:stretch>
          </a:blipFill>
        </p:spPr>
        <p:txBody>
          <a:bodyPr/>
          <a:lstStyle/>
          <a:p>
            <a:endParaRPr/>
          </a:p>
        </p:txBody>
      </p:sp>
      <p:sp>
        <p:nvSpPr>
          <p:cNvPr id="9" name="Freeform 9">
            <a:extLst>
              <a:ext uri="{FF2B5EF4-FFF2-40B4-BE49-F238E27FC236}">
                <a16:creationId xmlns:a16="http://schemas.microsoft.com/office/drawing/2014/main" id="{1BBD9EE7-9C1C-4F8C-C57C-584F283DE69A}"/>
              </a:ext>
            </a:extLst>
          </p:cNvPr>
          <p:cNvSpPr>
            <a:spLocks noGrp="1"/>
          </p:cNvSpPr>
          <p:nvPr/>
        </p:nvSpPr>
        <p:spPr>
          <a:xfrm>
            <a:off x="4784522" y="3360544"/>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10" name="TextBox 10">
            <a:extLst>
              <a:ext uri="{FF2B5EF4-FFF2-40B4-BE49-F238E27FC236}">
                <a16:creationId xmlns:a16="http://schemas.microsoft.com/office/drawing/2014/main" id="{4C08FD4F-B19E-0B93-C24B-11B9DC58F380}"/>
              </a:ext>
            </a:extLst>
          </p:cNvPr>
          <p:cNvSpPr>
            <a:spLocks noGrp="1"/>
          </p:cNvSpPr>
          <p:nvPr/>
        </p:nvSpPr>
        <p:spPr>
          <a:xfrm>
            <a:off x="4784522" y="3360544"/>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1</a:t>
            </a:r>
          </a:p>
        </p:txBody>
      </p:sp>
      <p:sp>
        <p:nvSpPr>
          <p:cNvPr id="11" name="TextBox 11">
            <a:extLst>
              <a:ext uri="{FF2B5EF4-FFF2-40B4-BE49-F238E27FC236}">
                <a16:creationId xmlns:a16="http://schemas.microsoft.com/office/drawing/2014/main" id="{29ED20C7-5CF7-15F7-EB0C-665D0790E2CD}"/>
              </a:ext>
            </a:extLst>
          </p:cNvPr>
          <p:cNvSpPr>
            <a:spLocks noGrp="1"/>
          </p:cNvSpPr>
          <p:nvPr/>
        </p:nvSpPr>
        <p:spPr>
          <a:xfrm>
            <a:off x="1313850" y="4320931"/>
            <a:ext cx="736669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セッション開始</a:t>
            </a:r>
          </a:p>
        </p:txBody>
      </p:sp>
      <p:sp>
        <p:nvSpPr>
          <p:cNvPr id="12" name="TextBox 12">
            <a:extLst>
              <a:ext uri="{FF2B5EF4-FFF2-40B4-BE49-F238E27FC236}">
                <a16:creationId xmlns:a16="http://schemas.microsoft.com/office/drawing/2014/main" id="{476FDFDF-979B-F217-26D7-A44CA5D9C735}"/>
              </a:ext>
            </a:extLst>
          </p:cNvPr>
          <p:cNvSpPr>
            <a:spLocks noGrp="1"/>
          </p:cNvSpPr>
          <p:nvPr/>
        </p:nvSpPr>
        <p:spPr>
          <a:xfrm>
            <a:off x="1313850" y="4867275"/>
            <a:ext cx="736669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テーブルIDとニックネームで入室</a:t>
            </a:r>
          </a:p>
        </p:txBody>
      </p:sp>
      <p:sp>
        <p:nvSpPr>
          <p:cNvPr id="13" name="Freeform 13">
            <a:extLst>
              <a:ext uri="{FF2B5EF4-FFF2-40B4-BE49-F238E27FC236}">
                <a16:creationId xmlns:a16="http://schemas.microsoft.com/office/drawing/2014/main" id="{551D8E8D-F8CA-D11F-BE07-51269229E2F1}"/>
              </a:ext>
            </a:extLst>
          </p:cNvPr>
          <p:cNvSpPr>
            <a:spLocks noGrp="1"/>
          </p:cNvSpPr>
          <p:nvPr/>
        </p:nvSpPr>
        <p:spPr>
          <a:xfrm>
            <a:off x="9285684" y="3167805"/>
            <a:ext cx="8010077" cy="2560444"/>
          </a:xfrm>
          <a:custGeom>
            <a:avLst/>
            <a:gdLst/>
            <a:ahLst/>
            <a:cxnLst/>
            <a:rect l="l" t="t" r="r" b="b"/>
            <a:pathLst>
              <a:path w="8010077" h="2560444">
                <a:moveTo>
                  <a:pt x="0" y="0"/>
                </a:moveTo>
                <a:lnTo>
                  <a:pt x="8010078" y="0"/>
                </a:lnTo>
                <a:lnTo>
                  <a:pt x="8010078"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1"/>
            </a:stretch>
          </a:blipFill>
        </p:spPr>
        <p:txBody>
          <a:bodyPr/>
          <a:lstStyle/>
          <a:p>
            <a:endParaRPr/>
          </a:p>
        </p:txBody>
      </p:sp>
      <p:sp>
        <p:nvSpPr>
          <p:cNvPr id="15" name="Freeform 15">
            <a:extLst>
              <a:ext uri="{FF2B5EF4-FFF2-40B4-BE49-F238E27FC236}">
                <a16:creationId xmlns:a16="http://schemas.microsoft.com/office/drawing/2014/main" id="{7FE27D9E-1256-37ED-3D33-2DE00E5166D2}"/>
              </a:ext>
            </a:extLst>
          </p:cNvPr>
          <p:cNvSpPr>
            <a:spLocks noGrp="1"/>
          </p:cNvSpPr>
          <p:nvPr/>
        </p:nvSpPr>
        <p:spPr>
          <a:xfrm>
            <a:off x="13078120" y="3360544"/>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16" name="TextBox 16">
            <a:extLst>
              <a:ext uri="{FF2B5EF4-FFF2-40B4-BE49-F238E27FC236}">
                <a16:creationId xmlns:a16="http://schemas.microsoft.com/office/drawing/2014/main" id="{83D04B10-35BF-442A-92CF-B5986020B176}"/>
              </a:ext>
            </a:extLst>
          </p:cNvPr>
          <p:cNvSpPr>
            <a:spLocks noGrp="1"/>
          </p:cNvSpPr>
          <p:nvPr/>
        </p:nvSpPr>
        <p:spPr>
          <a:xfrm>
            <a:off x="13078120" y="3360544"/>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2</a:t>
            </a:r>
          </a:p>
        </p:txBody>
      </p:sp>
      <p:sp>
        <p:nvSpPr>
          <p:cNvPr id="17" name="TextBox 17">
            <a:extLst>
              <a:ext uri="{FF2B5EF4-FFF2-40B4-BE49-F238E27FC236}">
                <a16:creationId xmlns:a16="http://schemas.microsoft.com/office/drawing/2014/main" id="{5BB43B77-889D-CB92-76DC-6DB047B45FED}"/>
              </a:ext>
            </a:extLst>
          </p:cNvPr>
          <p:cNvSpPr>
            <a:spLocks noGrp="1"/>
          </p:cNvSpPr>
          <p:nvPr/>
        </p:nvSpPr>
        <p:spPr>
          <a:xfrm>
            <a:off x="9607306" y="4320931"/>
            <a:ext cx="7366845"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メニュー＆カート</a:t>
            </a:r>
          </a:p>
        </p:txBody>
      </p:sp>
      <p:sp>
        <p:nvSpPr>
          <p:cNvPr id="18" name="TextBox 18">
            <a:extLst>
              <a:ext uri="{FF2B5EF4-FFF2-40B4-BE49-F238E27FC236}">
                <a16:creationId xmlns:a16="http://schemas.microsoft.com/office/drawing/2014/main" id="{E3EEE133-7764-216D-4E5A-0575513CEBBA}"/>
              </a:ext>
            </a:extLst>
          </p:cNvPr>
          <p:cNvSpPr>
            <a:spLocks noGrp="1"/>
          </p:cNvSpPr>
          <p:nvPr/>
        </p:nvSpPr>
        <p:spPr>
          <a:xfrm>
            <a:off x="9607306" y="4867275"/>
            <a:ext cx="7366845"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商品追加・数量変更・削除・注文確定</a:t>
            </a:r>
          </a:p>
        </p:txBody>
      </p:sp>
      <p:sp>
        <p:nvSpPr>
          <p:cNvPr id="19" name="Freeform 19">
            <a:extLst>
              <a:ext uri="{FF2B5EF4-FFF2-40B4-BE49-F238E27FC236}">
                <a16:creationId xmlns:a16="http://schemas.microsoft.com/office/drawing/2014/main" id="{B9A5E855-9B9D-4518-1677-BEFDD0F39372}"/>
              </a:ext>
            </a:extLst>
          </p:cNvPr>
          <p:cNvSpPr>
            <a:spLocks noGrp="1"/>
          </p:cNvSpPr>
          <p:nvPr/>
        </p:nvSpPr>
        <p:spPr>
          <a:xfrm>
            <a:off x="992238" y="6011761"/>
            <a:ext cx="8009934" cy="2560444"/>
          </a:xfrm>
          <a:custGeom>
            <a:avLst/>
            <a:gdLst/>
            <a:ahLst/>
            <a:cxnLst/>
            <a:rect l="l" t="t" r="r" b="b"/>
            <a:pathLst>
              <a:path w="8009934" h="2560444">
                <a:moveTo>
                  <a:pt x="0" y="0"/>
                </a:moveTo>
                <a:lnTo>
                  <a:pt x="8009935" y="0"/>
                </a:lnTo>
                <a:lnTo>
                  <a:pt x="8009935"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0"/>
            </a:stretch>
          </a:blipFill>
        </p:spPr>
        <p:txBody>
          <a:bodyPr/>
          <a:lstStyle/>
          <a:p>
            <a:endParaRPr/>
          </a:p>
        </p:txBody>
      </p:sp>
      <p:sp>
        <p:nvSpPr>
          <p:cNvPr id="21" name="Freeform 21">
            <a:extLst>
              <a:ext uri="{FF2B5EF4-FFF2-40B4-BE49-F238E27FC236}">
                <a16:creationId xmlns:a16="http://schemas.microsoft.com/office/drawing/2014/main" id="{A4242ACA-3957-05C2-5ACA-24043B9DF25D}"/>
              </a:ext>
            </a:extLst>
          </p:cNvPr>
          <p:cNvSpPr>
            <a:spLocks noGrp="1"/>
          </p:cNvSpPr>
          <p:nvPr/>
        </p:nvSpPr>
        <p:spPr>
          <a:xfrm>
            <a:off x="4784522" y="6204499"/>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22" name="TextBox 22">
            <a:extLst>
              <a:ext uri="{FF2B5EF4-FFF2-40B4-BE49-F238E27FC236}">
                <a16:creationId xmlns:a16="http://schemas.microsoft.com/office/drawing/2014/main" id="{B493FC1D-23F4-A8FC-F03E-8080D75E17DF}"/>
              </a:ext>
            </a:extLst>
          </p:cNvPr>
          <p:cNvSpPr>
            <a:spLocks noGrp="1"/>
          </p:cNvSpPr>
          <p:nvPr/>
        </p:nvSpPr>
        <p:spPr>
          <a:xfrm>
            <a:off x="4784522" y="6204499"/>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3</a:t>
            </a:r>
          </a:p>
        </p:txBody>
      </p:sp>
      <p:sp>
        <p:nvSpPr>
          <p:cNvPr id="23" name="TextBox 23">
            <a:extLst>
              <a:ext uri="{FF2B5EF4-FFF2-40B4-BE49-F238E27FC236}">
                <a16:creationId xmlns:a16="http://schemas.microsoft.com/office/drawing/2014/main" id="{9A22AF57-0E02-B038-FCBC-52638A2A7E5C}"/>
              </a:ext>
            </a:extLst>
          </p:cNvPr>
          <p:cNvSpPr>
            <a:spLocks noGrp="1"/>
          </p:cNvSpPr>
          <p:nvPr/>
        </p:nvSpPr>
        <p:spPr>
          <a:xfrm>
            <a:off x="1313850" y="7164886"/>
            <a:ext cx="736669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Firebase履歴保存</a:t>
            </a:r>
          </a:p>
        </p:txBody>
      </p:sp>
      <p:sp>
        <p:nvSpPr>
          <p:cNvPr id="24" name="TextBox 24">
            <a:extLst>
              <a:ext uri="{FF2B5EF4-FFF2-40B4-BE49-F238E27FC236}">
                <a16:creationId xmlns:a16="http://schemas.microsoft.com/office/drawing/2014/main" id="{2C465754-871D-F3E6-D0E9-E1EE65838F19}"/>
              </a:ext>
            </a:extLst>
          </p:cNvPr>
          <p:cNvSpPr>
            <a:spLocks noGrp="1"/>
          </p:cNvSpPr>
          <p:nvPr/>
        </p:nvSpPr>
        <p:spPr>
          <a:xfrm>
            <a:off x="1313850" y="7711230"/>
            <a:ext cx="736669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注文確定でリアルタイムDBへ保存・反映</a:t>
            </a:r>
          </a:p>
        </p:txBody>
      </p:sp>
      <p:sp>
        <p:nvSpPr>
          <p:cNvPr id="25" name="Freeform 25">
            <a:extLst>
              <a:ext uri="{FF2B5EF4-FFF2-40B4-BE49-F238E27FC236}">
                <a16:creationId xmlns:a16="http://schemas.microsoft.com/office/drawing/2014/main" id="{D8F9C466-C090-B03D-3559-6A28865F9AF8}"/>
              </a:ext>
            </a:extLst>
          </p:cNvPr>
          <p:cNvSpPr>
            <a:spLocks noGrp="1"/>
          </p:cNvSpPr>
          <p:nvPr/>
        </p:nvSpPr>
        <p:spPr>
          <a:xfrm>
            <a:off x="9285684" y="6011761"/>
            <a:ext cx="8010077" cy="2560444"/>
          </a:xfrm>
          <a:custGeom>
            <a:avLst/>
            <a:gdLst/>
            <a:ahLst/>
            <a:cxnLst/>
            <a:rect l="l" t="t" r="r" b="b"/>
            <a:pathLst>
              <a:path w="8010077" h="2560444">
                <a:moveTo>
                  <a:pt x="0" y="0"/>
                </a:moveTo>
                <a:lnTo>
                  <a:pt x="8010078" y="0"/>
                </a:lnTo>
                <a:lnTo>
                  <a:pt x="8010078"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1"/>
            </a:stretch>
          </a:blipFill>
        </p:spPr>
        <p:txBody>
          <a:bodyPr/>
          <a:lstStyle/>
          <a:p>
            <a:endParaRPr/>
          </a:p>
        </p:txBody>
      </p:sp>
      <p:sp>
        <p:nvSpPr>
          <p:cNvPr id="27" name="Freeform 27">
            <a:extLst>
              <a:ext uri="{FF2B5EF4-FFF2-40B4-BE49-F238E27FC236}">
                <a16:creationId xmlns:a16="http://schemas.microsoft.com/office/drawing/2014/main" id="{675BEF01-01BA-B59F-2ECC-172AE549AB8F}"/>
              </a:ext>
            </a:extLst>
          </p:cNvPr>
          <p:cNvSpPr>
            <a:spLocks noGrp="1"/>
          </p:cNvSpPr>
          <p:nvPr/>
        </p:nvSpPr>
        <p:spPr>
          <a:xfrm>
            <a:off x="13078120" y="6204499"/>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28" name="TextBox 28">
            <a:extLst>
              <a:ext uri="{FF2B5EF4-FFF2-40B4-BE49-F238E27FC236}">
                <a16:creationId xmlns:a16="http://schemas.microsoft.com/office/drawing/2014/main" id="{682AD33C-9D94-B62F-EB8B-8C063298C9F7}"/>
              </a:ext>
            </a:extLst>
          </p:cNvPr>
          <p:cNvSpPr>
            <a:spLocks noGrp="1"/>
          </p:cNvSpPr>
          <p:nvPr/>
        </p:nvSpPr>
        <p:spPr>
          <a:xfrm>
            <a:off x="13078120" y="6204499"/>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4</a:t>
            </a:r>
          </a:p>
        </p:txBody>
      </p:sp>
      <p:sp>
        <p:nvSpPr>
          <p:cNvPr id="29" name="TextBox 29">
            <a:extLst>
              <a:ext uri="{FF2B5EF4-FFF2-40B4-BE49-F238E27FC236}">
                <a16:creationId xmlns:a16="http://schemas.microsoft.com/office/drawing/2014/main" id="{1E427EFB-69C0-2EEA-C15F-9888C86D7F5C}"/>
              </a:ext>
            </a:extLst>
          </p:cNvPr>
          <p:cNvSpPr>
            <a:spLocks noGrp="1"/>
          </p:cNvSpPr>
          <p:nvPr/>
        </p:nvSpPr>
        <p:spPr>
          <a:xfrm>
            <a:off x="9607306" y="7164886"/>
            <a:ext cx="7366845"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飲酒ペース表示</a:t>
            </a:r>
          </a:p>
        </p:txBody>
      </p:sp>
      <p:sp>
        <p:nvSpPr>
          <p:cNvPr id="30" name="TextBox 30">
            <a:extLst>
              <a:ext uri="{FF2B5EF4-FFF2-40B4-BE49-F238E27FC236}">
                <a16:creationId xmlns:a16="http://schemas.microsoft.com/office/drawing/2014/main" id="{E01DCBB3-21FA-AA41-2A34-B53F50E392A5}"/>
              </a:ext>
            </a:extLst>
          </p:cNvPr>
          <p:cNvSpPr>
            <a:spLocks noGrp="1"/>
          </p:cNvSpPr>
          <p:nvPr/>
        </p:nvSpPr>
        <p:spPr>
          <a:xfrm>
            <a:off x="9607306" y="7711230"/>
            <a:ext cx="7366845"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直近30分の純アルコール量を表示</a:t>
            </a:r>
          </a:p>
        </p:txBody>
      </p:sp>
    </p:spTree>
    <p:extLst>
      <p:ext uri="{BB962C8B-B14F-4D97-AF65-F5344CB8AC3E}">
        <p14:creationId xmlns:p14="http://schemas.microsoft.com/office/powerpoint/2010/main" val="6988147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FC29BE29-653A-4E3F-9976-208009A621C4}"/>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DE15627B-BC9B-4F53-8E44-1AC29EDD773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6EFC17DF-DDBD-4481-94E8-1DC3F258DF2E}"/>
              </a:ext>
            </a:extLst>
          </p:cNvPr>
          <p:cNvSpPr>
            <a:spLocks noGrp="1"/>
          </p:cNvSpPr>
          <p:nvPr/>
        </p:nvSpPr>
        <p:spPr>
          <a:xfrm>
            <a:off x="992238" y="2770880"/>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なぜ「注文記録」方式にしたのか</a:t>
            </a:r>
          </a:p>
        </p:txBody>
      </p:sp>
      <p:sp>
        <p:nvSpPr>
          <p:cNvPr id="8" name="Freeform 8">
            <a:extLst>
              <a:ext uri="{FF2B5EF4-FFF2-40B4-BE49-F238E27FC236}">
                <a16:creationId xmlns:a16="http://schemas.microsoft.com/office/drawing/2014/main" id="{ED07ED28-13E0-405B-84EB-EA407A92CE32}"/>
              </a:ext>
            </a:extLst>
          </p:cNvPr>
          <p:cNvSpPr>
            <a:spLocks noGrp="1"/>
          </p:cNvSpPr>
          <p:nvPr/>
        </p:nvSpPr>
        <p:spPr>
          <a:xfrm>
            <a:off x="788041" y="4110628"/>
            <a:ext cx="8214264" cy="3376898"/>
          </a:xfrm>
          <a:custGeom>
            <a:avLst/>
            <a:gdLst/>
            <a:ahLst/>
            <a:cxnLst/>
            <a:rect l="l" t="t" r="r" b="b"/>
            <a:pathLst>
              <a:path w="10952353" h="4502531">
                <a:moveTo>
                  <a:pt x="0" y="272161"/>
                </a:moveTo>
                <a:cubicBezTo>
                  <a:pt x="0" y="121920"/>
                  <a:pt x="121920" y="0"/>
                  <a:pt x="272161" y="0"/>
                </a:cubicBezTo>
                <a:lnTo>
                  <a:pt x="10680192" y="0"/>
                </a:lnTo>
                <a:cubicBezTo>
                  <a:pt x="10830561" y="0"/>
                  <a:pt x="10952353" y="121920"/>
                  <a:pt x="10952353" y="272161"/>
                </a:cubicBezTo>
                <a:lnTo>
                  <a:pt x="10952353" y="4230370"/>
                </a:lnTo>
                <a:cubicBezTo>
                  <a:pt x="10952353" y="4380738"/>
                  <a:pt x="10830433" y="4502531"/>
                  <a:pt x="10680192" y="4502531"/>
                </a:cubicBezTo>
                <a:lnTo>
                  <a:pt x="272161" y="4502531"/>
                </a:lnTo>
                <a:cubicBezTo>
                  <a:pt x="121920" y="4502531"/>
                  <a:pt x="0" y="4380738"/>
                  <a:pt x="0" y="4230370"/>
                </a:cubicBezTo>
                <a:close/>
              </a:path>
            </a:pathLst>
          </a:custGeom>
          <a:solidFill>
            <a:srgbClr val="224435"/>
          </a:solidFill>
        </p:spPr>
        <p:txBody>
          <a:bodyPr/>
          <a:lstStyle/>
          <a:p>
            <a:endParaRPr/>
          </a:p>
        </p:txBody>
      </p:sp>
      <p:sp>
        <p:nvSpPr>
          <p:cNvPr id="9" name="TextBox 9">
            <a:extLst>
              <a:ext uri="{FF2B5EF4-FFF2-40B4-BE49-F238E27FC236}">
                <a16:creationId xmlns:a16="http://schemas.microsoft.com/office/drawing/2014/main" id="{30DF6B1F-AF15-4C16-B032-0509A13464A3}"/>
              </a:ext>
            </a:extLst>
          </p:cNvPr>
          <p:cNvSpPr>
            <a:spLocks noGrp="1"/>
          </p:cNvSpPr>
          <p:nvPr/>
        </p:nvSpPr>
        <p:spPr>
          <a:xfrm>
            <a:off x="1071562" y="4375099"/>
            <a:ext cx="7647232" cy="461962"/>
          </a:xfrm>
          <a:prstGeom prst="rect">
            <a:avLst/>
          </a:prstGeom>
        </p:spPr>
        <p:txBody>
          <a:bodyPr lIns="0" tIns="0" rIns="0" bIns="0" anchor="t">
            <a:spAutoFit/>
          </a:bodyPr>
          <a:lstStyle/>
          <a:p>
            <a:pPr algn="l">
              <a:lnSpc>
                <a:spcPts val="3369"/>
              </a:lnSpc>
              <a:buNone/>
            </a:pPr>
            <a:r>
              <a:rPr sz="2700" b="1">
                <a:solidFill>
                  <a:srgbClr val="FFFFFF"/>
                </a:solidFill>
                <a:latin typeface="Syne Bold"/>
                <a:ea typeface="Syne Bold"/>
                <a:cs typeface="Syne Bold"/>
              </a:rPr>
              <a:t>当初の案：タップカウント型</a:t>
            </a:r>
          </a:p>
        </p:txBody>
      </p:sp>
      <p:sp>
        <p:nvSpPr>
          <p:cNvPr id="10" name="TextBox 10">
            <a:extLst>
              <a:ext uri="{FF2B5EF4-FFF2-40B4-BE49-F238E27FC236}">
                <a16:creationId xmlns:a16="http://schemas.microsoft.com/office/drawing/2014/main" id="{A3D9AF22-AF05-4903-A628-B3150D0459D4}"/>
              </a:ext>
            </a:extLst>
          </p:cNvPr>
          <p:cNvSpPr>
            <a:spLocks noGrp="1"/>
          </p:cNvSpPr>
          <p:nvPr/>
        </p:nvSpPr>
        <p:spPr>
          <a:xfrm>
            <a:off x="1071562" y="5034858"/>
            <a:ext cx="8561632" cy="539353"/>
          </a:xfrm>
          <a:prstGeom prst="rect">
            <a:avLst/>
          </a:prstGeom>
        </p:spPr>
        <p:txBody>
          <a:bodyPr lIns="0" tIns="0" rIns="0" bIns="0" anchor="t">
            <a:spAutoFit/>
          </a:bodyPr>
          <a:lstStyle/>
          <a:p>
            <a:pPr algn="l">
              <a:lnSpc>
                <a:spcPts val="3511"/>
              </a:lnSpc>
              <a:buNone/>
            </a:pPr>
            <a:r>
              <a:rPr sz="2200">
                <a:solidFill>
                  <a:srgbClr val="FFFFFF"/>
                </a:solidFill>
                <a:latin typeface="Overpass Light"/>
                <a:ea typeface="Overpass Light"/>
                <a:cs typeface="Overpass Light"/>
              </a:rPr>
              <a:t>飲んだ杯数を自分で入力する方式</a:t>
            </a:r>
          </a:p>
        </p:txBody>
      </p:sp>
      <p:sp>
        <p:nvSpPr>
          <p:cNvPr id="11" name="TextBox 11">
            <a:extLst>
              <a:ext uri="{FF2B5EF4-FFF2-40B4-BE49-F238E27FC236}">
                <a16:creationId xmlns:a16="http://schemas.microsoft.com/office/drawing/2014/main" id="{D5608236-626D-469C-A2CC-F58641303FC0}"/>
              </a:ext>
            </a:extLst>
          </p:cNvPr>
          <p:cNvSpPr>
            <a:spLocks noGrp="1"/>
          </p:cNvSpPr>
          <p:nvPr/>
        </p:nvSpPr>
        <p:spPr>
          <a:xfrm>
            <a:off x="1071562" y="5743575"/>
            <a:ext cx="7647232" cy="1289533"/>
          </a:xfrm>
          <a:prstGeom prst="rect">
            <a:avLst/>
          </a:prstGeom>
        </p:spPr>
        <p:txBody>
          <a:bodyPr lIns="0" tIns="0" rIns="0" bIns="0" anchor="t">
            <a:spAutoFit/>
          </a:bodyPr>
          <a:lstStyle/>
          <a:p>
            <a:pPr marL="530860" indent="-265430" algn="l">
              <a:lnSpc>
                <a:spcPts val="3511"/>
              </a:lnSpc>
              <a:buChar char="•"/>
            </a:pPr>
            <a:r>
              <a:rPr sz="2200">
                <a:solidFill>
                  <a:srgbClr val="FFFFFF"/>
                </a:solidFill>
                <a:latin typeface="Overpass Light"/>
                <a:ea typeface="Overpass Light"/>
                <a:cs typeface="Overpass Light"/>
              </a:rPr>
              <a:t>毎回アプリを開く必要がある</a:t>
            </a:r>
          </a:p>
          <a:p>
            <a:pPr marL="530860" indent="-265430" algn="l">
              <a:lnSpc>
                <a:spcPts val="3511"/>
              </a:lnSpc>
              <a:buChar char="•"/>
            </a:pPr>
            <a:r>
              <a:rPr sz="2200">
                <a:solidFill>
                  <a:srgbClr val="FFFFFF"/>
                </a:solidFill>
                <a:latin typeface="Overpass Light"/>
                <a:ea typeface="Overpass Light"/>
                <a:cs typeface="Overpass Light"/>
              </a:rPr>
              <a:t>入力を忘れる可能性</a:t>
            </a:r>
          </a:p>
          <a:p>
            <a:pPr marL="530860" indent="-265430" algn="l">
              <a:lnSpc>
                <a:spcPts val="3511"/>
              </a:lnSpc>
              <a:buChar char="•"/>
            </a:pPr>
            <a:r>
              <a:rPr sz="2200">
                <a:solidFill>
                  <a:srgbClr val="FFFFFF"/>
                </a:solidFill>
                <a:latin typeface="Overpass Light"/>
                <a:ea typeface="Overpass Light"/>
                <a:cs typeface="Overpass Light"/>
              </a:rPr>
              <a:t>実際の利用場面には合わない</a:t>
            </a:r>
          </a:p>
        </p:txBody>
      </p:sp>
      <p:sp>
        <p:nvSpPr>
          <p:cNvPr id="12" name="TextBox 12">
            <a:extLst>
              <a:ext uri="{FF2B5EF4-FFF2-40B4-BE49-F238E27FC236}">
                <a16:creationId xmlns:a16="http://schemas.microsoft.com/office/drawing/2014/main" id="{E6D6516D-59A7-44D9-8DDE-AE1D7929B6B4}"/>
              </a:ext>
            </a:extLst>
          </p:cNvPr>
          <p:cNvSpPr>
            <a:spLocks noGrp="1"/>
          </p:cNvSpPr>
          <p:nvPr/>
        </p:nvSpPr>
        <p:spPr>
          <a:xfrm>
            <a:off x="9499406" y="4375099"/>
            <a:ext cx="4324544" cy="421691"/>
          </a:xfrm>
          <a:prstGeom prst="rect">
            <a:avLst/>
          </a:prstGeom>
        </p:spPr>
        <p:txBody>
          <a:bodyPr wrap="square" lIns="0" tIns="0" rIns="0" bIns="0" anchor="t">
            <a:spAutoFit/>
          </a:bodyPr>
          <a:lstStyle/>
          <a:p>
            <a:pPr algn="l">
              <a:lnSpc>
                <a:spcPts val="3369"/>
              </a:lnSpc>
              <a:buNone/>
            </a:pPr>
            <a:r>
              <a:rPr sz="2700" b="1">
                <a:solidFill>
                  <a:srgbClr val="233939"/>
                </a:solidFill>
                <a:latin typeface="Syne Bold"/>
                <a:ea typeface="Syne Bold"/>
                <a:cs typeface="Syne Bold"/>
              </a:rPr>
              <a:t>採用した方式：注文連動型</a:t>
            </a:r>
          </a:p>
        </p:txBody>
      </p:sp>
      <p:sp>
        <p:nvSpPr>
          <p:cNvPr id="13" name="TextBox 13">
            <a:extLst>
              <a:ext uri="{FF2B5EF4-FFF2-40B4-BE49-F238E27FC236}">
                <a16:creationId xmlns:a16="http://schemas.microsoft.com/office/drawing/2014/main" id="{686569EE-9B82-4DFA-A36D-844EF40EE575}"/>
              </a:ext>
            </a:extLst>
          </p:cNvPr>
          <p:cNvSpPr>
            <a:spLocks noGrp="1"/>
          </p:cNvSpPr>
          <p:nvPr/>
        </p:nvSpPr>
        <p:spPr>
          <a:xfrm>
            <a:off x="9499406" y="5034858"/>
            <a:ext cx="8720290"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注文操作そのものを記録として利用</a:t>
            </a:r>
          </a:p>
        </p:txBody>
      </p:sp>
      <p:sp>
        <p:nvSpPr>
          <p:cNvPr id="14" name="TextBox 14">
            <a:extLst>
              <a:ext uri="{FF2B5EF4-FFF2-40B4-BE49-F238E27FC236}">
                <a16:creationId xmlns:a16="http://schemas.microsoft.com/office/drawing/2014/main" id="{1610D78B-F15E-41B0-8010-3A328E92E965}"/>
              </a:ext>
            </a:extLst>
          </p:cNvPr>
          <p:cNvSpPr>
            <a:spLocks noGrp="1"/>
          </p:cNvSpPr>
          <p:nvPr/>
        </p:nvSpPr>
        <p:spPr>
          <a:xfrm>
            <a:off x="9499406" y="5743575"/>
            <a:ext cx="7805890" cy="1289533"/>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カートに追加・注文確定で自動記録</a:t>
            </a:r>
          </a:p>
          <a:p>
            <a:pPr marL="530860" indent="-265430" algn="l">
              <a:lnSpc>
                <a:spcPts val="3511"/>
              </a:lnSpc>
              <a:buChar char="•"/>
            </a:pPr>
            <a:r>
              <a:rPr sz="2200">
                <a:solidFill>
                  <a:srgbClr val="3B4E4E"/>
                </a:solidFill>
                <a:latin typeface="Overpass Light"/>
                <a:ea typeface="Overpass Light"/>
                <a:cs typeface="Overpass Light"/>
              </a:rPr>
              <a:t>追加の入力操作は不要</a:t>
            </a:r>
          </a:p>
          <a:p>
            <a:pPr marL="530860" indent="-265430" algn="l">
              <a:lnSpc>
                <a:spcPts val="3511"/>
              </a:lnSpc>
              <a:buChar char="•"/>
            </a:pPr>
            <a:r>
              <a:rPr sz="2200">
                <a:solidFill>
                  <a:srgbClr val="3B4E4E"/>
                </a:solidFill>
                <a:latin typeface="Overpass Light"/>
                <a:ea typeface="Overpass Light"/>
                <a:cs typeface="Overpass Light"/>
              </a:rPr>
              <a:t>自然な行動と記録がつながる</a:t>
            </a:r>
          </a:p>
        </p:txBody>
      </p:sp>
    </p:spTree>
    <p:extLst>
      <p:ext uri="{BB962C8B-B14F-4D97-AF65-F5344CB8AC3E}">
        <p14:creationId xmlns:p14="http://schemas.microsoft.com/office/powerpoint/2010/main" val="124840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EE9DD260-800F-4D51-8D50-C7D988A76279}"/>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71700650-F700-42B6-BF37-81AD25F899DC}"/>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r>
              <a:t>実装した主な3つの機能</a:t>
            </a:r>
          </a:p>
        </p:txBody>
      </p:sp>
      <p:sp>
        <p:nvSpPr>
          <p:cNvPr id="6" name="TextBox 6">
            <a:extLst>
              <a:ext uri="{FF2B5EF4-FFF2-40B4-BE49-F238E27FC236}">
                <a16:creationId xmlns:a16="http://schemas.microsoft.com/office/drawing/2014/main" id="{88504E17-82F4-431E-90AC-7D7B45D9458F}"/>
              </a:ext>
            </a:extLst>
          </p:cNvPr>
          <p:cNvSpPr>
            <a:spLocks noGrp="1"/>
          </p:cNvSpPr>
          <p:nvPr/>
        </p:nvSpPr>
        <p:spPr>
          <a:xfrm>
            <a:off x="992238" y="1686220"/>
            <a:ext cx="16303523" cy="841834"/>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実装した主な３つの機能</a:t>
            </a:r>
          </a:p>
        </p:txBody>
      </p:sp>
      <p:sp>
        <p:nvSpPr>
          <p:cNvPr id="14" name="feature-1">
            <a:extLst>
              <a:ext uri="{FF2B5EF4-FFF2-40B4-BE49-F238E27FC236}">
                <a16:creationId xmlns:a16="http://schemas.microsoft.com/office/drawing/2014/main" id="{A5E11D6E-1918-494F-313D-53E8F328121D}"/>
              </a:ext>
            </a:extLst>
          </p:cNvPr>
          <p:cNvSpPr>
            <a:spLocks noGrp="1"/>
          </p:cNvSpPr>
          <p:nvPr/>
        </p:nvSpPr>
        <p:spPr>
          <a:xfrm>
            <a:off x="1157287" y="2892425"/>
            <a:ext cx="5057775" cy="5572125"/>
          </a:xfrm>
          <a:prstGeom prst="roundRect">
            <a:avLst>
              <a:gd name="adj" fmla="val 3390"/>
            </a:avLst>
          </a:prstGeom>
          <a:solidFill>
            <a:srgbClr val="FFFDF4"/>
          </a:solidFill>
          <a:ln w="19050">
            <a:solidFill>
              <a:srgbClr val="C9D7CF"/>
            </a:solidFill>
            <a:prstDash val="solid"/>
          </a:ln>
        </p:spPr>
        <p:txBody>
          <a:bodyPr/>
          <a:lstStyle/>
          <a:p>
            <a:endParaRPr/>
          </a:p>
        </p:txBody>
      </p:sp>
      <p:sp>
        <p:nvSpPr>
          <p:cNvPr id="26" name="feature-band-1">
            <a:extLst>
              <a:ext uri="{FF2B5EF4-FFF2-40B4-BE49-F238E27FC236}">
                <a16:creationId xmlns:a16="http://schemas.microsoft.com/office/drawing/2014/main" id="{157D09B4-D35C-4490-A44D-579DA545941C}"/>
              </a:ext>
            </a:extLst>
          </p:cNvPr>
          <p:cNvSpPr>
            <a:spLocks noGrp="1"/>
          </p:cNvSpPr>
          <p:nvPr/>
        </p:nvSpPr>
        <p:spPr>
          <a:xfrm>
            <a:off x="1157287" y="2892425"/>
            <a:ext cx="5057775" cy="1228725"/>
          </a:xfrm>
          <a:prstGeom prst="rect">
            <a:avLst/>
          </a:prstGeom>
          <a:solidFill>
            <a:srgbClr val="DCECE4"/>
          </a:solidFill>
          <a:ln w="0">
            <a:solidFill>
              <a:srgbClr val="DCECE4"/>
            </a:solidFill>
            <a:prstDash val="solid"/>
          </a:ln>
        </p:spPr>
        <p:txBody>
          <a:bodyPr/>
          <a:lstStyle/>
          <a:p>
            <a:endParaRPr/>
          </a:p>
        </p:txBody>
      </p:sp>
      <p:sp>
        <p:nvSpPr>
          <p:cNvPr id="32" name="number-1">
            <a:extLst>
              <a:ext uri="{FF2B5EF4-FFF2-40B4-BE49-F238E27FC236}">
                <a16:creationId xmlns:a16="http://schemas.microsoft.com/office/drawing/2014/main" id="{5F3626AF-9B16-CE3A-45BF-2D5C9FE59E88}"/>
              </a:ext>
            </a:extLst>
          </p:cNvPr>
          <p:cNvSpPr>
            <a:spLocks noGrp="1"/>
          </p:cNvSpPr>
          <p:nvPr/>
        </p:nvSpPr>
        <p:spPr>
          <a:xfrm>
            <a:off x="1157287" y="3049588"/>
            <a:ext cx="5057775" cy="771525"/>
          </a:xfrm>
          <a:prstGeom prst="rect">
            <a:avLst/>
          </a:prstGeom>
          <a:noFill/>
          <a:ln w="0">
            <a:noFill/>
            <a:prstDash val="solid"/>
          </a:ln>
        </p:spPr>
        <p:txBody>
          <a:bodyPr anchor="ctr"/>
          <a:lstStyle/>
          <a:p>
            <a:pPr algn="ctr">
              <a:buNone/>
              <a:defRPr sz="2250" b="1">
                <a:solidFill>
                  <a:srgbClr val="173D38"/>
                </a:solidFill>
              </a:defRPr>
            </a:pPr>
            <a:r>
              <a:rPr sz="3375" b="1">
                <a:solidFill>
                  <a:srgbClr val="173D38"/>
                </a:solidFill>
              </a:rPr>
              <a:t>1</a:t>
            </a:r>
          </a:p>
        </p:txBody>
      </p:sp>
      <p:sp>
        <p:nvSpPr>
          <p:cNvPr id="34" name="feature-title-1">
            <a:extLst>
              <a:ext uri="{FF2B5EF4-FFF2-40B4-BE49-F238E27FC236}">
                <a16:creationId xmlns:a16="http://schemas.microsoft.com/office/drawing/2014/main" id="{CCF95168-634B-8E81-18CE-2453F40F8FAC}"/>
              </a:ext>
            </a:extLst>
          </p:cNvPr>
          <p:cNvSpPr>
            <a:spLocks noGrp="1"/>
          </p:cNvSpPr>
          <p:nvPr/>
        </p:nvSpPr>
        <p:spPr>
          <a:xfrm>
            <a:off x="1557337" y="4549775"/>
            <a:ext cx="4257675" cy="714375"/>
          </a:xfrm>
          <a:prstGeom prst="rect">
            <a:avLst/>
          </a:prstGeom>
          <a:noFill/>
          <a:ln w="0">
            <a:noFill/>
            <a:prstDash val="solid"/>
          </a:ln>
        </p:spPr>
        <p:txBody>
          <a:bodyPr anchor="ctr"/>
          <a:lstStyle/>
          <a:p>
            <a:pPr algn="l">
              <a:buNone/>
              <a:defRPr sz="2025" b="1">
                <a:solidFill>
                  <a:srgbClr val="173D38"/>
                </a:solidFill>
              </a:defRPr>
            </a:pPr>
            <a:r>
              <a:rPr sz="3038" b="1">
                <a:solidFill>
                  <a:srgbClr val="173D38"/>
                </a:solidFill>
              </a:rPr>
              <a:t>注文機能</a:t>
            </a:r>
          </a:p>
        </p:txBody>
      </p:sp>
      <p:sp>
        <p:nvSpPr>
          <p:cNvPr id="36" name="feature-body-1">
            <a:extLst>
              <a:ext uri="{FF2B5EF4-FFF2-40B4-BE49-F238E27FC236}">
                <a16:creationId xmlns:a16="http://schemas.microsoft.com/office/drawing/2014/main" id="{9F05C83C-B137-B213-7A11-6CFC717420E7}"/>
              </a:ext>
            </a:extLst>
          </p:cNvPr>
          <p:cNvSpPr>
            <a:spLocks noGrp="1"/>
          </p:cNvSpPr>
          <p:nvPr/>
        </p:nvSpPr>
        <p:spPr>
          <a:xfrm>
            <a:off x="1557337" y="5578475"/>
            <a:ext cx="4257675" cy="1228725"/>
          </a:xfrm>
          <a:prstGeom prst="rect">
            <a:avLst/>
          </a:prstGeom>
          <a:noFill/>
          <a:ln w="0">
            <a:noFill/>
            <a:prstDash val="solid"/>
          </a:ln>
        </p:spPr>
        <p:txBody>
          <a:bodyPr anchor="ctr"/>
          <a:lstStyle/>
          <a:p>
            <a:pPr algn="l">
              <a:buNone/>
              <a:defRPr sz="1425" b="0">
                <a:solidFill>
                  <a:srgbClr val="334B45"/>
                </a:solidFill>
              </a:defRPr>
            </a:pPr>
            <a:r>
              <a:rPr sz="2138">
                <a:solidFill>
                  <a:srgbClr val="334B45"/>
                </a:solidFill>
              </a:rPr>
              <a:t>商品追加・数量変更・削除・注文確定</a:t>
            </a:r>
          </a:p>
        </p:txBody>
      </p:sp>
      <p:sp>
        <p:nvSpPr>
          <p:cNvPr id="38" name="feature-note-1">
            <a:extLst>
              <a:ext uri="{FF2B5EF4-FFF2-40B4-BE49-F238E27FC236}">
                <a16:creationId xmlns:a16="http://schemas.microsoft.com/office/drawing/2014/main" id="{C66B3DD8-C57F-53A9-2FBF-174D03865157}"/>
              </a:ext>
            </a:extLst>
          </p:cNvPr>
          <p:cNvSpPr>
            <a:spLocks noGrp="1"/>
          </p:cNvSpPr>
          <p:nvPr/>
        </p:nvSpPr>
        <p:spPr>
          <a:xfrm>
            <a:off x="1557337" y="7178675"/>
            <a:ext cx="4257675" cy="885825"/>
          </a:xfrm>
          <a:prstGeom prst="rect">
            <a:avLst/>
          </a:prstGeom>
          <a:noFill/>
          <a:ln w="0">
            <a:noFill/>
            <a:prstDash val="solid"/>
          </a:ln>
        </p:spPr>
        <p:txBody>
          <a:bodyPr anchor="ctr"/>
          <a:lstStyle/>
          <a:p>
            <a:pPr algn="l">
              <a:buNone/>
              <a:defRPr sz="1200" b="0">
                <a:solidFill>
                  <a:srgbClr val="6B7B75"/>
                </a:solidFill>
              </a:defRPr>
            </a:pPr>
            <a:r>
              <a:rPr>
                <a:solidFill>
                  <a:srgbClr val="6B7B75"/>
                </a:solidFill>
              </a:rPr>
              <a:t>注文操作をそのまま飲酒記録につなげる</a:t>
            </a:r>
          </a:p>
        </p:txBody>
      </p:sp>
      <p:sp>
        <p:nvSpPr>
          <p:cNvPr id="40" name="feature-2">
            <a:extLst>
              <a:ext uri="{FF2B5EF4-FFF2-40B4-BE49-F238E27FC236}">
                <a16:creationId xmlns:a16="http://schemas.microsoft.com/office/drawing/2014/main" id="{D23B66A7-ADA7-9EBB-E415-BEA6E63EBC2A}"/>
              </a:ext>
            </a:extLst>
          </p:cNvPr>
          <p:cNvSpPr>
            <a:spLocks noGrp="1"/>
          </p:cNvSpPr>
          <p:nvPr/>
        </p:nvSpPr>
        <p:spPr>
          <a:xfrm>
            <a:off x="6615112" y="2892425"/>
            <a:ext cx="5057775" cy="5572125"/>
          </a:xfrm>
          <a:prstGeom prst="roundRect">
            <a:avLst>
              <a:gd name="adj" fmla="val 3390"/>
            </a:avLst>
          </a:prstGeom>
          <a:solidFill>
            <a:srgbClr val="FFFDF4"/>
          </a:solidFill>
          <a:ln w="19050">
            <a:solidFill>
              <a:srgbClr val="C9D7CF"/>
            </a:solidFill>
            <a:prstDash val="solid"/>
          </a:ln>
        </p:spPr>
        <p:txBody>
          <a:bodyPr/>
          <a:lstStyle/>
          <a:p>
            <a:endParaRPr/>
          </a:p>
        </p:txBody>
      </p:sp>
      <p:sp>
        <p:nvSpPr>
          <p:cNvPr id="42" name="feature-band-2">
            <a:extLst>
              <a:ext uri="{FF2B5EF4-FFF2-40B4-BE49-F238E27FC236}">
                <a16:creationId xmlns:a16="http://schemas.microsoft.com/office/drawing/2014/main" id="{A52328B4-0823-4A68-2C4F-0674DA9868CB}"/>
              </a:ext>
            </a:extLst>
          </p:cNvPr>
          <p:cNvSpPr>
            <a:spLocks noGrp="1"/>
          </p:cNvSpPr>
          <p:nvPr/>
        </p:nvSpPr>
        <p:spPr>
          <a:xfrm>
            <a:off x="6615112" y="2892425"/>
            <a:ext cx="5057775" cy="1228725"/>
          </a:xfrm>
          <a:prstGeom prst="rect">
            <a:avLst/>
          </a:prstGeom>
          <a:solidFill>
            <a:srgbClr val="DCECE4"/>
          </a:solidFill>
          <a:ln w="0">
            <a:solidFill>
              <a:srgbClr val="DCECE4"/>
            </a:solidFill>
            <a:prstDash val="solid"/>
          </a:ln>
        </p:spPr>
        <p:txBody>
          <a:bodyPr/>
          <a:lstStyle/>
          <a:p>
            <a:endParaRPr/>
          </a:p>
        </p:txBody>
      </p:sp>
      <p:sp>
        <p:nvSpPr>
          <p:cNvPr id="44" name="number-2">
            <a:extLst>
              <a:ext uri="{FF2B5EF4-FFF2-40B4-BE49-F238E27FC236}">
                <a16:creationId xmlns:a16="http://schemas.microsoft.com/office/drawing/2014/main" id="{B2D83A39-8766-04F7-12DD-01A19DBE55CB}"/>
              </a:ext>
            </a:extLst>
          </p:cNvPr>
          <p:cNvSpPr>
            <a:spLocks noGrp="1"/>
          </p:cNvSpPr>
          <p:nvPr/>
        </p:nvSpPr>
        <p:spPr>
          <a:xfrm>
            <a:off x="6615112" y="3049588"/>
            <a:ext cx="5057775" cy="771525"/>
          </a:xfrm>
          <a:prstGeom prst="rect">
            <a:avLst/>
          </a:prstGeom>
          <a:noFill/>
          <a:ln w="0">
            <a:noFill/>
            <a:prstDash val="solid"/>
          </a:ln>
        </p:spPr>
        <p:txBody>
          <a:bodyPr anchor="ctr"/>
          <a:lstStyle/>
          <a:p>
            <a:pPr algn="ctr">
              <a:buNone/>
              <a:defRPr sz="2250" b="1">
                <a:solidFill>
                  <a:srgbClr val="173D38"/>
                </a:solidFill>
              </a:defRPr>
            </a:pPr>
            <a:r>
              <a:rPr sz="3375" b="1">
                <a:solidFill>
                  <a:srgbClr val="173D38"/>
                </a:solidFill>
              </a:rPr>
              <a:t>2</a:t>
            </a:r>
          </a:p>
        </p:txBody>
      </p:sp>
      <p:sp>
        <p:nvSpPr>
          <p:cNvPr id="46" name="feature-title-2">
            <a:extLst>
              <a:ext uri="{FF2B5EF4-FFF2-40B4-BE49-F238E27FC236}">
                <a16:creationId xmlns:a16="http://schemas.microsoft.com/office/drawing/2014/main" id="{E55AAFBB-B6BA-24A5-EE02-97EEE81E900B}"/>
              </a:ext>
            </a:extLst>
          </p:cNvPr>
          <p:cNvSpPr>
            <a:spLocks noGrp="1"/>
          </p:cNvSpPr>
          <p:nvPr/>
        </p:nvSpPr>
        <p:spPr>
          <a:xfrm>
            <a:off x="7015162" y="4549775"/>
            <a:ext cx="4257675" cy="714375"/>
          </a:xfrm>
          <a:prstGeom prst="rect">
            <a:avLst/>
          </a:prstGeom>
          <a:noFill/>
          <a:ln w="0">
            <a:noFill/>
            <a:prstDash val="solid"/>
          </a:ln>
        </p:spPr>
        <p:txBody>
          <a:bodyPr anchor="ctr"/>
          <a:lstStyle/>
          <a:p>
            <a:pPr algn="l">
              <a:buNone/>
              <a:defRPr sz="2025" b="1">
                <a:solidFill>
                  <a:srgbClr val="173D38"/>
                </a:solidFill>
              </a:defRPr>
            </a:pPr>
            <a:r>
              <a:rPr sz="3038" b="1">
                <a:solidFill>
                  <a:srgbClr val="173D38"/>
                </a:solidFill>
              </a:rPr>
              <a:t>データベース保存</a:t>
            </a:r>
          </a:p>
        </p:txBody>
      </p:sp>
      <p:sp>
        <p:nvSpPr>
          <p:cNvPr id="48" name="feature-body-2">
            <a:extLst>
              <a:ext uri="{FF2B5EF4-FFF2-40B4-BE49-F238E27FC236}">
                <a16:creationId xmlns:a16="http://schemas.microsoft.com/office/drawing/2014/main" id="{0DC1A4D5-9974-6D14-36AB-6BFEE59DBF55}"/>
              </a:ext>
            </a:extLst>
          </p:cNvPr>
          <p:cNvSpPr>
            <a:spLocks noGrp="1"/>
          </p:cNvSpPr>
          <p:nvPr/>
        </p:nvSpPr>
        <p:spPr>
          <a:xfrm>
            <a:off x="7015162" y="5578475"/>
            <a:ext cx="4257675" cy="1228725"/>
          </a:xfrm>
          <a:prstGeom prst="rect">
            <a:avLst/>
          </a:prstGeom>
          <a:noFill/>
          <a:ln w="0">
            <a:noFill/>
            <a:prstDash val="solid"/>
          </a:ln>
        </p:spPr>
        <p:txBody>
          <a:bodyPr anchor="ctr"/>
          <a:lstStyle/>
          <a:p>
            <a:pPr algn="l">
              <a:buNone/>
              <a:defRPr sz="1425" b="0">
                <a:solidFill>
                  <a:srgbClr val="334B45"/>
                </a:solidFill>
              </a:defRPr>
            </a:pPr>
            <a:r>
              <a:rPr sz="2138">
                <a:solidFill>
                  <a:srgbClr val="334B45"/>
                </a:solidFill>
              </a:rPr>
              <a:t>注文確定時にFirebaseへリアルタイム保存</a:t>
            </a:r>
          </a:p>
        </p:txBody>
      </p:sp>
      <p:sp>
        <p:nvSpPr>
          <p:cNvPr id="50" name="feature-note-2">
            <a:extLst>
              <a:ext uri="{FF2B5EF4-FFF2-40B4-BE49-F238E27FC236}">
                <a16:creationId xmlns:a16="http://schemas.microsoft.com/office/drawing/2014/main" id="{34EC9814-34FC-7E67-1C22-F0D5856B24FD}"/>
              </a:ext>
            </a:extLst>
          </p:cNvPr>
          <p:cNvSpPr>
            <a:spLocks noGrp="1"/>
          </p:cNvSpPr>
          <p:nvPr/>
        </p:nvSpPr>
        <p:spPr>
          <a:xfrm>
            <a:off x="7015162" y="7178675"/>
            <a:ext cx="4257675" cy="885825"/>
          </a:xfrm>
          <a:prstGeom prst="rect">
            <a:avLst/>
          </a:prstGeom>
          <a:noFill/>
          <a:ln w="0">
            <a:noFill/>
            <a:prstDash val="solid"/>
          </a:ln>
        </p:spPr>
        <p:txBody>
          <a:bodyPr anchor="ctr"/>
          <a:lstStyle/>
          <a:p>
            <a:pPr algn="l">
              <a:buNone/>
              <a:defRPr sz="1200" b="0">
                <a:solidFill>
                  <a:srgbClr val="6B7B75"/>
                </a:solidFill>
              </a:defRPr>
            </a:pPr>
            <a:r>
              <a:rPr>
                <a:solidFill>
                  <a:srgbClr val="6B7B75"/>
                </a:solidFill>
              </a:rPr>
              <a:t>履歴を即時に保存・反映して確認できる</a:t>
            </a:r>
          </a:p>
        </p:txBody>
      </p:sp>
      <p:sp>
        <p:nvSpPr>
          <p:cNvPr id="52" name="feature-3">
            <a:extLst>
              <a:ext uri="{FF2B5EF4-FFF2-40B4-BE49-F238E27FC236}">
                <a16:creationId xmlns:a16="http://schemas.microsoft.com/office/drawing/2014/main" id="{42E9175A-FA58-09B7-3170-F085645E8EA4}"/>
              </a:ext>
            </a:extLst>
          </p:cNvPr>
          <p:cNvSpPr>
            <a:spLocks noGrp="1"/>
          </p:cNvSpPr>
          <p:nvPr/>
        </p:nvSpPr>
        <p:spPr>
          <a:xfrm>
            <a:off x="12072937" y="2892425"/>
            <a:ext cx="5057775" cy="5572125"/>
          </a:xfrm>
          <a:prstGeom prst="roundRect">
            <a:avLst>
              <a:gd name="adj" fmla="val 3390"/>
            </a:avLst>
          </a:prstGeom>
          <a:solidFill>
            <a:srgbClr val="FFFDF4"/>
          </a:solidFill>
          <a:ln w="19050">
            <a:solidFill>
              <a:srgbClr val="C9D7CF"/>
            </a:solidFill>
            <a:prstDash val="solid"/>
          </a:ln>
        </p:spPr>
        <p:txBody>
          <a:bodyPr/>
          <a:lstStyle/>
          <a:p>
            <a:endParaRPr/>
          </a:p>
        </p:txBody>
      </p:sp>
      <p:sp>
        <p:nvSpPr>
          <p:cNvPr id="54" name="feature-band-3">
            <a:extLst>
              <a:ext uri="{FF2B5EF4-FFF2-40B4-BE49-F238E27FC236}">
                <a16:creationId xmlns:a16="http://schemas.microsoft.com/office/drawing/2014/main" id="{0A029D3D-5BA4-7A1B-F535-446B63FF80B6}"/>
              </a:ext>
            </a:extLst>
          </p:cNvPr>
          <p:cNvSpPr>
            <a:spLocks noGrp="1"/>
          </p:cNvSpPr>
          <p:nvPr/>
        </p:nvSpPr>
        <p:spPr>
          <a:xfrm>
            <a:off x="12072937" y="2892425"/>
            <a:ext cx="5057775" cy="1228725"/>
          </a:xfrm>
          <a:prstGeom prst="rect">
            <a:avLst/>
          </a:prstGeom>
          <a:solidFill>
            <a:srgbClr val="DCECE4"/>
          </a:solidFill>
          <a:ln w="0">
            <a:solidFill>
              <a:srgbClr val="DCECE4"/>
            </a:solidFill>
            <a:prstDash val="solid"/>
          </a:ln>
        </p:spPr>
        <p:txBody>
          <a:bodyPr/>
          <a:lstStyle/>
          <a:p>
            <a:endParaRPr/>
          </a:p>
        </p:txBody>
      </p:sp>
      <p:sp>
        <p:nvSpPr>
          <p:cNvPr id="56" name="number-3">
            <a:extLst>
              <a:ext uri="{FF2B5EF4-FFF2-40B4-BE49-F238E27FC236}">
                <a16:creationId xmlns:a16="http://schemas.microsoft.com/office/drawing/2014/main" id="{7F998F38-7E25-98D7-F62E-4AE788393550}"/>
              </a:ext>
            </a:extLst>
          </p:cNvPr>
          <p:cNvSpPr>
            <a:spLocks noGrp="1"/>
          </p:cNvSpPr>
          <p:nvPr/>
        </p:nvSpPr>
        <p:spPr>
          <a:xfrm>
            <a:off x="12072937" y="3049588"/>
            <a:ext cx="5057775" cy="771525"/>
          </a:xfrm>
          <a:prstGeom prst="rect">
            <a:avLst/>
          </a:prstGeom>
          <a:noFill/>
          <a:ln w="0">
            <a:noFill/>
            <a:prstDash val="solid"/>
          </a:ln>
        </p:spPr>
        <p:txBody>
          <a:bodyPr anchor="ctr"/>
          <a:lstStyle/>
          <a:p>
            <a:pPr algn="ctr">
              <a:buNone/>
              <a:defRPr sz="2250" b="1">
                <a:solidFill>
                  <a:srgbClr val="173D38"/>
                </a:solidFill>
              </a:defRPr>
            </a:pPr>
            <a:r>
              <a:rPr sz="3375" b="1">
                <a:solidFill>
                  <a:srgbClr val="173D38"/>
                </a:solidFill>
              </a:rPr>
              <a:t>3</a:t>
            </a:r>
          </a:p>
        </p:txBody>
      </p:sp>
      <p:sp>
        <p:nvSpPr>
          <p:cNvPr id="58" name="feature-title-3">
            <a:extLst>
              <a:ext uri="{FF2B5EF4-FFF2-40B4-BE49-F238E27FC236}">
                <a16:creationId xmlns:a16="http://schemas.microsoft.com/office/drawing/2014/main" id="{ECC147B9-F3D0-73EC-D93F-933032DAD988}"/>
              </a:ext>
            </a:extLst>
          </p:cNvPr>
          <p:cNvSpPr>
            <a:spLocks noGrp="1"/>
          </p:cNvSpPr>
          <p:nvPr/>
        </p:nvSpPr>
        <p:spPr>
          <a:xfrm>
            <a:off x="12472987" y="4549775"/>
            <a:ext cx="4257675" cy="714375"/>
          </a:xfrm>
          <a:prstGeom prst="rect">
            <a:avLst/>
          </a:prstGeom>
          <a:noFill/>
          <a:ln w="0">
            <a:noFill/>
            <a:prstDash val="solid"/>
          </a:ln>
        </p:spPr>
        <p:txBody>
          <a:bodyPr anchor="ctr"/>
          <a:lstStyle/>
          <a:p>
            <a:pPr algn="l">
              <a:buNone/>
              <a:defRPr sz="2025" b="1">
                <a:solidFill>
                  <a:srgbClr val="173D38"/>
                </a:solidFill>
              </a:defRPr>
            </a:pPr>
            <a:r>
              <a:rPr sz="3038" b="1">
                <a:solidFill>
                  <a:srgbClr val="173D38"/>
                </a:solidFill>
              </a:rPr>
              <a:t>ペース記録通知</a:t>
            </a:r>
          </a:p>
        </p:txBody>
      </p:sp>
      <p:sp>
        <p:nvSpPr>
          <p:cNvPr id="60" name="feature-body-3">
            <a:extLst>
              <a:ext uri="{FF2B5EF4-FFF2-40B4-BE49-F238E27FC236}">
                <a16:creationId xmlns:a16="http://schemas.microsoft.com/office/drawing/2014/main" id="{F2FF672E-25A1-4D4D-CA5C-875DA50D5665}"/>
              </a:ext>
            </a:extLst>
          </p:cNvPr>
          <p:cNvSpPr>
            <a:spLocks noGrp="1"/>
          </p:cNvSpPr>
          <p:nvPr/>
        </p:nvSpPr>
        <p:spPr>
          <a:xfrm>
            <a:off x="12472987" y="5578475"/>
            <a:ext cx="4257675" cy="1228725"/>
          </a:xfrm>
          <a:prstGeom prst="rect">
            <a:avLst/>
          </a:prstGeom>
          <a:noFill/>
          <a:ln w="0">
            <a:noFill/>
            <a:prstDash val="solid"/>
          </a:ln>
        </p:spPr>
        <p:txBody>
          <a:bodyPr anchor="ctr"/>
          <a:lstStyle/>
          <a:p>
            <a:pPr algn="l">
              <a:buNone/>
              <a:defRPr sz="1425" b="0">
                <a:solidFill>
                  <a:srgbClr val="334B45"/>
                </a:solidFill>
              </a:defRPr>
            </a:pPr>
            <a:r>
              <a:rPr sz="2138">
                <a:solidFill>
                  <a:srgbClr val="334B45"/>
                </a:solidFill>
              </a:rPr>
              <a:t>飲酒ペースを記録し、飲み過ぎを通知</a:t>
            </a:r>
          </a:p>
        </p:txBody>
      </p:sp>
      <p:sp>
        <p:nvSpPr>
          <p:cNvPr id="62" name="feature-note-3">
            <a:extLst>
              <a:ext uri="{FF2B5EF4-FFF2-40B4-BE49-F238E27FC236}">
                <a16:creationId xmlns:a16="http://schemas.microsoft.com/office/drawing/2014/main" id="{D791293C-C17A-9F51-0DA0-6DBAE0A1E430}"/>
              </a:ext>
            </a:extLst>
          </p:cNvPr>
          <p:cNvSpPr>
            <a:spLocks noGrp="1"/>
          </p:cNvSpPr>
          <p:nvPr/>
        </p:nvSpPr>
        <p:spPr>
          <a:xfrm>
            <a:off x="12472987" y="7178675"/>
            <a:ext cx="4257675" cy="885825"/>
          </a:xfrm>
          <a:prstGeom prst="rect">
            <a:avLst/>
          </a:prstGeom>
          <a:noFill/>
          <a:ln w="0">
            <a:noFill/>
            <a:prstDash val="solid"/>
          </a:ln>
        </p:spPr>
        <p:txBody>
          <a:bodyPr anchor="ctr"/>
          <a:lstStyle/>
          <a:p>
            <a:pPr algn="l">
              <a:buNone/>
              <a:defRPr sz="1200" b="0">
                <a:solidFill>
                  <a:srgbClr val="6B7B75"/>
                </a:solidFill>
              </a:defRPr>
            </a:pPr>
            <a:r>
              <a:rPr>
                <a:solidFill>
                  <a:srgbClr val="6B7B75"/>
                </a:solidFill>
              </a:rPr>
              <a:t>経過時間と注文履歴からペースを見える化</a:t>
            </a:r>
          </a:p>
        </p:txBody>
      </p:sp>
      <p:sp>
        <p:nvSpPr>
          <p:cNvPr id="64" name="footer">
            <a:extLst>
              <a:ext uri="{FF2B5EF4-FFF2-40B4-BE49-F238E27FC236}">
                <a16:creationId xmlns:a16="http://schemas.microsoft.com/office/drawing/2014/main" id="{358F2891-5488-3E37-F5AD-D80178936170}"/>
              </a:ext>
            </a:extLst>
          </p:cNvPr>
          <p:cNvSpPr>
            <a:spLocks noGrp="1"/>
          </p:cNvSpPr>
          <p:nvPr/>
        </p:nvSpPr>
        <p:spPr>
          <a:xfrm>
            <a:off x="1157287" y="9121775"/>
            <a:ext cx="2857500" cy="342900"/>
          </a:xfrm>
          <a:prstGeom prst="rect">
            <a:avLst/>
          </a:prstGeom>
          <a:noFill/>
          <a:ln w="0">
            <a:noFill/>
            <a:prstDash val="solid"/>
          </a:ln>
        </p:spPr>
        <p:txBody>
          <a:bodyPr anchor="ctr"/>
          <a:lstStyle/>
          <a:p>
            <a:pPr algn="l">
              <a:buNone/>
              <a:defRPr sz="1050" b="1">
                <a:solidFill>
                  <a:srgbClr val="83918B"/>
                </a:solidFill>
              </a:defRPr>
            </a:pPr>
            <a:r>
              <a:rPr sz="1575" b="1">
                <a:solidFill>
                  <a:srgbClr val="83918B"/>
                </a:solidFill>
              </a:rPr>
              <a:t>SakeStop</a:t>
            </a:r>
          </a:p>
        </p:txBody>
      </p:sp>
    </p:spTree>
    <p:extLst>
      <p:ext uri="{BB962C8B-B14F-4D97-AF65-F5344CB8AC3E}">
        <p14:creationId xmlns:p14="http://schemas.microsoft.com/office/powerpoint/2010/main" val="70880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43EEB7A2-09A5-4443-A77A-42470FC1B7E4}"/>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78C1EB84-A46C-443B-A8AB-9403969DD841}"/>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pic>
        <p:nvPicPr>
          <p:cNvPr id="9" name="図 8"/>
          <p:cNvPicPr>
            <a:picLocks noChangeAspect="1"/>
          </p:cNvPicPr>
          <p:nvPr/>
        </p:nvPicPr>
        <p:blipFill>
          <a:blip r:embed="rId3"/>
          <a:stretch/>
        </p:blipFill>
        <p:spPr>
          <a:xfrm>
            <a:off x="4607433" y="666750"/>
            <a:ext cx="9073039" cy="9073039"/>
          </a:xfrm>
          <a:prstGeom prst="rect">
            <a:avLst/>
          </a:prstGeom>
        </p:spPr>
      </p:pic>
    </p:spTree>
    <p:extLst>
      <p:ext uri="{BB962C8B-B14F-4D97-AF65-F5344CB8AC3E}">
        <p14:creationId xmlns:p14="http://schemas.microsoft.com/office/powerpoint/2010/main" val="449538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159020EE-9E89-4CD4-8141-1A2B5CBE468F}"/>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9CD3ABDB-3FA4-4B87-8934-66D3F6FCC9F4}"/>
              </a:ext>
            </a:extLst>
          </p:cNvPr>
          <p:cNvSpPr>
            <a:spLocks noGrp="1"/>
          </p:cNvSpPr>
          <p:nvPr/>
        </p:nvSpPr>
        <p:spPr>
          <a:xfrm>
            <a:off x="177108"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8" name="TextBox 8">
            <a:extLst>
              <a:ext uri="{FF2B5EF4-FFF2-40B4-BE49-F238E27FC236}">
                <a16:creationId xmlns:a16="http://schemas.microsoft.com/office/drawing/2014/main" id="{B186875E-200E-458F-8A79-3FC3295FA72A}"/>
              </a:ext>
            </a:extLst>
          </p:cNvPr>
          <p:cNvSpPr>
            <a:spLocks noGrp="1"/>
          </p:cNvSpPr>
          <p:nvPr/>
        </p:nvSpPr>
        <p:spPr>
          <a:xfrm>
            <a:off x="992238" y="2185987"/>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飲酒ペースの目安と注意表示</a:t>
            </a:r>
          </a:p>
        </p:txBody>
      </p:sp>
      <p:sp>
        <p:nvSpPr>
          <p:cNvPr id="9" name="TextBox 9">
            <a:extLst>
              <a:ext uri="{FF2B5EF4-FFF2-40B4-BE49-F238E27FC236}">
                <a16:creationId xmlns:a16="http://schemas.microsoft.com/office/drawing/2014/main" id="{05174D34-933A-4663-AECD-6BA0679DE046}"/>
              </a:ext>
            </a:extLst>
          </p:cNvPr>
          <p:cNvSpPr>
            <a:spLocks noGrp="1"/>
          </p:cNvSpPr>
          <p:nvPr/>
        </p:nvSpPr>
        <p:spPr>
          <a:xfrm>
            <a:off x="3588844" y="3952132"/>
            <a:ext cx="3398552" cy="960653"/>
          </a:xfrm>
          <a:prstGeom prst="rect">
            <a:avLst/>
          </a:prstGeom>
        </p:spPr>
        <p:txBody>
          <a:bodyPr wrap="square" lIns="0" tIns="0" rIns="0" bIns="0" anchor="t">
            <a:spAutoFit/>
          </a:bodyPr>
          <a:lstStyle/>
          <a:p>
            <a:pPr algn="ctr">
              <a:lnSpc>
                <a:spcPts val="7270"/>
              </a:lnSpc>
              <a:buNone/>
            </a:pPr>
            <a:r>
              <a:rPr sz="7300" b="1">
                <a:solidFill>
                  <a:srgbClr val="3B4E4E"/>
                </a:solidFill>
                <a:latin typeface="Syne Bold"/>
                <a:ea typeface="Syne Bold"/>
                <a:cs typeface="Syne Bold"/>
              </a:rPr>
              <a:t>６０ｇ</a:t>
            </a:r>
          </a:p>
        </p:txBody>
      </p:sp>
      <p:sp>
        <p:nvSpPr>
          <p:cNvPr id="10" name="TextBox 10">
            <a:extLst>
              <a:ext uri="{FF2B5EF4-FFF2-40B4-BE49-F238E27FC236}">
                <a16:creationId xmlns:a16="http://schemas.microsoft.com/office/drawing/2014/main" id="{454D51E4-C949-4492-96FB-B5159FAB70BA}"/>
              </a:ext>
            </a:extLst>
          </p:cNvPr>
          <p:cNvSpPr>
            <a:spLocks noGrp="1"/>
          </p:cNvSpPr>
          <p:nvPr/>
        </p:nvSpPr>
        <p:spPr>
          <a:xfrm>
            <a:off x="3779344" y="5080102"/>
            <a:ext cx="2475406" cy="421691"/>
          </a:xfrm>
          <a:prstGeom prst="rect">
            <a:avLst/>
          </a:prstGeom>
        </p:spPr>
        <p:txBody>
          <a:bodyPr wrap="square" lIns="0" tIns="0" rIns="0" bIns="0" anchor="t">
            <a:spAutoFit/>
          </a:bodyPr>
          <a:lstStyle/>
          <a:p>
            <a:pPr algn="ctr">
              <a:lnSpc>
                <a:spcPts val="3369"/>
              </a:lnSpc>
              <a:buNone/>
            </a:pPr>
            <a:r>
              <a:rPr sz="2700" b="1">
                <a:solidFill>
                  <a:srgbClr val="3B4E4E"/>
                </a:solidFill>
                <a:latin typeface="Syne Bold"/>
                <a:ea typeface="Syne Bold"/>
                <a:cs typeface="Syne Bold"/>
              </a:rPr>
              <a:t>注意表示の目安</a:t>
            </a:r>
          </a:p>
        </p:txBody>
      </p:sp>
      <p:sp>
        <p:nvSpPr>
          <p:cNvPr id="11" name="TextBox 11">
            <a:extLst>
              <a:ext uri="{FF2B5EF4-FFF2-40B4-BE49-F238E27FC236}">
                <a16:creationId xmlns:a16="http://schemas.microsoft.com/office/drawing/2014/main" id="{33540789-59B9-4710-9A1D-D5E08696C681}"/>
              </a:ext>
            </a:extLst>
          </p:cNvPr>
          <p:cNvSpPr>
            <a:spLocks noGrp="1"/>
          </p:cNvSpPr>
          <p:nvPr/>
        </p:nvSpPr>
        <p:spPr>
          <a:xfrm>
            <a:off x="992238" y="5626446"/>
            <a:ext cx="7974511" cy="539353"/>
          </a:xfrm>
          <a:prstGeom prst="rect">
            <a:avLst/>
          </a:prstGeom>
        </p:spPr>
        <p:txBody>
          <a:bodyPr lIns="0" tIns="0" rIns="0" bIns="0" anchor="t">
            <a:spAutoFit/>
          </a:bodyPr>
          <a:lstStyle/>
          <a:p>
            <a:pPr algn="ctr">
              <a:lnSpc>
                <a:spcPts val="3511"/>
              </a:lnSpc>
              <a:buNone/>
            </a:pPr>
            <a:r>
              <a:rPr sz="2200">
                <a:solidFill>
                  <a:srgbClr val="3B4E4E"/>
                </a:solidFill>
                <a:latin typeface="Overpass Light"/>
                <a:ea typeface="Overpass Light"/>
                <a:cs typeface="Overpass Light"/>
              </a:rPr>
              <a:t>直近30分の純アルコール量が60g以上で表示</a:t>
            </a:r>
          </a:p>
        </p:txBody>
      </p:sp>
      <p:sp>
        <p:nvSpPr>
          <p:cNvPr id="12" name="TextBox 12">
            <a:extLst>
              <a:ext uri="{FF2B5EF4-FFF2-40B4-BE49-F238E27FC236}">
                <a16:creationId xmlns:a16="http://schemas.microsoft.com/office/drawing/2014/main" id="{CFDF62B8-A2D7-490B-B7D9-9D7DB338DF5E}"/>
              </a:ext>
            </a:extLst>
          </p:cNvPr>
          <p:cNvSpPr>
            <a:spLocks noGrp="1"/>
          </p:cNvSpPr>
          <p:nvPr/>
        </p:nvSpPr>
        <p:spPr>
          <a:xfrm>
            <a:off x="11917784" y="3952132"/>
            <a:ext cx="3398551" cy="960653"/>
          </a:xfrm>
          <a:prstGeom prst="rect">
            <a:avLst/>
          </a:prstGeom>
        </p:spPr>
        <p:txBody>
          <a:bodyPr wrap="square" lIns="0" tIns="0" rIns="0" bIns="0" anchor="t">
            <a:spAutoFit/>
          </a:bodyPr>
          <a:lstStyle/>
          <a:p>
            <a:pPr algn="ctr">
              <a:lnSpc>
                <a:spcPts val="7270"/>
              </a:lnSpc>
              <a:buNone/>
            </a:pPr>
            <a:r>
              <a:rPr sz="7300" b="1">
                <a:solidFill>
                  <a:srgbClr val="3B4E4E"/>
                </a:solidFill>
                <a:latin typeface="Syne Bold"/>
                <a:ea typeface="Syne Bold"/>
                <a:cs typeface="Syne Bold"/>
              </a:rPr>
              <a:t>３０分</a:t>
            </a:r>
          </a:p>
        </p:txBody>
      </p:sp>
      <p:sp>
        <p:nvSpPr>
          <p:cNvPr id="13" name="TextBox 13">
            <a:extLst>
              <a:ext uri="{FF2B5EF4-FFF2-40B4-BE49-F238E27FC236}">
                <a16:creationId xmlns:a16="http://schemas.microsoft.com/office/drawing/2014/main" id="{C15462FB-D313-4A0C-AB7A-3689079201E9}"/>
              </a:ext>
            </a:extLst>
          </p:cNvPr>
          <p:cNvSpPr>
            <a:spLocks noGrp="1"/>
          </p:cNvSpPr>
          <p:nvPr/>
        </p:nvSpPr>
        <p:spPr>
          <a:xfrm>
            <a:off x="9321108" y="5080102"/>
            <a:ext cx="7974654" cy="461962"/>
          </a:xfrm>
          <a:prstGeom prst="rect">
            <a:avLst/>
          </a:prstGeom>
        </p:spPr>
        <p:txBody>
          <a:bodyPr lIns="0" tIns="0" rIns="0" bIns="0" anchor="t">
            <a:spAutoFit/>
          </a:bodyPr>
          <a:lstStyle/>
          <a:p>
            <a:pPr algn="ctr">
              <a:lnSpc>
                <a:spcPts val="3369"/>
              </a:lnSpc>
              <a:buNone/>
            </a:pPr>
            <a:r>
              <a:rPr sz="2700" b="1">
                <a:solidFill>
                  <a:srgbClr val="3B4E4E"/>
                </a:solidFill>
                <a:latin typeface="Syne Bold"/>
                <a:ea typeface="Syne Bold"/>
                <a:cs typeface="Syne Bold"/>
              </a:rPr>
              <a:t>通知間隔</a:t>
            </a:r>
          </a:p>
        </p:txBody>
      </p:sp>
      <p:sp>
        <p:nvSpPr>
          <p:cNvPr id="14" name="TextBox 14">
            <a:extLst>
              <a:ext uri="{FF2B5EF4-FFF2-40B4-BE49-F238E27FC236}">
                <a16:creationId xmlns:a16="http://schemas.microsoft.com/office/drawing/2014/main" id="{7D2E0D12-D671-40B1-B1CD-64EBDB21B410}"/>
              </a:ext>
            </a:extLst>
          </p:cNvPr>
          <p:cNvSpPr>
            <a:spLocks noGrp="1"/>
          </p:cNvSpPr>
          <p:nvPr/>
        </p:nvSpPr>
        <p:spPr>
          <a:xfrm>
            <a:off x="9321108" y="5626446"/>
            <a:ext cx="7974654" cy="539353"/>
          </a:xfrm>
          <a:prstGeom prst="rect">
            <a:avLst/>
          </a:prstGeom>
        </p:spPr>
        <p:txBody>
          <a:bodyPr lIns="0" tIns="0" rIns="0" bIns="0" anchor="t">
            <a:spAutoFit/>
          </a:bodyPr>
          <a:lstStyle/>
          <a:p>
            <a:pPr algn="ctr">
              <a:lnSpc>
                <a:spcPts val="3511"/>
              </a:lnSpc>
              <a:buNone/>
            </a:pPr>
            <a:r>
              <a:rPr sz="2200">
                <a:solidFill>
                  <a:srgbClr val="3B4E4E"/>
                </a:solidFill>
                <a:latin typeface="Overpass Light"/>
                <a:ea typeface="Overpass Light"/>
                <a:cs typeface="Overpass Light"/>
              </a:rPr>
              <a:t>同じ注意が連続表示されないよう間隔を設定</a:t>
            </a:r>
          </a:p>
        </p:txBody>
      </p:sp>
      <p:sp>
        <p:nvSpPr>
          <p:cNvPr id="16" name="Freeform 16">
            <a:extLst>
              <a:ext uri="{FF2B5EF4-FFF2-40B4-BE49-F238E27FC236}">
                <a16:creationId xmlns:a16="http://schemas.microsoft.com/office/drawing/2014/main" id="{B7EF63E0-7D34-41E2-B5FA-1CF7EA48EEF3}"/>
              </a:ext>
            </a:extLst>
          </p:cNvPr>
          <p:cNvSpPr>
            <a:spLocks noGrp="1"/>
          </p:cNvSpPr>
          <p:nvPr/>
        </p:nvSpPr>
        <p:spPr>
          <a:xfrm>
            <a:off x="992238" y="6484744"/>
            <a:ext cx="16303466" cy="1587532"/>
          </a:xfrm>
          <a:custGeom>
            <a:avLst/>
            <a:gdLst/>
            <a:ahLst/>
            <a:cxnLst/>
            <a:rect l="l" t="t" r="r" b="b"/>
            <a:pathLst>
              <a:path w="21737955" h="2116709">
                <a:moveTo>
                  <a:pt x="0" y="158750"/>
                </a:moveTo>
                <a:cubicBezTo>
                  <a:pt x="0" y="71120"/>
                  <a:pt x="71120" y="0"/>
                  <a:pt x="158750" y="0"/>
                </a:cubicBezTo>
                <a:lnTo>
                  <a:pt x="21579205" y="0"/>
                </a:lnTo>
                <a:cubicBezTo>
                  <a:pt x="21666836" y="0"/>
                  <a:pt x="21737955" y="71120"/>
                  <a:pt x="21737955" y="158750"/>
                </a:cubicBezTo>
                <a:lnTo>
                  <a:pt x="21737955" y="1957959"/>
                </a:lnTo>
                <a:cubicBezTo>
                  <a:pt x="21737955" y="2045589"/>
                  <a:pt x="21666836" y="2116709"/>
                  <a:pt x="21579205" y="2116709"/>
                </a:cubicBezTo>
                <a:lnTo>
                  <a:pt x="158750" y="2116709"/>
                </a:lnTo>
                <a:cubicBezTo>
                  <a:pt x="71120" y="2116709"/>
                  <a:pt x="0" y="2045589"/>
                  <a:pt x="0" y="1957959"/>
                </a:cubicBezTo>
                <a:close/>
              </a:path>
            </a:pathLst>
          </a:custGeom>
          <a:solidFill>
            <a:srgbClr val="DDEEE6"/>
          </a:solidFill>
        </p:spPr>
        <p:txBody>
          <a:bodyPr/>
          <a:lstStyle/>
          <a:p>
            <a:endParaRPr/>
          </a:p>
        </p:txBody>
      </p:sp>
      <p:sp>
        <p:nvSpPr>
          <p:cNvPr id="19" name="TextBox 19">
            <a:extLst>
              <a:ext uri="{FF2B5EF4-FFF2-40B4-BE49-F238E27FC236}">
                <a16:creationId xmlns:a16="http://schemas.microsoft.com/office/drawing/2014/main" id="{9EE083B7-66A8-41F1-8614-79EE8974773F}"/>
              </a:ext>
            </a:extLst>
          </p:cNvPr>
          <p:cNvSpPr>
            <a:spLocks noGrp="1"/>
          </p:cNvSpPr>
          <p:nvPr/>
        </p:nvSpPr>
        <p:spPr>
          <a:xfrm>
            <a:off x="1913630" y="6753377"/>
            <a:ext cx="15098611" cy="870110"/>
          </a:xfrm>
          <a:prstGeom prst="rect">
            <a:avLst/>
          </a:prstGeom>
        </p:spPr>
        <p:txBody>
          <a:bodyPr lIns="0" tIns="0" rIns="0" bIns="0" anchor="t">
            <a:spAutoFit/>
          </a:bodyPr>
          <a:lstStyle/>
          <a:p>
            <a:pPr algn="l">
              <a:lnSpc>
                <a:spcPts val="3511"/>
              </a:lnSpc>
              <a:buNone/>
            </a:pPr>
            <a:r>
              <a:rPr sz="2200">
                <a:solidFill>
                  <a:srgbClr val="000000"/>
                </a:solidFill>
                <a:latin typeface="Overpass Light"/>
                <a:ea typeface="Overpass Light"/>
                <a:cs typeface="Overpass Light"/>
              </a:rPr>
              <a:t>この数値は飲酒ペースを振り返るための目安です。</a:t>
            </a:r>
          </a:p>
          <a:p>
            <a:pPr algn="l">
              <a:lnSpc>
                <a:spcPts val="3511"/>
              </a:lnSpc>
              <a:buNone/>
            </a:pPr>
            <a:r>
              <a:rPr sz="2200">
                <a:solidFill>
                  <a:srgbClr val="000000"/>
                </a:solidFill>
                <a:latin typeface="Overpass Light"/>
                <a:ea typeface="Overpass Light"/>
                <a:cs typeface="Overpass Light"/>
              </a:rPr>
              <a:t>医療的な診断や、飲酒してよいかどうかを判断する機能ではありません。</a:t>
            </a:r>
          </a:p>
        </p:txBody>
      </p:sp>
      <p:sp>
        <p:nvSpPr>
          <p:cNvPr id="20" name="gamma-badge-cover">
            <a:extLst>
              <a:ext uri="{FF2B5EF4-FFF2-40B4-BE49-F238E27FC236}">
                <a16:creationId xmlns:a16="http://schemas.microsoft.com/office/drawing/2014/main" id="{FA199D1A-C1C2-4CFA-B604-ADB6025E5FD0}"/>
              </a:ext>
            </a:extLst>
          </p:cNvPr>
          <p:cNvSpPr>
            <a:spLocks noGrp="1"/>
          </p:cNvSpPr>
          <p:nvPr/>
        </p:nvSpPr>
        <p:spPr>
          <a:xfrm>
            <a:off x="15982950" y="9601200"/>
            <a:ext cx="2305050" cy="685800"/>
          </a:xfrm>
          <a:prstGeom prst="rect">
            <a:avLst/>
          </a:prstGeom>
          <a:solidFill>
            <a:srgbClr val="FFFDE6"/>
          </a:solidFill>
          <a:ln w="0">
            <a:noFill/>
            <a:prstDash val="solid"/>
          </a:ln>
        </p:spPr>
        <p:txBody>
          <a:bodyPr/>
          <a:lstStyle/>
          <a:p>
            <a:endParaRPr/>
          </a:p>
        </p:txBody>
      </p:sp>
    </p:spTree>
    <p:extLst>
      <p:ext uri="{BB962C8B-B14F-4D97-AF65-F5344CB8AC3E}">
        <p14:creationId xmlns:p14="http://schemas.microsoft.com/office/powerpoint/2010/main" val="818100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C58682BD-A143-45FB-A7CE-067164DCD92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CE8C43D0-3EC4-4150-9A59-83F2AE59BAED}"/>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8" name="TextBox 8">
            <a:extLst>
              <a:ext uri="{FF2B5EF4-FFF2-40B4-BE49-F238E27FC236}">
                <a16:creationId xmlns:a16="http://schemas.microsoft.com/office/drawing/2014/main" id="{CE2F9C40-2B47-4A72-891E-491E737069C1}"/>
              </a:ext>
            </a:extLst>
          </p:cNvPr>
          <p:cNvSpPr>
            <a:spLocks noGrp="1"/>
          </p:cNvSpPr>
          <p:nvPr/>
        </p:nvSpPr>
        <p:spPr>
          <a:xfrm>
            <a:off x="992238" y="1160269"/>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開発環境とスケジュール</a:t>
            </a:r>
          </a:p>
        </p:txBody>
      </p:sp>
      <p:sp>
        <p:nvSpPr>
          <p:cNvPr id="10" name="Freeform 10">
            <a:extLst>
              <a:ext uri="{FF2B5EF4-FFF2-40B4-BE49-F238E27FC236}">
                <a16:creationId xmlns:a16="http://schemas.microsoft.com/office/drawing/2014/main" id="{3D0F4E80-C724-4C45-B401-E87AB865DDA0}"/>
              </a:ext>
            </a:extLst>
          </p:cNvPr>
          <p:cNvSpPr>
            <a:spLocks noGrp="1"/>
          </p:cNvSpPr>
          <p:nvPr/>
        </p:nvSpPr>
        <p:spPr>
          <a:xfrm>
            <a:off x="992238" y="2974924"/>
            <a:ext cx="10355199" cy="5648134"/>
          </a:xfrm>
          <a:custGeom>
            <a:avLst/>
            <a:gdLst/>
            <a:ahLst/>
            <a:cxnLst/>
            <a:rect l="l" t="t" r="r" b="b"/>
            <a:pathLst>
              <a:path w="13806932" h="7530846">
                <a:moveTo>
                  <a:pt x="0" y="0"/>
                </a:moveTo>
                <a:lnTo>
                  <a:pt x="13806932" y="0"/>
                </a:lnTo>
                <a:lnTo>
                  <a:pt x="13806932" y="7530846"/>
                </a:lnTo>
                <a:lnTo>
                  <a:pt x="0" y="7530846"/>
                </a:lnTo>
                <a:lnTo>
                  <a:pt x="0" y="0"/>
                </a:lnTo>
                <a:close/>
              </a:path>
            </a:pathLst>
          </a:custGeom>
          <a:blipFill>
            <a:blip r:embed="rId3"/>
            <a:stretch>
              <a:fillRect l="-37" r="-37"/>
            </a:stretch>
          </a:blipFill>
        </p:spPr>
        <p:txBody>
          <a:bodyPr/>
          <a:lstStyle/>
          <a:p>
            <a:endParaRPr/>
          </a:p>
        </p:txBody>
      </p:sp>
      <p:sp>
        <p:nvSpPr>
          <p:cNvPr id="11" name="TextBox 11">
            <a:extLst>
              <a:ext uri="{FF2B5EF4-FFF2-40B4-BE49-F238E27FC236}">
                <a16:creationId xmlns:a16="http://schemas.microsoft.com/office/drawing/2014/main" id="{2999EC31-765E-4ED3-9B32-30A86DA23901}"/>
              </a:ext>
            </a:extLst>
          </p:cNvPr>
          <p:cNvSpPr>
            <a:spLocks noGrp="1"/>
          </p:cNvSpPr>
          <p:nvPr/>
        </p:nvSpPr>
        <p:spPr>
          <a:xfrm>
            <a:off x="12048677" y="2764479"/>
            <a:ext cx="5256457"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開発環境</a:t>
            </a:r>
          </a:p>
        </p:txBody>
      </p:sp>
      <p:sp>
        <p:nvSpPr>
          <p:cNvPr id="12" name="TextBox 12">
            <a:extLst>
              <a:ext uri="{FF2B5EF4-FFF2-40B4-BE49-F238E27FC236}">
                <a16:creationId xmlns:a16="http://schemas.microsoft.com/office/drawing/2014/main" id="{7BB15EB8-A28B-4F66-B7AF-FCE82F7F8E85}"/>
              </a:ext>
            </a:extLst>
          </p:cNvPr>
          <p:cNvSpPr>
            <a:spLocks noGrp="1"/>
          </p:cNvSpPr>
          <p:nvPr/>
        </p:nvSpPr>
        <p:spPr>
          <a:xfrm>
            <a:off x="12048677" y="3424237"/>
            <a:ext cx="5256457" cy="1644853"/>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Flutter 3.35.7 (stable) / Dart 3.9.2</a:t>
            </a:r>
          </a:p>
          <a:p>
            <a:pPr marL="530860" indent="-265430" algn="l">
              <a:lnSpc>
                <a:spcPts val="3511"/>
              </a:lnSpc>
              <a:buChar char="•"/>
            </a:pPr>
            <a:r>
              <a:rPr sz="2200">
                <a:solidFill>
                  <a:srgbClr val="3B4E4E"/>
                </a:solidFill>
                <a:latin typeface="Overpass Light"/>
                <a:ea typeface="Overpass Light"/>
                <a:cs typeface="Overpass Light"/>
              </a:rPr>
              <a:t>Firebase Realtime Database</a:t>
            </a:r>
          </a:p>
          <a:p>
            <a:pPr marL="530860" indent="-265430" algn="l">
              <a:lnSpc>
                <a:spcPts val="3511"/>
              </a:lnSpc>
              <a:buChar char="•"/>
            </a:pPr>
            <a:r>
              <a:rPr sz="2200">
                <a:solidFill>
                  <a:srgbClr val="3B4E4E"/>
                </a:solidFill>
                <a:latin typeface="Overpass Light"/>
                <a:ea typeface="Overpass Light"/>
                <a:cs typeface="Overpass Light"/>
              </a:rPr>
              <a:t>Gitで変更履歴を管理</a:t>
            </a:r>
          </a:p>
        </p:txBody>
      </p:sp>
      <p:sp>
        <p:nvSpPr>
          <p:cNvPr id="13" name="TextBox 13">
            <a:extLst>
              <a:ext uri="{FF2B5EF4-FFF2-40B4-BE49-F238E27FC236}">
                <a16:creationId xmlns:a16="http://schemas.microsoft.com/office/drawing/2014/main" id="{DC5DD34B-08A5-464D-8E4B-7ADD5E0789A8}"/>
              </a:ext>
            </a:extLst>
          </p:cNvPr>
          <p:cNvSpPr>
            <a:spLocks noGrp="1"/>
          </p:cNvSpPr>
          <p:nvPr/>
        </p:nvSpPr>
        <p:spPr>
          <a:xfrm>
            <a:off x="12048677" y="5333552"/>
            <a:ext cx="5256457"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スケジュール（5月〜7月）</a:t>
            </a:r>
          </a:p>
        </p:txBody>
      </p:sp>
      <p:sp>
        <p:nvSpPr>
          <p:cNvPr id="14" name="TextBox 14">
            <a:extLst>
              <a:ext uri="{FF2B5EF4-FFF2-40B4-BE49-F238E27FC236}">
                <a16:creationId xmlns:a16="http://schemas.microsoft.com/office/drawing/2014/main" id="{4B714D20-46EA-4A9E-A70B-8A6D75E057E0}"/>
              </a:ext>
            </a:extLst>
          </p:cNvPr>
          <p:cNvSpPr>
            <a:spLocks noGrp="1"/>
          </p:cNvSpPr>
          <p:nvPr/>
        </p:nvSpPr>
        <p:spPr>
          <a:xfrm>
            <a:off x="12048677" y="5993311"/>
            <a:ext cx="5256457" cy="2165833"/>
          </a:xfrm>
          <a:prstGeom prst="rect">
            <a:avLst/>
          </a:prstGeom>
        </p:spPr>
        <p:txBody>
          <a:bodyPr lIns="0" tIns="0" rIns="0" bIns="0" anchor="t">
            <a:spAutoFit/>
          </a:bodyPr>
          <a:lstStyle/>
          <a:p>
            <a:pPr marL="530860" indent="-265430" algn="l">
              <a:lnSpc>
                <a:spcPts val="3511"/>
              </a:lnSpc>
              <a:buChar char="•"/>
            </a:pPr>
            <a:r>
              <a:rPr sz="2200" b="1">
                <a:solidFill>
                  <a:srgbClr val="3B4E4E"/>
                </a:solidFill>
                <a:latin typeface="Overpass Bold"/>
                <a:ea typeface="Overpass Bold"/>
                <a:cs typeface="Overpass Bold"/>
              </a:rPr>
              <a:t>5月</a:t>
            </a:r>
            <a:r>
              <a:rPr sz="2200">
                <a:solidFill>
                  <a:srgbClr val="3B4E4E"/>
                </a:solidFill>
                <a:latin typeface="Overpass Light"/>
                <a:ea typeface="Overpass Light"/>
                <a:cs typeface="Overpass Light"/>
              </a:rPr>
              <a:t>：タップカウント型から注文アプリへ方向転換・仕様整理</a:t>
            </a:r>
          </a:p>
          <a:p>
            <a:pPr marL="530860" indent="-265430" algn="l">
              <a:lnSpc>
                <a:spcPts val="3511"/>
              </a:lnSpc>
              <a:buChar char="•"/>
            </a:pPr>
            <a:r>
              <a:rPr sz="2200" b="1">
                <a:solidFill>
                  <a:srgbClr val="3B4E4E"/>
                </a:solidFill>
                <a:latin typeface="Overpass Bold"/>
                <a:ea typeface="Overpass Bold"/>
                <a:cs typeface="Overpass Bold"/>
              </a:rPr>
              <a:t>6月</a:t>
            </a:r>
            <a:r>
              <a:rPr sz="2200">
                <a:solidFill>
                  <a:srgbClr val="3B4E4E"/>
                </a:solidFill>
                <a:latin typeface="Overpass Light"/>
                <a:ea typeface="Overpass Light"/>
                <a:cs typeface="Overpass Light"/>
              </a:rPr>
              <a:t>：Firebase連携・カート機能・注文履歴・飲酒ペース判定を実装</a:t>
            </a:r>
          </a:p>
          <a:p>
            <a:pPr marL="530860" indent="-265430" algn="l">
              <a:lnSpc>
                <a:spcPts val="3511"/>
              </a:lnSpc>
              <a:buChar char="•"/>
            </a:pPr>
            <a:r>
              <a:rPr sz="2200" b="1">
                <a:solidFill>
                  <a:srgbClr val="3B4E4E"/>
                </a:solidFill>
                <a:latin typeface="Overpass Bold"/>
                <a:ea typeface="Overpass Bold"/>
                <a:cs typeface="Overpass Bold"/>
              </a:rPr>
              <a:t>7月</a:t>
            </a:r>
            <a:r>
              <a:rPr sz="2200">
                <a:solidFill>
                  <a:srgbClr val="3B4E4E"/>
                </a:solidFill>
                <a:latin typeface="Overpass Light"/>
                <a:ea typeface="Overpass Light"/>
                <a:cs typeface="Overpass Light"/>
              </a:rPr>
              <a:t>：UI調整・不要な機能を削除</a:t>
            </a:r>
          </a:p>
        </p:txBody>
      </p:sp>
      <p:sp>
        <p:nvSpPr>
          <p:cNvPr id="15" name="gamma-badge-cover">
            <a:extLst>
              <a:ext uri="{FF2B5EF4-FFF2-40B4-BE49-F238E27FC236}">
                <a16:creationId xmlns:a16="http://schemas.microsoft.com/office/drawing/2014/main" id="{F748A986-6A55-403A-8125-C01DEA5CFFDD}"/>
              </a:ext>
            </a:extLst>
          </p:cNvPr>
          <p:cNvSpPr>
            <a:spLocks noGrp="1"/>
          </p:cNvSpPr>
          <p:nvPr/>
        </p:nvSpPr>
        <p:spPr>
          <a:xfrm>
            <a:off x="15982950" y="9601200"/>
            <a:ext cx="2305050" cy="685800"/>
          </a:xfrm>
          <a:prstGeom prst="rect">
            <a:avLst/>
          </a:prstGeom>
          <a:solidFill>
            <a:srgbClr val="FFFDE6"/>
          </a:solidFill>
          <a:ln w="0">
            <a:noFill/>
            <a:prstDash val="solid"/>
          </a:ln>
        </p:spPr>
        <p:txBody>
          <a:bodyPr/>
          <a:lstStyle/>
          <a:p>
            <a:endParaRPr/>
          </a:p>
        </p:txBody>
      </p:sp>
    </p:spTree>
    <p:extLst>
      <p:ext uri="{BB962C8B-B14F-4D97-AF65-F5344CB8AC3E}">
        <p14:creationId xmlns:p14="http://schemas.microsoft.com/office/powerpoint/2010/main" val="4456446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07EFD2DE-32BB-40E2-9994-561C063F10AA}"/>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0D9904F8-0102-4B91-BF57-E98C6330E15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8BDE3B26-7186-4F5E-B24A-5DA0CFF8B295}"/>
              </a:ext>
            </a:extLst>
          </p:cNvPr>
          <p:cNvSpPr>
            <a:spLocks noGrp="1"/>
          </p:cNvSpPr>
          <p:nvPr/>
        </p:nvSpPr>
        <p:spPr>
          <a:xfrm>
            <a:off x="992238" y="2117084"/>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テストとAIの活用</a:t>
            </a:r>
          </a:p>
        </p:txBody>
      </p:sp>
      <p:sp>
        <p:nvSpPr>
          <p:cNvPr id="7" name="TextBox 7">
            <a:extLst>
              <a:ext uri="{FF2B5EF4-FFF2-40B4-BE49-F238E27FC236}">
                <a16:creationId xmlns:a16="http://schemas.microsoft.com/office/drawing/2014/main" id="{23131802-B802-4C6F-A597-79CE01704BA9}"/>
              </a:ext>
            </a:extLst>
          </p:cNvPr>
          <p:cNvSpPr>
            <a:spLocks noGrp="1"/>
          </p:cNvSpPr>
          <p:nvPr/>
        </p:nvSpPr>
        <p:spPr>
          <a:xfrm>
            <a:off x="992238" y="3721294"/>
            <a:ext cx="7805890"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テスト内容</a:t>
            </a:r>
          </a:p>
        </p:txBody>
      </p:sp>
      <p:sp>
        <p:nvSpPr>
          <p:cNvPr id="8" name="TextBox 8">
            <a:extLst>
              <a:ext uri="{FF2B5EF4-FFF2-40B4-BE49-F238E27FC236}">
                <a16:creationId xmlns:a16="http://schemas.microsoft.com/office/drawing/2014/main" id="{999283BB-4826-4A99-9EA9-8C60B4B4DE05}"/>
              </a:ext>
            </a:extLst>
          </p:cNvPr>
          <p:cNvSpPr>
            <a:spLocks noGrp="1"/>
          </p:cNvSpPr>
          <p:nvPr/>
        </p:nvSpPr>
        <p:spPr>
          <a:xfrm>
            <a:off x="769298" y="4381052"/>
            <a:ext cx="8730108" cy="1783588"/>
          </a:xfrm>
          <a:prstGeom prst="rect">
            <a:avLst/>
          </a:prstGeom>
        </p:spPr>
        <p:txBody>
          <a:bodyPr lIns="0" tIns="0" rIns="0" bIns="0" anchor="t">
            <a:spAutoFit/>
          </a:bodyPr>
          <a:lstStyle/>
          <a:p>
            <a:pPr marL="530860" indent="-265430" algn="l">
              <a:lnSpc>
                <a:spcPts val="3511"/>
              </a:lnSpc>
              <a:buChar char="•"/>
            </a:pPr>
            <a:r>
              <a:rPr sz="2200" b="1">
                <a:solidFill>
                  <a:srgbClr val="3B4E4E"/>
                </a:solidFill>
                <a:latin typeface="Overpass Bold"/>
                <a:ea typeface="Overpass Bold"/>
                <a:cs typeface="Overpass Bold"/>
              </a:rPr>
              <a:t>静的解析</a:t>
            </a:r>
            <a:r>
              <a:rPr sz="2200">
                <a:solidFill>
                  <a:srgbClr val="3B4E4E"/>
                </a:solidFill>
                <a:latin typeface="Overpass Light"/>
                <a:ea typeface="Overpass Light"/>
                <a:cs typeface="Overpass Light"/>
              </a:rPr>
              <a:t>：flutter analyzeで問題がないか確認</a:t>
            </a:r>
          </a:p>
          <a:p>
            <a:pPr marL="530860" indent="-265430" algn="l">
              <a:lnSpc>
                <a:spcPts val="3511"/>
              </a:lnSpc>
              <a:buChar char="•"/>
            </a:pPr>
            <a:r>
              <a:rPr sz="2200" b="1">
                <a:solidFill>
                  <a:srgbClr val="3B4E4E"/>
                </a:solidFill>
                <a:latin typeface="Overpass Bold"/>
                <a:ea typeface="Overpass Bold"/>
                <a:cs typeface="Overpass Bold"/>
              </a:rPr>
              <a:t>単体テスト</a:t>
            </a:r>
            <a:r>
              <a:rPr sz="2200">
                <a:solidFill>
                  <a:srgbClr val="3B4E4E"/>
                </a:solidFill>
                <a:latin typeface="Overpass Light"/>
                <a:ea typeface="Overpass Light"/>
                <a:cs typeface="Overpass Light"/>
              </a:rPr>
              <a:t>：純アルコール量・30分集計・60g境界・通知間隔・テーブルID入力規則</a:t>
            </a:r>
          </a:p>
          <a:p>
            <a:pPr marL="530860" indent="-265430" algn="l">
              <a:lnSpc>
                <a:spcPts val="3511"/>
              </a:lnSpc>
              <a:buChar char="•"/>
            </a:pPr>
            <a:r>
              <a:rPr sz="2200" b="1">
                <a:solidFill>
                  <a:srgbClr val="3B4E4E"/>
                </a:solidFill>
                <a:latin typeface="Overpass Bold"/>
                <a:ea typeface="Overpass Bold"/>
                <a:cs typeface="Overpass Bold"/>
              </a:rPr>
              <a:t>Widgetテスト</a:t>
            </a:r>
            <a:r>
              <a:rPr sz="2200">
                <a:solidFill>
                  <a:srgbClr val="3B4E4E"/>
                </a:solidFill>
                <a:latin typeface="Overpass Light"/>
                <a:ea typeface="Overpass Light"/>
                <a:cs typeface="Overpass Light"/>
              </a:rPr>
              <a:t>：テーブルID→ニックネーム画面の遷移フロー</a:t>
            </a:r>
          </a:p>
        </p:txBody>
      </p:sp>
      <p:sp>
        <p:nvSpPr>
          <p:cNvPr id="9" name="TextBox 9">
            <a:extLst>
              <a:ext uri="{FF2B5EF4-FFF2-40B4-BE49-F238E27FC236}">
                <a16:creationId xmlns:a16="http://schemas.microsoft.com/office/drawing/2014/main" id="{B5F18842-8621-4EE5-BB92-7D3ECD02CBFA}"/>
              </a:ext>
            </a:extLst>
          </p:cNvPr>
          <p:cNvSpPr>
            <a:spLocks noGrp="1"/>
          </p:cNvSpPr>
          <p:nvPr/>
        </p:nvSpPr>
        <p:spPr>
          <a:xfrm>
            <a:off x="9499406" y="3721294"/>
            <a:ext cx="7805890"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AIの活用範囲</a:t>
            </a:r>
          </a:p>
        </p:txBody>
      </p:sp>
      <p:sp>
        <p:nvSpPr>
          <p:cNvPr id="10" name="TextBox 10">
            <a:extLst>
              <a:ext uri="{FF2B5EF4-FFF2-40B4-BE49-F238E27FC236}">
                <a16:creationId xmlns:a16="http://schemas.microsoft.com/office/drawing/2014/main" id="{E41888E4-E065-4953-B53C-A6E654894140}"/>
              </a:ext>
            </a:extLst>
          </p:cNvPr>
          <p:cNvSpPr>
            <a:spLocks noGrp="1"/>
          </p:cNvSpPr>
          <p:nvPr/>
        </p:nvSpPr>
        <p:spPr>
          <a:xfrm>
            <a:off x="9499406" y="4381052"/>
            <a:ext cx="7805890" cy="1783588"/>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Firebase接続・リアルタイム同期</a:t>
            </a:r>
          </a:p>
          <a:p>
            <a:pPr marL="530860" indent="-265430" algn="l">
              <a:lnSpc>
                <a:spcPts val="3511"/>
              </a:lnSpc>
              <a:buChar char="•"/>
            </a:pPr>
            <a:r>
              <a:rPr sz="2200">
                <a:solidFill>
                  <a:srgbClr val="3B4E4E"/>
                </a:solidFill>
                <a:latin typeface="Overpass Light"/>
                <a:ea typeface="Overpass Light"/>
                <a:cs typeface="Overpass Light"/>
              </a:rPr>
              <a:t>30分集計・通知処理</a:t>
            </a:r>
          </a:p>
          <a:p>
            <a:pPr marL="530860" indent="-265430" algn="l">
              <a:lnSpc>
                <a:spcPts val="3511"/>
              </a:lnSpc>
              <a:buChar char="•"/>
            </a:pPr>
            <a:r>
              <a:rPr sz="2200">
                <a:solidFill>
                  <a:srgbClr val="3B4E4E"/>
                </a:solidFill>
                <a:latin typeface="Overpass Light"/>
                <a:ea typeface="Overpass Light"/>
                <a:cs typeface="Overpass Light"/>
              </a:rPr>
              <a:t>エラー原因の調査</a:t>
            </a:r>
          </a:p>
          <a:p>
            <a:pPr marL="530860" indent="-265430" algn="l">
              <a:lnSpc>
                <a:spcPts val="3511"/>
              </a:lnSpc>
              <a:buChar char="•"/>
            </a:pPr>
            <a:r>
              <a:rPr sz="2200">
                <a:solidFill>
                  <a:srgbClr val="3B4E4E"/>
                </a:solidFill>
                <a:latin typeface="Overpass Light"/>
                <a:ea typeface="Overpass Light"/>
                <a:cs typeface="Overpass Light"/>
              </a:rPr>
              <a:t>仕様書・発表メモの文章整理</a:t>
            </a:r>
          </a:p>
        </p:txBody>
      </p:sp>
      <p:sp>
        <p:nvSpPr>
          <p:cNvPr id="11" name="TextBox 11">
            <a:extLst>
              <a:ext uri="{FF2B5EF4-FFF2-40B4-BE49-F238E27FC236}">
                <a16:creationId xmlns:a16="http://schemas.microsoft.com/office/drawing/2014/main" id="{758A01E4-FD4F-47FF-8A47-12B7089C90A9}"/>
              </a:ext>
            </a:extLst>
          </p:cNvPr>
          <p:cNvSpPr>
            <a:spLocks noGrp="1"/>
          </p:cNvSpPr>
          <p:nvPr/>
        </p:nvSpPr>
        <p:spPr>
          <a:xfrm>
            <a:off x="9499406" y="6290367"/>
            <a:ext cx="7805890"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自分で実装した部分</a:t>
            </a:r>
          </a:p>
        </p:txBody>
      </p:sp>
      <p:sp>
        <p:nvSpPr>
          <p:cNvPr id="12" name="TextBox 12">
            <a:extLst>
              <a:ext uri="{FF2B5EF4-FFF2-40B4-BE49-F238E27FC236}">
                <a16:creationId xmlns:a16="http://schemas.microsoft.com/office/drawing/2014/main" id="{9614C139-8845-4A5B-B1A9-C4D94F482EFA}"/>
              </a:ext>
            </a:extLst>
          </p:cNvPr>
          <p:cNvSpPr>
            <a:spLocks noGrp="1"/>
          </p:cNvSpPr>
          <p:nvPr/>
        </p:nvSpPr>
        <p:spPr>
          <a:xfrm>
            <a:off x="9499406" y="6950126"/>
            <a:ext cx="7805890" cy="1092098"/>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基本画面・画面遷移・メニュー・カート操作</a:t>
            </a:r>
          </a:p>
          <a:p>
            <a:pPr marL="530860" indent="-265430" algn="l">
              <a:lnSpc>
                <a:spcPts val="3511"/>
              </a:lnSpc>
              <a:buChar char="•"/>
            </a:pPr>
            <a:r>
              <a:rPr sz="2200">
                <a:solidFill>
                  <a:srgbClr val="3B4E4E"/>
                </a:solidFill>
                <a:latin typeface="Overpass Light"/>
                <a:ea typeface="Overpass Light"/>
                <a:cs typeface="Overpass Light"/>
              </a:rPr>
              <a:t>UI調整（ボタン・文言・配色）</a:t>
            </a:r>
          </a:p>
        </p:txBody>
      </p:sp>
    </p:spTree>
    <p:extLst>
      <p:ext uri="{BB962C8B-B14F-4D97-AF65-F5344CB8AC3E}">
        <p14:creationId xmlns:p14="http://schemas.microsoft.com/office/powerpoint/2010/main" val="1797130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6FE9194B-6455-484F-A9C2-0B5AD57FB0ED}"/>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331435A4-427D-4F58-BAB8-7E8217D7B5B7}"/>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517E473E-9DA9-4243-AD9B-311FB15EE619}"/>
              </a:ext>
            </a:extLst>
          </p:cNvPr>
          <p:cNvSpPr>
            <a:spLocks noGrp="1"/>
          </p:cNvSpPr>
          <p:nvPr/>
        </p:nvSpPr>
        <p:spPr>
          <a:xfrm>
            <a:off x="992219" y="742950"/>
            <a:ext cx="16303562" cy="914591"/>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実機説明</a:t>
            </a:r>
          </a:p>
        </p:txBody>
      </p:sp>
      <p:sp>
        <p:nvSpPr>
          <p:cNvPr id="7" name="demo-caption-1">
            <a:extLst>
              <a:ext uri="{FF2B5EF4-FFF2-40B4-BE49-F238E27FC236}">
                <a16:creationId xmlns:a16="http://schemas.microsoft.com/office/drawing/2014/main" id="{9B13004D-D5BE-4604-A8D7-02EEEFEF699C}"/>
              </a:ext>
            </a:extLst>
          </p:cNvPr>
          <p:cNvSpPr>
            <a:spLocks noGrp="1"/>
          </p:cNvSpPr>
          <p:nvPr/>
        </p:nvSpPr>
        <p:spPr>
          <a:xfrm>
            <a:off x="952500" y="1809750"/>
            <a:ext cx="4953000" cy="457200"/>
          </a:xfrm>
          <a:prstGeom prst="rect">
            <a:avLst/>
          </a:prstGeom>
          <a:noFill/>
          <a:ln w="0">
            <a:noFill/>
            <a:prstDash val="solid"/>
          </a:ln>
        </p:spPr>
        <p:txBody>
          <a:bodyPr wrap="square" anchor="ctr"/>
          <a:lstStyle/>
          <a:p>
            <a:pPr algn="ctr">
              <a:buNone/>
              <a:defRPr sz="1875" b="1">
                <a:solidFill>
                  <a:srgbClr val="24433A"/>
                </a:solidFill>
                <a:latin typeface="Yu Gothic"/>
                <a:ea typeface="Yu Gothic"/>
                <a:cs typeface="Yu Gothic"/>
              </a:defRPr>
            </a:pPr>
            <a:r>
              <a:rPr sz="1875" b="1">
                <a:solidFill>
                  <a:srgbClr val="24433A"/>
                </a:solidFill>
                <a:latin typeface="Yu Gothic"/>
                <a:ea typeface="Yu Gothic"/>
                <a:cs typeface="Yu Gothic"/>
              </a:rPr>
              <a:t>テーブル登録</a:t>
            </a:r>
          </a:p>
        </p:txBody>
      </p:sp>
      <p:pic>
        <p:nvPicPr>
          <p:cNvPr id="21" name="図 17"/>
          <p:cNvPicPr>
            <a:picLocks noChangeAspect="1"/>
          </p:cNvPicPr>
          <p:nvPr/>
        </p:nvPicPr>
        <p:blipFill>
          <a:blip r:embed="rId3"/>
          <a:stretch/>
        </p:blipFill>
        <p:spPr>
          <a:xfrm>
            <a:off x="952500" y="2383036"/>
            <a:ext cx="4953000" cy="3482578"/>
          </a:xfrm>
          <a:prstGeom prst="rect">
            <a:avLst/>
          </a:prstGeom>
        </p:spPr>
      </p:pic>
      <p:sp>
        <p:nvSpPr>
          <p:cNvPr id="9" name="demo-caption-2">
            <a:extLst>
              <a:ext uri="{FF2B5EF4-FFF2-40B4-BE49-F238E27FC236}">
                <a16:creationId xmlns:a16="http://schemas.microsoft.com/office/drawing/2014/main" id="{BE9E80DE-1A7A-47F0-BB5C-9303FCDE8714}"/>
              </a:ext>
            </a:extLst>
          </p:cNvPr>
          <p:cNvSpPr>
            <a:spLocks noGrp="1"/>
          </p:cNvSpPr>
          <p:nvPr/>
        </p:nvSpPr>
        <p:spPr>
          <a:xfrm>
            <a:off x="6667500" y="1809750"/>
            <a:ext cx="4953000" cy="457200"/>
          </a:xfrm>
          <a:prstGeom prst="rect">
            <a:avLst/>
          </a:prstGeom>
          <a:noFill/>
          <a:ln w="0">
            <a:noFill/>
            <a:prstDash val="solid"/>
          </a:ln>
        </p:spPr>
        <p:txBody>
          <a:bodyPr wrap="square" anchor="ctr"/>
          <a:lstStyle/>
          <a:p>
            <a:pPr algn="ctr">
              <a:buNone/>
              <a:defRPr sz="1875" b="1">
                <a:solidFill>
                  <a:srgbClr val="24433A"/>
                </a:solidFill>
                <a:latin typeface="Yu Gothic"/>
                <a:ea typeface="Yu Gothic"/>
                <a:cs typeface="Yu Gothic"/>
              </a:defRPr>
            </a:pPr>
            <a:r>
              <a:rPr sz="1875" b="1">
                <a:solidFill>
                  <a:srgbClr val="24433A"/>
                </a:solidFill>
                <a:latin typeface="Yu Gothic"/>
                <a:ea typeface="Yu Gothic"/>
                <a:cs typeface="Yu Gothic"/>
              </a:rPr>
              <a:t>商品選択・飲酒ペース</a:t>
            </a:r>
          </a:p>
        </p:txBody>
      </p:sp>
      <p:pic>
        <p:nvPicPr>
          <p:cNvPr id="23" name="図 19"/>
          <p:cNvPicPr>
            <a:picLocks noChangeAspect="1"/>
          </p:cNvPicPr>
          <p:nvPr/>
        </p:nvPicPr>
        <p:blipFill>
          <a:blip r:embed="rId4"/>
          <a:stretch/>
        </p:blipFill>
        <p:spPr>
          <a:xfrm>
            <a:off x="6667500" y="2383036"/>
            <a:ext cx="4953000" cy="3482578"/>
          </a:xfrm>
          <a:prstGeom prst="rect">
            <a:avLst/>
          </a:prstGeom>
        </p:spPr>
      </p:pic>
      <p:sp>
        <p:nvSpPr>
          <p:cNvPr id="11" name="demo-caption-3">
            <a:extLst>
              <a:ext uri="{FF2B5EF4-FFF2-40B4-BE49-F238E27FC236}">
                <a16:creationId xmlns:a16="http://schemas.microsoft.com/office/drawing/2014/main" id="{281C2F4C-07A2-4501-8491-D25FA2B75A07}"/>
              </a:ext>
            </a:extLst>
          </p:cNvPr>
          <p:cNvSpPr>
            <a:spLocks noGrp="1"/>
          </p:cNvSpPr>
          <p:nvPr/>
        </p:nvSpPr>
        <p:spPr>
          <a:xfrm>
            <a:off x="12382500" y="1809750"/>
            <a:ext cx="4953000" cy="457200"/>
          </a:xfrm>
          <a:prstGeom prst="rect">
            <a:avLst/>
          </a:prstGeom>
          <a:noFill/>
          <a:ln w="0">
            <a:noFill/>
            <a:prstDash val="solid"/>
          </a:ln>
        </p:spPr>
        <p:txBody>
          <a:bodyPr wrap="square" anchor="ctr"/>
          <a:lstStyle/>
          <a:p>
            <a:pPr algn="ctr">
              <a:buNone/>
              <a:defRPr sz="1875" b="1">
                <a:solidFill>
                  <a:srgbClr val="24433A"/>
                </a:solidFill>
                <a:latin typeface="Yu Gothic"/>
                <a:ea typeface="Yu Gothic"/>
                <a:cs typeface="Yu Gothic"/>
              </a:defRPr>
            </a:pPr>
            <a:r>
              <a:rPr sz="1875" b="1">
                <a:solidFill>
                  <a:srgbClr val="24433A"/>
                </a:solidFill>
                <a:latin typeface="Yu Gothic"/>
                <a:ea typeface="Yu Gothic"/>
                <a:cs typeface="Yu Gothic"/>
              </a:rPr>
              <a:t>注文履歴</a:t>
            </a:r>
          </a:p>
        </p:txBody>
      </p:sp>
      <p:pic>
        <p:nvPicPr>
          <p:cNvPr id="25" name="図 21"/>
          <p:cNvPicPr>
            <a:picLocks noChangeAspect="1"/>
          </p:cNvPicPr>
          <p:nvPr/>
        </p:nvPicPr>
        <p:blipFill>
          <a:blip r:embed="rId5"/>
          <a:stretch/>
        </p:blipFill>
        <p:spPr>
          <a:xfrm>
            <a:off x="12382500" y="2383036"/>
            <a:ext cx="4953000" cy="3482578"/>
          </a:xfrm>
          <a:prstGeom prst="rect">
            <a:avLst/>
          </a:prstGeom>
        </p:spPr>
      </p:pic>
      <p:sp>
        <p:nvSpPr>
          <p:cNvPr id="13" name="demo-flow">
            <a:extLst>
              <a:ext uri="{FF2B5EF4-FFF2-40B4-BE49-F238E27FC236}">
                <a16:creationId xmlns:a16="http://schemas.microsoft.com/office/drawing/2014/main" id="{F4534FD0-CC61-423F-B2A1-A981E5B72B55}"/>
              </a:ext>
            </a:extLst>
          </p:cNvPr>
          <p:cNvSpPr>
            <a:spLocks noGrp="1"/>
          </p:cNvSpPr>
          <p:nvPr/>
        </p:nvSpPr>
        <p:spPr>
          <a:xfrm>
            <a:off x="2095500" y="7239000"/>
            <a:ext cx="14097000" cy="666750"/>
          </a:xfrm>
          <a:prstGeom prst="rect">
            <a:avLst/>
          </a:prstGeom>
          <a:noFill/>
          <a:ln w="0">
            <a:noFill/>
            <a:prstDash val="solid"/>
          </a:ln>
        </p:spPr>
        <p:txBody>
          <a:bodyPr wrap="square" anchor="ctr"/>
          <a:lstStyle/>
          <a:p>
            <a:pPr algn="ctr">
              <a:buNone/>
              <a:defRPr sz="2325" b="1">
                <a:solidFill>
                  <a:srgbClr val="24433A"/>
                </a:solidFill>
                <a:latin typeface="Yu Gothic"/>
                <a:ea typeface="Yu Gothic"/>
                <a:cs typeface="Yu Gothic"/>
              </a:defRPr>
            </a:pPr>
            <a:r>
              <a:rPr sz="2325" b="1">
                <a:solidFill>
                  <a:srgbClr val="24433A"/>
                </a:solidFill>
                <a:latin typeface="Yu Gothic"/>
                <a:ea typeface="Yu Gothic"/>
                <a:cs typeface="Yu Gothic"/>
              </a:rPr>
              <a:t>テーブル登録　→　商品選択・注文確定　→　履歴へ保存</a:t>
            </a:r>
          </a:p>
        </p:txBody>
      </p:sp>
    </p:spTree>
    <p:extLst>
      <p:ext uri="{BB962C8B-B14F-4D97-AF65-F5344CB8AC3E}">
        <p14:creationId xmlns:p14="http://schemas.microsoft.com/office/powerpoint/2010/main" val="16047726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85EAD273-DE2E-469C-8263-BD1CF49DAB5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C542227E-BCF7-4FA5-B2ED-4D75F51C06E1}"/>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9" name="Freeform 9">
            <a:extLst>
              <a:ext uri="{FF2B5EF4-FFF2-40B4-BE49-F238E27FC236}">
                <a16:creationId xmlns:a16="http://schemas.microsoft.com/office/drawing/2014/main" id="{B269B4DD-86F9-41E0-9A98-FAC4509D6054}"/>
              </a:ext>
            </a:extLst>
          </p:cNvPr>
          <p:cNvSpPr>
            <a:spLocks noGrp="1"/>
          </p:cNvSpPr>
          <p:nvPr/>
        </p:nvSpPr>
        <p:spPr>
          <a:xfrm>
            <a:off x="0" y="0"/>
            <a:ext cx="6858000" cy="10287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txBody>
          <a:bodyPr/>
          <a:lstStyle/>
          <a:p>
            <a:endParaRPr/>
          </a:p>
        </p:txBody>
      </p:sp>
      <p:sp>
        <p:nvSpPr>
          <p:cNvPr id="10" name="TextBox 10">
            <a:extLst>
              <a:ext uri="{FF2B5EF4-FFF2-40B4-BE49-F238E27FC236}">
                <a16:creationId xmlns:a16="http://schemas.microsoft.com/office/drawing/2014/main" id="{DE281218-CB59-4617-9D5E-93D159012C42}"/>
              </a:ext>
            </a:extLst>
          </p:cNvPr>
          <p:cNvSpPr>
            <a:spLocks noGrp="1"/>
          </p:cNvSpPr>
          <p:nvPr/>
        </p:nvSpPr>
        <p:spPr>
          <a:xfrm>
            <a:off x="7850238" y="1360284"/>
            <a:ext cx="9445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作品のまとめ</a:t>
            </a:r>
          </a:p>
        </p:txBody>
      </p:sp>
      <p:sp>
        <p:nvSpPr>
          <p:cNvPr id="11" name="Freeform 11">
            <a:extLst>
              <a:ext uri="{FF2B5EF4-FFF2-40B4-BE49-F238E27FC236}">
                <a16:creationId xmlns:a16="http://schemas.microsoft.com/office/drawing/2014/main" id="{B9C483D6-576D-4776-B670-423F9310D314}"/>
              </a:ext>
            </a:extLst>
          </p:cNvPr>
          <p:cNvSpPr>
            <a:spLocks noGrp="1"/>
          </p:cNvSpPr>
          <p:nvPr/>
        </p:nvSpPr>
        <p:spPr>
          <a:xfrm>
            <a:off x="7956499" y="2708824"/>
            <a:ext cx="425206" cy="425206"/>
          </a:xfrm>
          <a:custGeom>
            <a:avLst/>
            <a:gdLst/>
            <a:ahLst/>
            <a:cxnLst/>
            <a:rect l="l" t="t" r="r" b="b"/>
            <a:pathLst>
              <a:path w="425206" h="425206">
                <a:moveTo>
                  <a:pt x="0" y="0"/>
                </a:moveTo>
                <a:lnTo>
                  <a:pt x="425206" y="0"/>
                </a:lnTo>
                <a:lnTo>
                  <a:pt x="425206" y="425206"/>
                </a:lnTo>
                <a:lnTo>
                  <a:pt x="0" y="425206"/>
                </a:lnTo>
                <a:lnTo>
                  <a:pt x="0" y="0"/>
                </a:lnTo>
                <a:close/>
              </a:path>
            </a:pathLst>
          </a:custGeom>
          <a:blipFill>
            <a:blip>
              <a:extLst>
                <a:ext uri="{96DAC541-7B7A-43D3-8B79-37D633B846F1}">
                  <asvg:svgBlip xmlns:asvg="http://schemas.microsoft.com/office/drawing/2016/SVG/main" r:embed="rId4"/>
                </a:ext>
              </a:extLst>
            </a:blip>
            <a:stretch>
              <a:fillRect l="-8888" r="-8888"/>
            </a:stretch>
          </a:blipFill>
        </p:spPr>
        <p:txBody>
          <a:bodyPr/>
          <a:lstStyle/>
          <a:p>
            <a:endParaRPr/>
          </a:p>
        </p:txBody>
      </p:sp>
      <p:sp>
        <p:nvSpPr>
          <p:cNvPr id="12" name="TextBox 12">
            <a:extLst>
              <a:ext uri="{FF2B5EF4-FFF2-40B4-BE49-F238E27FC236}">
                <a16:creationId xmlns:a16="http://schemas.microsoft.com/office/drawing/2014/main" id="{8D32C9E2-0686-4AE8-B9AE-59DB439657F3}"/>
              </a:ext>
            </a:extLst>
          </p:cNvPr>
          <p:cNvSpPr>
            <a:spLocks noGrp="1"/>
          </p:cNvSpPr>
          <p:nvPr/>
        </p:nvSpPr>
        <p:spPr>
          <a:xfrm>
            <a:off x="8771630" y="2680992"/>
            <a:ext cx="852413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注文から履歴までを一体化</a:t>
            </a:r>
          </a:p>
        </p:txBody>
      </p:sp>
      <p:sp>
        <p:nvSpPr>
          <p:cNvPr id="13" name="TextBox 13">
            <a:extLst>
              <a:ext uri="{FF2B5EF4-FFF2-40B4-BE49-F238E27FC236}">
                <a16:creationId xmlns:a16="http://schemas.microsoft.com/office/drawing/2014/main" id="{D58EDFC8-1A55-4BF1-9E23-815429D6D35E}"/>
              </a:ext>
            </a:extLst>
          </p:cNvPr>
          <p:cNvSpPr>
            <a:spLocks noGrp="1"/>
          </p:cNvSpPr>
          <p:nvPr/>
        </p:nvSpPr>
        <p:spPr>
          <a:xfrm>
            <a:off x="8771630" y="3227337"/>
            <a:ext cx="852413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テーブル登録・商品選択・注文確定・履歴保存</a:t>
            </a:r>
          </a:p>
        </p:txBody>
      </p:sp>
      <p:sp>
        <p:nvSpPr>
          <p:cNvPr id="14" name="Freeform 14">
            <a:extLst>
              <a:ext uri="{FF2B5EF4-FFF2-40B4-BE49-F238E27FC236}">
                <a16:creationId xmlns:a16="http://schemas.microsoft.com/office/drawing/2014/main" id="{9EF85AB0-3BD5-4081-9C04-70BCF3816BFB}"/>
              </a:ext>
            </a:extLst>
          </p:cNvPr>
          <p:cNvSpPr>
            <a:spLocks noGrp="1"/>
          </p:cNvSpPr>
          <p:nvPr/>
        </p:nvSpPr>
        <p:spPr>
          <a:xfrm>
            <a:off x="7956499" y="4342505"/>
            <a:ext cx="425206" cy="425206"/>
          </a:xfrm>
          <a:custGeom>
            <a:avLst/>
            <a:gdLst/>
            <a:ahLst/>
            <a:cxnLst/>
            <a:rect l="l" t="t" r="r" b="b"/>
            <a:pathLst>
              <a:path w="425206" h="425206">
                <a:moveTo>
                  <a:pt x="0" y="0"/>
                </a:moveTo>
                <a:lnTo>
                  <a:pt x="425206" y="0"/>
                </a:lnTo>
                <a:lnTo>
                  <a:pt x="425206" y="425205"/>
                </a:lnTo>
                <a:lnTo>
                  <a:pt x="0" y="425205"/>
                </a:lnTo>
                <a:lnTo>
                  <a:pt x="0" y="0"/>
                </a:lnTo>
                <a:close/>
              </a:path>
            </a:pathLst>
          </a:custGeom>
          <a:blipFill>
            <a:blip>
              <a:extLst>
                <a:ext uri="{96DAC541-7B7A-43D3-8B79-37D633B846F1}">
                  <asvg:svgBlip xmlns:asvg="http://schemas.microsoft.com/office/drawing/2016/SVG/main" r:embed="rId4"/>
                </a:ext>
              </a:extLst>
            </a:blip>
            <a:stretch>
              <a:fillRect l="-8888" r="-8888"/>
            </a:stretch>
          </a:blipFill>
        </p:spPr>
        <p:txBody>
          <a:bodyPr/>
          <a:lstStyle/>
          <a:p>
            <a:endParaRPr/>
          </a:p>
        </p:txBody>
      </p:sp>
      <p:sp>
        <p:nvSpPr>
          <p:cNvPr id="15" name="TextBox 15">
            <a:extLst>
              <a:ext uri="{FF2B5EF4-FFF2-40B4-BE49-F238E27FC236}">
                <a16:creationId xmlns:a16="http://schemas.microsoft.com/office/drawing/2014/main" id="{6585CDCF-E7DF-4BDB-8F52-18A965A4DC67}"/>
              </a:ext>
            </a:extLst>
          </p:cNvPr>
          <p:cNvSpPr>
            <a:spLocks noGrp="1"/>
          </p:cNvSpPr>
          <p:nvPr/>
        </p:nvSpPr>
        <p:spPr>
          <a:xfrm>
            <a:off x="8771630" y="4314673"/>
            <a:ext cx="852413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飲酒ペースを見える化</a:t>
            </a:r>
          </a:p>
        </p:txBody>
      </p:sp>
      <p:sp>
        <p:nvSpPr>
          <p:cNvPr id="16" name="TextBox 16">
            <a:extLst>
              <a:ext uri="{FF2B5EF4-FFF2-40B4-BE49-F238E27FC236}">
                <a16:creationId xmlns:a16="http://schemas.microsoft.com/office/drawing/2014/main" id="{D5B938FE-4516-4E8F-87D8-D789D0B413EB}"/>
              </a:ext>
            </a:extLst>
          </p:cNvPr>
          <p:cNvSpPr>
            <a:spLocks noGrp="1"/>
          </p:cNvSpPr>
          <p:nvPr/>
        </p:nvSpPr>
        <p:spPr>
          <a:xfrm>
            <a:off x="8771630" y="4861027"/>
            <a:ext cx="852413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純アルコール量を計算し、直近30分の合計を表示</a:t>
            </a:r>
          </a:p>
        </p:txBody>
      </p:sp>
      <p:sp>
        <p:nvSpPr>
          <p:cNvPr id="17" name="Freeform 17">
            <a:extLst>
              <a:ext uri="{FF2B5EF4-FFF2-40B4-BE49-F238E27FC236}">
                <a16:creationId xmlns:a16="http://schemas.microsoft.com/office/drawing/2014/main" id="{A4B9A7FC-1240-482E-ABF2-58D0AB2FD0DF}"/>
              </a:ext>
            </a:extLst>
          </p:cNvPr>
          <p:cNvSpPr>
            <a:spLocks noGrp="1"/>
          </p:cNvSpPr>
          <p:nvPr/>
        </p:nvSpPr>
        <p:spPr>
          <a:xfrm>
            <a:off x="7956499" y="5976195"/>
            <a:ext cx="425206" cy="425206"/>
          </a:xfrm>
          <a:custGeom>
            <a:avLst/>
            <a:gdLst/>
            <a:ahLst/>
            <a:cxnLst/>
            <a:rect l="l" t="t" r="r" b="b"/>
            <a:pathLst>
              <a:path w="425206" h="425206">
                <a:moveTo>
                  <a:pt x="0" y="0"/>
                </a:moveTo>
                <a:lnTo>
                  <a:pt x="425206" y="0"/>
                </a:lnTo>
                <a:lnTo>
                  <a:pt x="425206" y="425205"/>
                </a:lnTo>
                <a:lnTo>
                  <a:pt x="0" y="425205"/>
                </a:lnTo>
                <a:lnTo>
                  <a:pt x="0" y="0"/>
                </a:lnTo>
                <a:close/>
              </a:path>
            </a:pathLst>
          </a:custGeom>
          <a:blipFill>
            <a:blip>
              <a:extLst>
                <a:ext uri="{96DAC541-7B7A-43D3-8B79-37D633B846F1}">
                  <asvg:svgBlip xmlns:asvg="http://schemas.microsoft.com/office/drawing/2016/SVG/main" r:embed="rId4"/>
                </a:ext>
              </a:extLst>
            </a:blip>
            <a:stretch>
              <a:fillRect l="-8888" r="-8888"/>
            </a:stretch>
          </a:blipFill>
        </p:spPr>
        <p:txBody>
          <a:bodyPr/>
          <a:lstStyle/>
          <a:p>
            <a:endParaRPr/>
          </a:p>
        </p:txBody>
      </p:sp>
      <p:sp>
        <p:nvSpPr>
          <p:cNvPr id="18" name="TextBox 18">
            <a:extLst>
              <a:ext uri="{FF2B5EF4-FFF2-40B4-BE49-F238E27FC236}">
                <a16:creationId xmlns:a16="http://schemas.microsoft.com/office/drawing/2014/main" id="{B1ABAADF-B678-4A1E-ACC4-D238B96E4E4D}"/>
              </a:ext>
            </a:extLst>
          </p:cNvPr>
          <p:cNvSpPr>
            <a:spLocks noGrp="1"/>
          </p:cNvSpPr>
          <p:nvPr/>
        </p:nvSpPr>
        <p:spPr>
          <a:xfrm>
            <a:off x="8771630" y="5948362"/>
            <a:ext cx="852413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Flutterで動くアプリとして完成</a:t>
            </a:r>
          </a:p>
        </p:txBody>
      </p:sp>
      <p:sp>
        <p:nvSpPr>
          <p:cNvPr id="19" name="TextBox 19">
            <a:extLst>
              <a:ext uri="{FF2B5EF4-FFF2-40B4-BE49-F238E27FC236}">
                <a16:creationId xmlns:a16="http://schemas.microsoft.com/office/drawing/2014/main" id="{A99E1ACE-3E9D-4D13-8DCE-92209A3F0004}"/>
              </a:ext>
            </a:extLst>
          </p:cNvPr>
          <p:cNvSpPr>
            <a:spLocks noGrp="1"/>
          </p:cNvSpPr>
          <p:nvPr/>
        </p:nvSpPr>
        <p:spPr>
          <a:xfrm>
            <a:off x="8771630" y="6494707"/>
            <a:ext cx="852413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Firebase連携・テスト・資料作成まで実施</a:t>
            </a:r>
          </a:p>
        </p:txBody>
      </p:sp>
      <p:sp>
        <p:nvSpPr>
          <p:cNvPr id="21" name="Freeform 21">
            <a:extLst>
              <a:ext uri="{FF2B5EF4-FFF2-40B4-BE49-F238E27FC236}">
                <a16:creationId xmlns:a16="http://schemas.microsoft.com/office/drawing/2014/main" id="{8F8BB3CF-C331-4990-B956-DCDDA400E6E0}"/>
              </a:ext>
            </a:extLst>
          </p:cNvPr>
          <p:cNvSpPr>
            <a:spLocks noGrp="1"/>
          </p:cNvSpPr>
          <p:nvPr/>
        </p:nvSpPr>
        <p:spPr>
          <a:xfrm>
            <a:off x="7850238" y="7353005"/>
            <a:ext cx="38100" cy="1545145"/>
          </a:xfrm>
          <a:custGeom>
            <a:avLst/>
            <a:gdLst/>
            <a:ahLst/>
            <a:cxnLst/>
            <a:rect l="l" t="t" r="r" b="b"/>
            <a:pathLst>
              <a:path w="50800" h="2060194">
                <a:moveTo>
                  <a:pt x="0" y="25400"/>
                </a:moveTo>
                <a:cubicBezTo>
                  <a:pt x="0" y="11430"/>
                  <a:pt x="11430" y="0"/>
                  <a:pt x="25400" y="0"/>
                </a:cubicBezTo>
                <a:cubicBezTo>
                  <a:pt x="39370" y="0"/>
                  <a:pt x="50800" y="11430"/>
                  <a:pt x="50800" y="25400"/>
                </a:cubicBezTo>
                <a:lnTo>
                  <a:pt x="50800" y="2034794"/>
                </a:lnTo>
                <a:cubicBezTo>
                  <a:pt x="50800" y="2048764"/>
                  <a:pt x="39370" y="2060194"/>
                  <a:pt x="25400" y="2060194"/>
                </a:cubicBezTo>
                <a:cubicBezTo>
                  <a:pt x="11430" y="2060194"/>
                  <a:pt x="0" y="2048764"/>
                  <a:pt x="0" y="2034794"/>
                </a:cubicBezTo>
                <a:close/>
              </a:path>
            </a:pathLst>
          </a:custGeom>
          <a:solidFill>
            <a:srgbClr val="224435"/>
          </a:solidFill>
        </p:spPr>
        <p:txBody>
          <a:bodyPr/>
          <a:lstStyle/>
          <a:p>
            <a:endParaRPr/>
          </a:p>
        </p:txBody>
      </p:sp>
      <p:sp>
        <p:nvSpPr>
          <p:cNvPr id="22" name="TextBox 22">
            <a:extLst>
              <a:ext uri="{FF2B5EF4-FFF2-40B4-BE49-F238E27FC236}">
                <a16:creationId xmlns:a16="http://schemas.microsoft.com/office/drawing/2014/main" id="{CE4A5412-BCC3-40CF-9D43-22BC57983349}"/>
              </a:ext>
            </a:extLst>
          </p:cNvPr>
          <p:cNvSpPr>
            <a:spLocks noGrp="1"/>
          </p:cNvSpPr>
          <p:nvPr/>
        </p:nvSpPr>
        <p:spPr>
          <a:xfrm>
            <a:off x="8275444" y="7586215"/>
            <a:ext cx="9020327" cy="891794"/>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SakeStopは、注文の流れの中で、</a:t>
            </a:r>
          </a:p>
          <a:p>
            <a:pPr algn="l">
              <a:lnSpc>
                <a:spcPts val="3511"/>
              </a:lnSpc>
              <a:buNone/>
            </a:pPr>
            <a:r>
              <a:rPr sz="2200">
                <a:solidFill>
                  <a:srgbClr val="3B4E4E"/>
                </a:solidFill>
                <a:latin typeface="Overpass Light"/>
                <a:ea typeface="Overpass Light"/>
                <a:cs typeface="Overpass Light"/>
              </a:rPr>
              <a:t>自分の飲酒ペースを振り返れるアプリとして完成しました。</a:t>
            </a:r>
          </a:p>
        </p:txBody>
      </p:sp>
      <p:sp>
        <p:nvSpPr>
          <p:cNvPr id="23" name="gamma-badge-cover">
            <a:extLst>
              <a:ext uri="{FF2B5EF4-FFF2-40B4-BE49-F238E27FC236}">
                <a16:creationId xmlns:a16="http://schemas.microsoft.com/office/drawing/2014/main" id="{13DA4AA7-D167-42C1-A9CA-2A593727DFA3}"/>
              </a:ext>
            </a:extLst>
          </p:cNvPr>
          <p:cNvSpPr>
            <a:spLocks noGrp="1"/>
          </p:cNvSpPr>
          <p:nvPr/>
        </p:nvSpPr>
        <p:spPr>
          <a:xfrm>
            <a:off x="15982950" y="9601200"/>
            <a:ext cx="2305050" cy="685800"/>
          </a:xfrm>
          <a:prstGeom prst="rect">
            <a:avLst/>
          </a:prstGeom>
          <a:solidFill>
            <a:srgbClr val="FFFDE6"/>
          </a:solidFill>
          <a:ln w="0">
            <a:noFill/>
            <a:prstDash val="solid"/>
          </a:ln>
        </p:spPr>
        <p:txBody>
          <a:bodyPr/>
          <a:lstStyle/>
          <a:p>
            <a:endParaRPr/>
          </a:p>
        </p:txBody>
      </p:sp>
    </p:spTree>
    <p:extLst>
      <p:ext uri="{BB962C8B-B14F-4D97-AF65-F5344CB8AC3E}">
        <p14:creationId xmlns:p14="http://schemas.microsoft.com/office/powerpoint/2010/main" val="9367214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645</Words>
  <Application>Microsoft Office PowerPoint</Application>
  <DocSecurity>0</DocSecurity>
  <PresentationFormat>ユーザー設定</PresentationFormat>
  <Paragraphs>146</Paragraphs>
  <Slides>11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Yu Gothic</vt:lpstr>
      <vt:lpstr>Calibri</vt:lpstr>
      <vt:lpstr>Overpass Light</vt:lpstr>
      <vt:lpstr>Syne Bold</vt:lpstr>
      <vt:lpstr>Overpass Bold</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木村 耀丸(zeal23410142)</cp:lastModifiedBy>
  <cp:revision>1</cp:revision>
  <dcterms:created xsi:type="dcterms:W3CDTF">2026-07-15T02:03:35Z</dcterms:created>
  <dcterms:modified xsi:type="dcterms:W3CDTF">2026-07-15T02:21:21Z</dcterms:modified>
</cp:coreProperties>
</file>